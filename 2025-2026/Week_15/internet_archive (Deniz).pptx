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9976" autoAdjust="0"/>
  </p:normalViewPr>
  <p:slideViewPr>
    <p:cSldViewPr snapToGrid="0">
      <p:cViewPr varScale="1">
        <p:scale>
          <a:sx n="93" d="100"/>
          <a:sy n="93" d="100"/>
        </p:scale>
        <p:origin x="516" y="84"/>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33FAFEA-A2CE-4DA1-AFA1-F913B2ACC8C7}"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7F53B1B7-84BB-4606-B6CE-AAFF3EEB7C4D}">
      <dgm:prSet/>
      <dgm:spPr/>
      <dgm:t>
        <a:bodyPr/>
        <a:lstStyle/>
        <a:p>
          <a:pPr>
            <a:defRPr cap="all"/>
          </a:pPr>
          <a:r>
            <a:rPr lang="en-150"/>
            <a:t>SQL file sized 6.4GB full of user account information</a:t>
          </a:r>
          <a:endParaRPr lang="en-US"/>
        </a:p>
      </dgm:t>
    </dgm:pt>
    <dgm:pt modelId="{1E6A2A7E-005E-4D2B-A6D2-90F1753A955E}" type="parTrans" cxnId="{0FC7ACDC-DF76-42CD-B5E8-763AAD0F89D6}">
      <dgm:prSet/>
      <dgm:spPr/>
      <dgm:t>
        <a:bodyPr/>
        <a:lstStyle/>
        <a:p>
          <a:endParaRPr lang="en-US"/>
        </a:p>
      </dgm:t>
    </dgm:pt>
    <dgm:pt modelId="{73DCD42F-1EAC-4D7C-8F3F-CCAF2BA3B5BA}" type="sibTrans" cxnId="{0FC7ACDC-DF76-42CD-B5E8-763AAD0F89D6}">
      <dgm:prSet/>
      <dgm:spPr/>
      <dgm:t>
        <a:bodyPr/>
        <a:lstStyle/>
        <a:p>
          <a:endParaRPr lang="en-US"/>
        </a:p>
      </dgm:t>
    </dgm:pt>
    <dgm:pt modelId="{6414FD2A-E6F8-4765-9B02-112EE55C2166}">
      <dgm:prSet/>
      <dgm:spPr/>
      <dgm:t>
        <a:bodyPr/>
        <a:lstStyle/>
        <a:p>
          <a:pPr>
            <a:defRPr cap="all"/>
          </a:pPr>
          <a:r>
            <a:rPr lang="en-150"/>
            <a:t>Zendesk support email system</a:t>
          </a:r>
          <a:endParaRPr lang="en-US"/>
        </a:p>
      </dgm:t>
    </dgm:pt>
    <dgm:pt modelId="{9BF76C9E-6D68-4540-BF39-8CE28105E280}" type="parTrans" cxnId="{87501B2F-86FC-4DA5-B654-212EF602E6AE}">
      <dgm:prSet/>
      <dgm:spPr/>
      <dgm:t>
        <a:bodyPr/>
        <a:lstStyle/>
        <a:p>
          <a:endParaRPr lang="en-US"/>
        </a:p>
      </dgm:t>
    </dgm:pt>
    <dgm:pt modelId="{E05E6BEF-81FD-4194-8388-3492229ABE00}" type="sibTrans" cxnId="{87501B2F-86FC-4DA5-B654-212EF602E6AE}">
      <dgm:prSet/>
      <dgm:spPr/>
      <dgm:t>
        <a:bodyPr/>
        <a:lstStyle/>
        <a:p>
          <a:endParaRPr lang="en-US"/>
        </a:p>
      </dgm:t>
    </dgm:pt>
    <dgm:pt modelId="{626773C3-D694-4F62-9215-DAB5022E0B90}">
      <dgm:prSet/>
      <dgm:spPr/>
      <dgm:t>
        <a:bodyPr/>
        <a:lstStyle/>
        <a:p>
          <a:pPr>
            <a:defRPr cap="all"/>
          </a:pPr>
          <a:r>
            <a:rPr lang="en-150"/>
            <a:t>800k+ support tickets since 2018</a:t>
          </a:r>
          <a:endParaRPr lang="en-US"/>
        </a:p>
      </dgm:t>
    </dgm:pt>
    <dgm:pt modelId="{B47DE334-8FE6-423C-BA28-D8808B46A454}" type="parTrans" cxnId="{66501448-CAF0-439D-A66F-47830D12E2AB}">
      <dgm:prSet/>
      <dgm:spPr/>
      <dgm:t>
        <a:bodyPr/>
        <a:lstStyle/>
        <a:p>
          <a:endParaRPr lang="en-US"/>
        </a:p>
      </dgm:t>
    </dgm:pt>
    <dgm:pt modelId="{1B16D5DA-38A8-4BA2-977D-4C121EE405E1}" type="sibTrans" cxnId="{66501448-CAF0-439D-A66F-47830D12E2AB}">
      <dgm:prSet/>
      <dgm:spPr/>
      <dgm:t>
        <a:bodyPr/>
        <a:lstStyle/>
        <a:p>
          <a:endParaRPr lang="en-US"/>
        </a:p>
      </dgm:t>
    </dgm:pt>
    <dgm:pt modelId="{E9DE4BE2-7298-4AC8-9AD9-EBE4BC6551FB}" type="pres">
      <dgm:prSet presAssocID="{833FAFEA-A2CE-4DA1-AFA1-F913B2ACC8C7}" presName="root" presStyleCnt="0">
        <dgm:presLayoutVars>
          <dgm:dir/>
          <dgm:resizeHandles val="exact"/>
        </dgm:presLayoutVars>
      </dgm:prSet>
      <dgm:spPr/>
    </dgm:pt>
    <dgm:pt modelId="{BC16AF48-FB8B-461A-82A9-F33DA5CB4C21}" type="pres">
      <dgm:prSet presAssocID="{7F53B1B7-84BB-4606-B6CE-AAFF3EEB7C4D}" presName="compNode" presStyleCnt="0"/>
      <dgm:spPr/>
    </dgm:pt>
    <dgm:pt modelId="{529A1EB9-DC4D-4594-82E9-108EF89D24C3}" type="pres">
      <dgm:prSet presAssocID="{7F53B1B7-84BB-4606-B6CE-AAFF3EEB7C4D}" presName="iconBgRect" presStyleLbl="bgShp" presStyleIdx="0" presStyleCnt="3"/>
      <dgm:spPr>
        <a:prstGeom prst="round2DiagRect">
          <a:avLst>
            <a:gd name="adj1" fmla="val 29727"/>
            <a:gd name="adj2" fmla="val 0"/>
          </a:avLst>
        </a:prstGeom>
      </dgm:spPr>
    </dgm:pt>
    <dgm:pt modelId="{1ADFA55F-5965-43D3-82BF-7F1851E0DE85}" type="pres">
      <dgm:prSet presAssocID="{7F53B1B7-84BB-4606-B6CE-AAFF3EEB7C4D}"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atabase"/>
        </a:ext>
      </dgm:extLst>
    </dgm:pt>
    <dgm:pt modelId="{1C694921-267C-48EE-93B8-091CB82ABBF2}" type="pres">
      <dgm:prSet presAssocID="{7F53B1B7-84BB-4606-B6CE-AAFF3EEB7C4D}" presName="spaceRect" presStyleCnt="0"/>
      <dgm:spPr/>
    </dgm:pt>
    <dgm:pt modelId="{2A5E9F36-F9B6-4B1E-A157-0E8164CEF748}" type="pres">
      <dgm:prSet presAssocID="{7F53B1B7-84BB-4606-B6CE-AAFF3EEB7C4D}" presName="textRect" presStyleLbl="revTx" presStyleIdx="0" presStyleCnt="3">
        <dgm:presLayoutVars>
          <dgm:chMax val="1"/>
          <dgm:chPref val="1"/>
        </dgm:presLayoutVars>
      </dgm:prSet>
      <dgm:spPr/>
    </dgm:pt>
    <dgm:pt modelId="{415DEADA-C3D8-464A-BF13-B1EEEE3D4366}" type="pres">
      <dgm:prSet presAssocID="{73DCD42F-1EAC-4D7C-8F3F-CCAF2BA3B5BA}" presName="sibTrans" presStyleCnt="0"/>
      <dgm:spPr/>
    </dgm:pt>
    <dgm:pt modelId="{73B8D82D-8248-41D4-BCA3-10878A431E03}" type="pres">
      <dgm:prSet presAssocID="{6414FD2A-E6F8-4765-9B02-112EE55C2166}" presName="compNode" presStyleCnt="0"/>
      <dgm:spPr/>
    </dgm:pt>
    <dgm:pt modelId="{30573F42-3D3B-4142-B39F-2222F6EAE3C6}" type="pres">
      <dgm:prSet presAssocID="{6414FD2A-E6F8-4765-9B02-112EE55C2166}" presName="iconBgRect" presStyleLbl="bgShp" presStyleIdx="1" presStyleCnt="3"/>
      <dgm:spPr>
        <a:prstGeom prst="round2DiagRect">
          <a:avLst>
            <a:gd name="adj1" fmla="val 29727"/>
            <a:gd name="adj2" fmla="val 0"/>
          </a:avLst>
        </a:prstGeom>
      </dgm:spPr>
    </dgm:pt>
    <dgm:pt modelId="{551CF7D2-6279-40B0-A3CE-4711CFF73DDF}" type="pres">
      <dgm:prSet presAssocID="{6414FD2A-E6F8-4765-9B02-112EE55C2166}"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Email"/>
        </a:ext>
      </dgm:extLst>
    </dgm:pt>
    <dgm:pt modelId="{2AC9AE16-8C80-4812-A8EF-ABEFF89D07FA}" type="pres">
      <dgm:prSet presAssocID="{6414FD2A-E6F8-4765-9B02-112EE55C2166}" presName="spaceRect" presStyleCnt="0"/>
      <dgm:spPr/>
    </dgm:pt>
    <dgm:pt modelId="{B83F644C-58F4-4B4C-9AD4-9577A2345BA0}" type="pres">
      <dgm:prSet presAssocID="{6414FD2A-E6F8-4765-9B02-112EE55C2166}" presName="textRect" presStyleLbl="revTx" presStyleIdx="1" presStyleCnt="3">
        <dgm:presLayoutVars>
          <dgm:chMax val="1"/>
          <dgm:chPref val="1"/>
        </dgm:presLayoutVars>
      </dgm:prSet>
      <dgm:spPr/>
    </dgm:pt>
    <dgm:pt modelId="{42DA85DC-EF06-460E-A244-A10832362394}" type="pres">
      <dgm:prSet presAssocID="{E05E6BEF-81FD-4194-8388-3492229ABE00}" presName="sibTrans" presStyleCnt="0"/>
      <dgm:spPr/>
    </dgm:pt>
    <dgm:pt modelId="{DB4F6EB8-99CD-4E89-AFDA-0B2E8758B3FE}" type="pres">
      <dgm:prSet presAssocID="{626773C3-D694-4F62-9215-DAB5022E0B90}" presName="compNode" presStyleCnt="0"/>
      <dgm:spPr/>
    </dgm:pt>
    <dgm:pt modelId="{C0A1DF74-7288-4E1B-BF53-07763337120F}" type="pres">
      <dgm:prSet presAssocID="{626773C3-D694-4F62-9215-DAB5022E0B90}" presName="iconBgRect" presStyleLbl="bgShp" presStyleIdx="2" presStyleCnt="3"/>
      <dgm:spPr>
        <a:prstGeom prst="round2DiagRect">
          <a:avLst>
            <a:gd name="adj1" fmla="val 29727"/>
            <a:gd name="adj2" fmla="val 0"/>
          </a:avLst>
        </a:prstGeom>
      </dgm:spPr>
    </dgm:pt>
    <dgm:pt modelId="{95E70409-FAF1-4B87-A7CC-C7F91A333B83}" type="pres">
      <dgm:prSet presAssocID="{626773C3-D694-4F62-9215-DAB5022E0B90}"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all center"/>
        </a:ext>
      </dgm:extLst>
    </dgm:pt>
    <dgm:pt modelId="{4068F489-1639-4F54-A87C-2A753A77E9E6}" type="pres">
      <dgm:prSet presAssocID="{626773C3-D694-4F62-9215-DAB5022E0B90}" presName="spaceRect" presStyleCnt="0"/>
      <dgm:spPr/>
    </dgm:pt>
    <dgm:pt modelId="{89B6EE5E-4AEB-41E2-90AE-5DE244BA78B8}" type="pres">
      <dgm:prSet presAssocID="{626773C3-D694-4F62-9215-DAB5022E0B90}" presName="textRect" presStyleLbl="revTx" presStyleIdx="2" presStyleCnt="3">
        <dgm:presLayoutVars>
          <dgm:chMax val="1"/>
          <dgm:chPref val="1"/>
        </dgm:presLayoutVars>
      </dgm:prSet>
      <dgm:spPr/>
    </dgm:pt>
  </dgm:ptLst>
  <dgm:cxnLst>
    <dgm:cxn modelId="{4002DF27-4288-483E-B979-0AA52E37178F}" type="presOf" srcId="{626773C3-D694-4F62-9215-DAB5022E0B90}" destId="{89B6EE5E-4AEB-41E2-90AE-5DE244BA78B8}" srcOrd="0" destOrd="0" presId="urn:microsoft.com/office/officeart/2018/5/layout/IconLeafLabelList"/>
    <dgm:cxn modelId="{87501B2F-86FC-4DA5-B654-212EF602E6AE}" srcId="{833FAFEA-A2CE-4DA1-AFA1-F913B2ACC8C7}" destId="{6414FD2A-E6F8-4765-9B02-112EE55C2166}" srcOrd="1" destOrd="0" parTransId="{9BF76C9E-6D68-4540-BF39-8CE28105E280}" sibTransId="{E05E6BEF-81FD-4194-8388-3492229ABE00}"/>
    <dgm:cxn modelId="{66501448-CAF0-439D-A66F-47830D12E2AB}" srcId="{833FAFEA-A2CE-4DA1-AFA1-F913B2ACC8C7}" destId="{626773C3-D694-4F62-9215-DAB5022E0B90}" srcOrd="2" destOrd="0" parTransId="{B47DE334-8FE6-423C-BA28-D8808B46A454}" sibTransId="{1B16D5DA-38A8-4BA2-977D-4C121EE405E1}"/>
    <dgm:cxn modelId="{552B506D-255B-4930-8995-0A4ED95008CF}" type="presOf" srcId="{833FAFEA-A2CE-4DA1-AFA1-F913B2ACC8C7}" destId="{E9DE4BE2-7298-4AC8-9AD9-EBE4BC6551FB}" srcOrd="0" destOrd="0" presId="urn:microsoft.com/office/officeart/2018/5/layout/IconLeafLabelList"/>
    <dgm:cxn modelId="{0FC7ACDC-DF76-42CD-B5E8-763AAD0F89D6}" srcId="{833FAFEA-A2CE-4DA1-AFA1-F913B2ACC8C7}" destId="{7F53B1B7-84BB-4606-B6CE-AAFF3EEB7C4D}" srcOrd="0" destOrd="0" parTransId="{1E6A2A7E-005E-4D2B-A6D2-90F1753A955E}" sibTransId="{73DCD42F-1EAC-4D7C-8F3F-CCAF2BA3B5BA}"/>
    <dgm:cxn modelId="{0D0585E7-9928-4908-9FEB-56AF6F3235DA}" type="presOf" srcId="{6414FD2A-E6F8-4765-9B02-112EE55C2166}" destId="{B83F644C-58F4-4B4C-9AD4-9577A2345BA0}" srcOrd="0" destOrd="0" presId="urn:microsoft.com/office/officeart/2018/5/layout/IconLeafLabelList"/>
    <dgm:cxn modelId="{038776F4-55ED-4E76-A370-56375206CB24}" type="presOf" srcId="{7F53B1B7-84BB-4606-B6CE-AAFF3EEB7C4D}" destId="{2A5E9F36-F9B6-4B1E-A157-0E8164CEF748}" srcOrd="0" destOrd="0" presId="urn:microsoft.com/office/officeart/2018/5/layout/IconLeafLabelList"/>
    <dgm:cxn modelId="{8D80A89E-7B8B-40F3-9B3F-3C5BA4171202}" type="presParOf" srcId="{E9DE4BE2-7298-4AC8-9AD9-EBE4BC6551FB}" destId="{BC16AF48-FB8B-461A-82A9-F33DA5CB4C21}" srcOrd="0" destOrd="0" presId="urn:microsoft.com/office/officeart/2018/5/layout/IconLeafLabelList"/>
    <dgm:cxn modelId="{E3070E47-5ED2-4B83-8993-96CE2D4A6C38}" type="presParOf" srcId="{BC16AF48-FB8B-461A-82A9-F33DA5CB4C21}" destId="{529A1EB9-DC4D-4594-82E9-108EF89D24C3}" srcOrd="0" destOrd="0" presId="urn:microsoft.com/office/officeart/2018/5/layout/IconLeafLabelList"/>
    <dgm:cxn modelId="{58BB49F2-0900-42C2-BE69-00EEC3DF11A7}" type="presParOf" srcId="{BC16AF48-FB8B-461A-82A9-F33DA5CB4C21}" destId="{1ADFA55F-5965-43D3-82BF-7F1851E0DE85}" srcOrd="1" destOrd="0" presId="urn:microsoft.com/office/officeart/2018/5/layout/IconLeafLabelList"/>
    <dgm:cxn modelId="{C90E734D-8687-4F54-89A8-27BA627EEC4B}" type="presParOf" srcId="{BC16AF48-FB8B-461A-82A9-F33DA5CB4C21}" destId="{1C694921-267C-48EE-93B8-091CB82ABBF2}" srcOrd="2" destOrd="0" presId="urn:microsoft.com/office/officeart/2018/5/layout/IconLeafLabelList"/>
    <dgm:cxn modelId="{C59CE52B-FEB3-49BA-834C-06B178120654}" type="presParOf" srcId="{BC16AF48-FB8B-461A-82A9-F33DA5CB4C21}" destId="{2A5E9F36-F9B6-4B1E-A157-0E8164CEF748}" srcOrd="3" destOrd="0" presId="urn:microsoft.com/office/officeart/2018/5/layout/IconLeafLabelList"/>
    <dgm:cxn modelId="{8C50714F-FEA8-4D7A-B2DD-8F875F4F188E}" type="presParOf" srcId="{E9DE4BE2-7298-4AC8-9AD9-EBE4BC6551FB}" destId="{415DEADA-C3D8-464A-BF13-B1EEEE3D4366}" srcOrd="1" destOrd="0" presId="urn:microsoft.com/office/officeart/2018/5/layout/IconLeafLabelList"/>
    <dgm:cxn modelId="{E64C891B-E540-43DB-A07B-C9BC4D828775}" type="presParOf" srcId="{E9DE4BE2-7298-4AC8-9AD9-EBE4BC6551FB}" destId="{73B8D82D-8248-41D4-BCA3-10878A431E03}" srcOrd="2" destOrd="0" presId="urn:microsoft.com/office/officeart/2018/5/layout/IconLeafLabelList"/>
    <dgm:cxn modelId="{98FDCF2C-1947-456C-A8A6-F174794D49A6}" type="presParOf" srcId="{73B8D82D-8248-41D4-BCA3-10878A431E03}" destId="{30573F42-3D3B-4142-B39F-2222F6EAE3C6}" srcOrd="0" destOrd="0" presId="urn:microsoft.com/office/officeart/2018/5/layout/IconLeafLabelList"/>
    <dgm:cxn modelId="{B8A921EE-097C-4555-B36D-A0518EDE87FD}" type="presParOf" srcId="{73B8D82D-8248-41D4-BCA3-10878A431E03}" destId="{551CF7D2-6279-40B0-A3CE-4711CFF73DDF}" srcOrd="1" destOrd="0" presId="urn:microsoft.com/office/officeart/2018/5/layout/IconLeafLabelList"/>
    <dgm:cxn modelId="{FB625198-0FA3-4BCA-B6A0-74C42423B03F}" type="presParOf" srcId="{73B8D82D-8248-41D4-BCA3-10878A431E03}" destId="{2AC9AE16-8C80-4812-A8EF-ABEFF89D07FA}" srcOrd="2" destOrd="0" presId="urn:microsoft.com/office/officeart/2018/5/layout/IconLeafLabelList"/>
    <dgm:cxn modelId="{06EA7A3B-B78E-4D26-B24E-C648D363D76E}" type="presParOf" srcId="{73B8D82D-8248-41D4-BCA3-10878A431E03}" destId="{B83F644C-58F4-4B4C-9AD4-9577A2345BA0}" srcOrd="3" destOrd="0" presId="urn:microsoft.com/office/officeart/2018/5/layout/IconLeafLabelList"/>
    <dgm:cxn modelId="{25E029F1-3A34-4BBE-9A70-DF839238F045}" type="presParOf" srcId="{E9DE4BE2-7298-4AC8-9AD9-EBE4BC6551FB}" destId="{42DA85DC-EF06-460E-A244-A10832362394}" srcOrd="3" destOrd="0" presId="urn:microsoft.com/office/officeart/2018/5/layout/IconLeafLabelList"/>
    <dgm:cxn modelId="{D04B1609-3F48-4C78-B8AC-F08496620410}" type="presParOf" srcId="{E9DE4BE2-7298-4AC8-9AD9-EBE4BC6551FB}" destId="{DB4F6EB8-99CD-4E89-AFDA-0B2E8758B3FE}" srcOrd="4" destOrd="0" presId="urn:microsoft.com/office/officeart/2018/5/layout/IconLeafLabelList"/>
    <dgm:cxn modelId="{089FF485-D76D-4756-A64A-608E26FB065A}" type="presParOf" srcId="{DB4F6EB8-99CD-4E89-AFDA-0B2E8758B3FE}" destId="{C0A1DF74-7288-4E1B-BF53-07763337120F}" srcOrd="0" destOrd="0" presId="urn:microsoft.com/office/officeart/2018/5/layout/IconLeafLabelList"/>
    <dgm:cxn modelId="{A8675BC9-89EA-4D97-81AA-6E3CCDE54846}" type="presParOf" srcId="{DB4F6EB8-99CD-4E89-AFDA-0B2E8758B3FE}" destId="{95E70409-FAF1-4B87-A7CC-C7F91A333B83}" srcOrd="1" destOrd="0" presId="urn:microsoft.com/office/officeart/2018/5/layout/IconLeafLabelList"/>
    <dgm:cxn modelId="{8193B84F-2398-43A8-BFFE-5C78D39259EE}" type="presParOf" srcId="{DB4F6EB8-99CD-4E89-AFDA-0B2E8758B3FE}" destId="{4068F489-1639-4F54-A87C-2A753A77E9E6}" srcOrd="2" destOrd="0" presId="urn:microsoft.com/office/officeart/2018/5/layout/IconLeafLabelList"/>
    <dgm:cxn modelId="{2BA27C90-52FB-491A-81CB-FDACFB7D6AD2}" type="presParOf" srcId="{DB4F6EB8-99CD-4E89-AFDA-0B2E8758B3FE}" destId="{89B6EE5E-4AEB-41E2-90AE-5DE244BA78B8}" srcOrd="3" destOrd="0" presId="urn:microsoft.com/office/officeart/2018/5/layout/IconLeaf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9A1EB9-DC4D-4594-82E9-108EF89D24C3}">
      <dsp:nvSpPr>
        <dsp:cNvPr id="0" name=""/>
        <dsp:cNvSpPr/>
      </dsp:nvSpPr>
      <dsp:spPr>
        <a:xfrm>
          <a:off x="686100" y="270178"/>
          <a:ext cx="1852875" cy="1852875"/>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ADFA55F-5965-43D3-82BF-7F1851E0DE85}">
      <dsp:nvSpPr>
        <dsp:cNvPr id="0" name=""/>
        <dsp:cNvSpPr/>
      </dsp:nvSpPr>
      <dsp:spPr>
        <a:xfrm>
          <a:off x="1080975" y="665053"/>
          <a:ext cx="1063125" cy="106312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A5E9F36-F9B6-4B1E-A157-0E8164CEF748}">
      <dsp:nvSpPr>
        <dsp:cNvPr id="0" name=""/>
        <dsp:cNvSpPr/>
      </dsp:nvSpPr>
      <dsp:spPr>
        <a:xfrm>
          <a:off x="93787" y="2700178"/>
          <a:ext cx="3037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150" sz="1700" kern="1200"/>
            <a:t>SQL file sized 6.4GB full of user account information</a:t>
          </a:r>
          <a:endParaRPr lang="en-US" sz="1700" kern="1200"/>
        </a:p>
      </dsp:txBody>
      <dsp:txXfrm>
        <a:off x="93787" y="2700178"/>
        <a:ext cx="3037500" cy="720000"/>
      </dsp:txXfrm>
    </dsp:sp>
    <dsp:sp modelId="{30573F42-3D3B-4142-B39F-2222F6EAE3C6}">
      <dsp:nvSpPr>
        <dsp:cNvPr id="0" name=""/>
        <dsp:cNvSpPr/>
      </dsp:nvSpPr>
      <dsp:spPr>
        <a:xfrm>
          <a:off x="4255162" y="270178"/>
          <a:ext cx="1852875" cy="1852875"/>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51CF7D2-6279-40B0-A3CE-4711CFF73DDF}">
      <dsp:nvSpPr>
        <dsp:cNvPr id="0" name=""/>
        <dsp:cNvSpPr/>
      </dsp:nvSpPr>
      <dsp:spPr>
        <a:xfrm>
          <a:off x="4650037" y="665053"/>
          <a:ext cx="1063125" cy="106312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83F644C-58F4-4B4C-9AD4-9577A2345BA0}">
      <dsp:nvSpPr>
        <dsp:cNvPr id="0" name=""/>
        <dsp:cNvSpPr/>
      </dsp:nvSpPr>
      <dsp:spPr>
        <a:xfrm>
          <a:off x="3662850" y="2700178"/>
          <a:ext cx="3037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150" sz="1700" kern="1200"/>
            <a:t>Zendesk support email system</a:t>
          </a:r>
          <a:endParaRPr lang="en-US" sz="1700" kern="1200"/>
        </a:p>
      </dsp:txBody>
      <dsp:txXfrm>
        <a:off x="3662850" y="2700178"/>
        <a:ext cx="3037500" cy="720000"/>
      </dsp:txXfrm>
    </dsp:sp>
    <dsp:sp modelId="{C0A1DF74-7288-4E1B-BF53-07763337120F}">
      <dsp:nvSpPr>
        <dsp:cNvPr id="0" name=""/>
        <dsp:cNvSpPr/>
      </dsp:nvSpPr>
      <dsp:spPr>
        <a:xfrm>
          <a:off x="7824225" y="270178"/>
          <a:ext cx="1852875" cy="1852875"/>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5E70409-FAF1-4B87-A7CC-C7F91A333B83}">
      <dsp:nvSpPr>
        <dsp:cNvPr id="0" name=""/>
        <dsp:cNvSpPr/>
      </dsp:nvSpPr>
      <dsp:spPr>
        <a:xfrm>
          <a:off x="8219100" y="665053"/>
          <a:ext cx="1063125" cy="106312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9B6EE5E-4AEB-41E2-90AE-5DE244BA78B8}">
      <dsp:nvSpPr>
        <dsp:cNvPr id="0" name=""/>
        <dsp:cNvSpPr/>
      </dsp:nvSpPr>
      <dsp:spPr>
        <a:xfrm>
          <a:off x="7231912" y="2700178"/>
          <a:ext cx="3037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150" sz="1700" kern="1200"/>
            <a:t>800k+ support tickets since 2018</a:t>
          </a:r>
          <a:endParaRPr lang="en-US" sz="1700" kern="1200"/>
        </a:p>
      </dsp:txBody>
      <dsp:txXfrm>
        <a:off x="7231912" y="2700178"/>
        <a:ext cx="3037500" cy="720000"/>
      </dsp:txXfrm>
    </dsp:sp>
  </dsp:spTree>
</dsp:drawing>
</file>

<file path=ppt/diagrams/layout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15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F24CFF-681E-46F0-BCB3-8A78D6AC6F2C}" type="datetimeFigureOut">
              <a:rPr lang="en-150" smtClean="0"/>
              <a:t>02/11/2026</a:t>
            </a:fld>
            <a:endParaRPr lang="en-15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15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15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15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F44FDB-531E-4B15-B653-FFD6FB992C95}" type="slidenum">
              <a:rPr lang="en-150" smtClean="0"/>
              <a:t>‹#›</a:t>
            </a:fld>
            <a:endParaRPr lang="en-150"/>
          </a:p>
        </p:txBody>
      </p:sp>
    </p:spTree>
    <p:extLst>
      <p:ext uri="{BB962C8B-B14F-4D97-AF65-F5344CB8AC3E}">
        <p14:creationId xmlns:p14="http://schemas.microsoft.com/office/powerpoint/2010/main" val="23588544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1F44FDB-531E-4B15-B653-FFD6FB992C95}" type="slidenum">
              <a:rPr lang="en-150" smtClean="0"/>
              <a:t>1</a:t>
            </a:fld>
            <a:endParaRPr lang="en-150"/>
          </a:p>
        </p:txBody>
      </p:sp>
    </p:spTree>
    <p:extLst>
      <p:ext uri="{BB962C8B-B14F-4D97-AF65-F5344CB8AC3E}">
        <p14:creationId xmlns:p14="http://schemas.microsoft.com/office/powerpoint/2010/main" val="36845376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150" sz="1200" kern="1200" dirty="0">
                <a:solidFill>
                  <a:schemeClr val="tx1"/>
                </a:solidFill>
                <a:effectLst/>
                <a:latin typeface="+mn-lt"/>
                <a:ea typeface="+mn-ea"/>
                <a:cs typeface="+mn-cs"/>
              </a:rPr>
              <a:t>1.Founded in May 1996 by Brewster Kahle Bruce Gilliat, non-profit org</a:t>
            </a:r>
          </a:p>
          <a:p>
            <a:r>
              <a:rPr lang="en-150" sz="1200" kern="1200" dirty="0">
                <a:solidFill>
                  <a:schemeClr val="tx1"/>
                </a:solidFill>
                <a:effectLst/>
                <a:latin typeface="+mn-lt"/>
                <a:ea typeface="+mn-ea"/>
                <a:cs typeface="+mn-cs"/>
              </a:rPr>
              <a:t>2.Important for preservation of digital content, including educational, that is rapidly being removed.</a:t>
            </a:r>
          </a:p>
          <a:p>
            <a:r>
              <a:rPr lang="en-150" sz="1200" kern="1200" dirty="0">
                <a:solidFill>
                  <a:schemeClr val="tx1"/>
                </a:solidFill>
                <a:effectLst/>
                <a:latin typeface="+mn-lt"/>
                <a:ea typeface="+mn-ea"/>
                <a:cs typeface="+mn-cs"/>
              </a:rPr>
              <a:t>3.Brewster’s mission was to build digital age’s its own Library of Alexandria and ensure access to all knowledge.</a:t>
            </a:r>
          </a:p>
          <a:p>
            <a:endParaRPr lang="en-150" dirty="0"/>
          </a:p>
        </p:txBody>
      </p:sp>
      <p:sp>
        <p:nvSpPr>
          <p:cNvPr id="4" name="Slide Number Placeholder 3"/>
          <p:cNvSpPr>
            <a:spLocks noGrp="1"/>
          </p:cNvSpPr>
          <p:nvPr>
            <p:ph type="sldNum" sz="quarter" idx="5"/>
          </p:nvPr>
        </p:nvSpPr>
        <p:spPr/>
        <p:txBody>
          <a:bodyPr/>
          <a:lstStyle/>
          <a:p>
            <a:fld id="{21F44FDB-531E-4B15-B653-FFD6FB992C95}" type="slidenum">
              <a:rPr lang="en-150" smtClean="0"/>
              <a:t>2</a:t>
            </a:fld>
            <a:endParaRPr lang="en-150"/>
          </a:p>
        </p:txBody>
      </p:sp>
    </p:spTree>
    <p:extLst>
      <p:ext uri="{BB962C8B-B14F-4D97-AF65-F5344CB8AC3E}">
        <p14:creationId xmlns:p14="http://schemas.microsoft.com/office/powerpoint/2010/main" val="1586939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150" dirty="0"/>
          </a:p>
          <a:p>
            <a:r>
              <a:rPr lang="en-150" dirty="0"/>
              <a:t>How it works: </a:t>
            </a:r>
            <a:r>
              <a:rPr lang="en-GB" sz="1200" b="0" i="0" kern="1200" dirty="0">
                <a:solidFill>
                  <a:schemeClr val="tx1"/>
                </a:solidFill>
                <a:effectLst/>
                <a:latin typeface="+mn-lt"/>
                <a:ea typeface="+mn-ea"/>
                <a:cs typeface="+mn-cs"/>
              </a:rPr>
              <a:t>Automated web crawlers (and manual submissions via "Save Page Now") collect and store snapshots, which are linked by timestamps. Each file (HTML, images, scripts) is captured separately and linked to maintain the page’s original appearance</a:t>
            </a:r>
            <a:endParaRPr lang="en-150" sz="1200" b="0" i="0" kern="1200" dirty="0">
              <a:solidFill>
                <a:schemeClr val="tx1"/>
              </a:solidFill>
              <a:effectLst/>
              <a:latin typeface="+mn-lt"/>
              <a:ea typeface="+mn-ea"/>
              <a:cs typeface="+mn-cs"/>
            </a:endParaRPr>
          </a:p>
          <a:p>
            <a:endParaRPr lang="en-150" sz="1200" b="0" i="0" kern="1200" dirty="0">
              <a:solidFill>
                <a:schemeClr val="tx1"/>
              </a:solidFill>
              <a:effectLst/>
              <a:latin typeface="+mn-lt"/>
              <a:ea typeface="+mn-ea"/>
              <a:cs typeface="+mn-cs"/>
            </a:endParaRPr>
          </a:p>
          <a:p>
            <a:r>
              <a:rPr lang="en-150" sz="1200" b="0" i="0" kern="1200" dirty="0">
                <a:solidFill>
                  <a:schemeClr val="tx1"/>
                </a:solidFill>
                <a:effectLst/>
                <a:latin typeface="+mn-lt"/>
                <a:ea typeface="+mn-ea"/>
                <a:cs typeface="+mn-cs"/>
              </a:rPr>
              <a:t>Used by: </a:t>
            </a:r>
            <a:r>
              <a:rPr lang="en-GB" sz="1200" b="0" i="0" kern="1200" dirty="0">
                <a:solidFill>
                  <a:schemeClr val="tx1"/>
                </a:solidFill>
                <a:effectLst/>
                <a:latin typeface="+mn-lt"/>
                <a:ea typeface="+mn-ea"/>
                <a:cs typeface="+mn-cs"/>
              </a:rPr>
              <a:t> Journalists, researchers, SEO professionals, cybersecurity experts, and educators use it for fact-checking, legal research</a:t>
            </a:r>
            <a:endParaRPr lang="en-150" sz="1200" b="0" i="0" kern="1200" dirty="0">
              <a:solidFill>
                <a:schemeClr val="tx1"/>
              </a:solidFill>
              <a:effectLst/>
              <a:latin typeface="+mn-lt"/>
              <a:ea typeface="+mn-ea"/>
              <a:cs typeface="+mn-cs"/>
            </a:endParaRPr>
          </a:p>
          <a:p>
            <a:r>
              <a:rPr lang="en-150" sz="1200" b="0" i="0" kern="1200" dirty="0">
                <a:solidFill>
                  <a:schemeClr val="tx1"/>
                </a:solidFill>
                <a:effectLst/>
                <a:latin typeface="+mn-lt"/>
                <a:ea typeface="+mn-ea"/>
                <a:cs typeface="+mn-cs"/>
              </a:rPr>
              <a:t>Lots of pages are removed daily, by using wayback machine we can protect parts of internet from disappearing forever</a:t>
            </a:r>
          </a:p>
          <a:p>
            <a:endParaRPr lang="en-150" sz="1200" b="0" i="0" kern="1200" dirty="0">
              <a:solidFill>
                <a:schemeClr val="tx1"/>
              </a:solidFill>
              <a:effectLst/>
              <a:latin typeface="+mn-lt"/>
              <a:ea typeface="+mn-ea"/>
              <a:cs typeface="+mn-cs"/>
            </a:endParaRPr>
          </a:p>
          <a:p>
            <a:r>
              <a:rPr lang="en-150" sz="1200" b="0" i="0" kern="1200" dirty="0">
                <a:solidFill>
                  <a:schemeClr val="tx1"/>
                </a:solidFill>
                <a:effectLst/>
                <a:latin typeface="+mn-lt"/>
                <a:ea typeface="+mn-ea"/>
                <a:cs typeface="+mn-cs"/>
              </a:rPr>
              <a:t>Not everything works of course, if a page requires authentication for example it wont load</a:t>
            </a:r>
          </a:p>
          <a:p>
            <a:r>
              <a:rPr lang="en-150" sz="1200" b="0" i="0" kern="1200" dirty="0" err="1">
                <a:solidFill>
                  <a:schemeClr val="tx1"/>
                </a:solidFill>
                <a:effectLst/>
                <a:latin typeface="+mn-lt"/>
                <a:ea typeface="+mn-ea"/>
                <a:cs typeface="+mn-cs"/>
              </a:rPr>
              <a:t>Eventhough</a:t>
            </a:r>
            <a:r>
              <a:rPr lang="en-150" sz="1200" b="0" i="0" kern="1200" dirty="0">
                <a:solidFill>
                  <a:schemeClr val="tx1"/>
                </a:solidFill>
                <a:effectLst/>
                <a:latin typeface="+mn-lt"/>
                <a:ea typeface="+mn-ea"/>
                <a:cs typeface="+mn-cs"/>
              </a:rPr>
              <a:t> a lot of the digital content falls under digital fair use, issues arise.</a:t>
            </a:r>
          </a:p>
          <a:p>
            <a:r>
              <a:rPr lang="en-150" sz="1200" b="0" i="0" kern="1200" dirty="0">
                <a:solidFill>
                  <a:schemeClr val="tx1"/>
                </a:solidFill>
                <a:effectLst/>
                <a:latin typeface="+mn-lt"/>
                <a:ea typeface="+mn-ea"/>
                <a:cs typeface="+mn-cs"/>
              </a:rPr>
              <a:t>Removal requests are available for privacy or copyright</a:t>
            </a:r>
            <a:endParaRPr lang="en-150" dirty="0"/>
          </a:p>
        </p:txBody>
      </p:sp>
      <p:sp>
        <p:nvSpPr>
          <p:cNvPr id="4" name="Slide Number Placeholder 3"/>
          <p:cNvSpPr>
            <a:spLocks noGrp="1"/>
          </p:cNvSpPr>
          <p:nvPr>
            <p:ph type="sldNum" sz="quarter" idx="5"/>
          </p:nvPr>
        </p:nvSpPr>
        <p:spPr/>
        <p:txBody>
          <a:bodyPr/>
          <a:lstStyle/>
          <a:p>
            <a:fld id="{21F44FDB-531E-4B15-B653-FFD6FB992C95}" type="slidenum">
              <a:rPr lang="en-150" smtClean="0"/>
              <a:t>3</a:t>
            </a:fld>
            <a:endParaRPr lang="en-150"/>
          </a:p>
        </p:txBody>
      </p:sp>
    </p:spTree>
    <p:extLst>
      <p:ext uri="{BB962C8B-B14F-4D97-AF65-F5344CB8AC3E}">
        <p14:creationId xmlns:p14="http://schemas.microsoft.com/office/powerpoint/2010/main" val="9193898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150" dirty="0"/>
              <a:t>15 million videos including 3.3 million TV news programs</a:t>
            </a:r>
          </a:p>
          <a:p>
            <a:pPr marL="0" marR="0" lvl="0" indent="0" algn="l" defTabSz="914400" rtl="0" eaLnBrk="1" fontAlgn="auto" latinLnBrk="0" hangingPunct="1">
              <a:lnSpc>
                <a:spcPct val="100000"/>
              </a:lnSpc>
              <a:spcBef>
                <a:spcPts val="0"/>
              </a:spcBef>
              <a:spcAft>
                <a:spcPts val="0"/>
              </a:spcAft>
              <a:buClrTx/>
              <a:buSzTx/>
              <a:buFontTx/>
              <a:buNone/>
              <a:tabLst/>
              <a:defRPr/>
            </a:pPr>
            <a:r>
              <a:rPr lang="en-150" sz="1200" b="0" i="0" kern="1200" dirty="0">
                <a:solidFill>
                  <a:schemeClr val="tx1"/>
                </a:solidFill>
                <a:effectLst/>
                <a:latin typeface="+mn-lt"/>
                <a:ea typeface="+mn-ea"/>
                <a:cs typeface="+mn-cs"/>
              </a:rPr>
              <a:t>Possibly including your Minecraft </a:t>
            </a:r>
            <a:r>
              <a:rPr lang="en-150" sz="1200" b="0" i="0" kern="1200" dirty="0" err="1">
                <a:solidFill>
                  <a:schemeClr val="tx1"/>
                </a:solidFill>
                <a:effectLst/>
                <a:latin typeface="+mn-lt"/>
                <a:ea typeface="+mn-ea"/>
                <a:cs typeface="+mn-cs"/>
              </a:rPr>
              <a:t>letsplays</a:t>
            </a:r>
            <a:r>
              <a:rPr lang="en-150" sz="1200" b="0" i="0" kern="1200" dirty="0">
                <a:solidFill>
                  <a:schemeClr val="tx1"/>
                </a:solidFill>
                <a:effectLst/>
                <a:latin typeface="+mn-lt"/>
                <a:ea typeface="+mn-ea"/>
                <a:cs typeface="+mn-cs"/>
              </a:rPr>
              <a:t> from 2012</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150"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150"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150" sz="1200" b="0" i="0" kern="1200" dirty="0">
                <a:solidFill>
                  <a:schemeClr val="tx1"/>
                </a:solidFill>
                <a:effectLst/>
                <a:latin typeface="+mn-lt"/>
                <a:ea typeface="+mn-ea"/>
                <a:cs typeface="+mn-cs"/>
              </a:rPr>
              <a:t>How much space do you think all of these take?</a:t>
            </a:r>
          </a:p>
        </p:txBody>
      </p:sp>
      <p:sp>
        <p:nvSpPr>
          <p:cNvPr id="4" name="Slide Number Placeholder 3"/>
          <p:cNvSpPr>
            <a:spLocks noGrp="1"/>
          </p:cNvSpPr>
          <p:nvPr>
            <p:ph type="sldNum" sz="quarter" idx="5"/>
          </p:nvPr>
        </p:nvSpPr>
        <p:spPr/>
        <p:txBody>
          <a:bodyPr/>
          <a:lstStyle/>
          <a:p>
            <a:fld id="{21F44FDB-531E-4B15-B653-FFD6FB992C95}" type="slidenum">
              <a:rPr lang="en-150" smtClean="0"/>
              <a:t>4</a:t>
            </a:fld>
            <a:endParaRPr lang="en-150"/>
          </a:p>
        </p:txBody>
      </p:sp>
    </p:spTree>
    <p:extLst>
      <p:ext uri="{BB962C8B-B14F-4D97-AF65-F5344CB8AC3E}">
        <p14:creationId xmlns:p14="http://schemas.microsoft.com/office/powerpoint/2010/main" val="28224646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150" sz="1200" kern="1200" dirty="0">
                <a:solidFill>
                  <a:schemeClr val="tx1"/>
                </a:solidFill>
                <a:effectLst/>
                <a:latin typeface="+mn-lt"/>
                <a:ea typeface="+mn-ea"/>
                <a:cs typeface="+mn-cs"/>
              </a:rPr>
              <a:t>A single copy of the IA library collection takes 200+ Petabytes of server space! (And there are 2 copies)</a:t>
            </a:r>
          </a:p>
        </p:txBody>
      </p:sp>
      <p:sp>
        <p:nvSpPr>
          <p:cNvPr id="4" name="Slide Number Placeholder 3"/>
          <p:cNvSpPr>
            <a:spLocks noGrp="1"/>
          </p:cNvSpPr>
          <p:nvPr>
            <p:ph type="sldNum" sz="quarter" idx="5"/>
          </p:nvPr>
        </p:nvSpPr>
        <p:spPr/>
        <p:txBody>
          <a:bodyPr/>
          <a:lstStyle/>
          <a:p>
            <a:fld id="{21F44FDB-531E-4B15-B653-FFD6FB992C95}" type="slidenum">
              <a:rPr lang="en-150" smtClean="0"/>
              <a:t>5</a:t>
            </a:fld>
            <a:endParaRPr lang="en-150"/>
          </a:p>
        </p:txBody>
      </p:sp>
    </p:spTree>
    <p:extLst>
      <p:ext uri="{BB962C8B-B14F-4D97-AF65-F5344CB8AC3E}">
        <p14:creationId xmlns:p14="http://schemas.microsoft.com/office/powerpoint/2010/main" val="9896984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150" sz="1200" kern="1200" dirty="0">
                <a:solidFill>
                  <a:schemeClr val="tx1"/>
                </a:solidFill>
                <a:effectLst/>
                <a:latin typeface="+mn-lt"/>
                <a:ea typeface="+mn-ea"/>
                <a:cs typeface="+mn-cs"/>
              </a:rPr>
              <a:t>As of July 24th 2025, the IA is officially part of the Federal Depository Library Program, meaning they are able to host official US government documents.</a:t>
            </a:r>
          </a:p>
          <a:p>
            <a:r>
              <a:rPr lang="en-150" sz="1200" kern="1200" dirty="0">
                <a:solidFill>
                  <a:schemeClr val="tx1"/>
                </a:solidFill>
                <a:effectLst/>
                <a:latin typeface="+mn-lt"/>
                <a:ea typeface="+mn-ea"/>
                <a:cs typeface="+mn-cs"/>
              </a:rPr>
              <a:t>These documents are:</a:t>
            </a:r>
          </a:p>
          <a:p>
            <a:r>
              <a:rPr lang="en-150" sz="1200" kern="1200" dirty="0">
                <a:solidFill>
                  <a:schemeClr val="tx1"/>
                </a:solidFill>
                <a:effectLst/>
                <a:latin typeface="+mn-lt"/>
                <a:ea typeface="+mn-ea"/>
                <a:cs typeface="+mn-cs"/>
              </a:rPr>
              <a:t>Bills, laws, regulations and presidential materials</a:t>
            </a:r>
          </a:p>
          <a:p>
            <a:r>
              <a:rPr lang="en-150" sz="1200" kern="1200" dirty="0">
                <a:solidFill>
                  <a:schemeClr val="tx1"/>
                </a:solidFill>
                <a:effectLst/>
                <a:latin typeface="+mn-lt"/>
                <a:ea typeface="+mn-ea"/>
                <a:cs typeface="+mn-cs"/>
              </a:rPr>
              <a:t> </a:t>
            </a:r>
          </a:p>
          <a:p>
            <a:r>
              <a:rPr lang="en-150" sz="1200" kern="1200" dirty="0">
                <a:solidFill>
                  <a:schemeClr val="tx1"/>
                </a:solidFill>
                <a:effectLst/>
                <a:latin typeface="+mn-lt"/>
                <a:ea typeface="+mn-ea"/>
                <a:cs typeface="+mn-cs"/>
              </a:rPr>
              <a:t>Keep in mind that this does NOT grant the American Federal government to take control over IA.</a:t>
            </a:r>
            <a:endParaRPr lang="en-150" dirty="0"/>
          </a:p>
        </p:txBody>
      </p:sp>
      <p:sp>
        <p:nvSpPr>
          <p:cNvPr id="4" name="Slide Number Placeholder 3"/>
          <p:cNvSpPr>
            <a:spLocks noGrp="1"/>
          </p:cNvSpPr>
          <p:nvPr>
            <p:ph type="sldNum" sz="quarter" idx="5"/>
          </p:nvPr>
        </p:nvSpPr>
        <p:spPr/>
        <p:txBody>
          <a:bodyPr/>
          <a:lstStyle/>
          <a:p>
            <a:fld id="{21F44FDB-531E-4B15-B653-FFD6FB992C95}" type="slidenum">
              <a:rPr lang="en-150" smtClean="0"/>
              <a:t>6</a:t>
            </a:fld>
            <a:endParaRPr lang="en-150"/>
          </a:p>
        </p:txBody>
      </p:sp>
    </p:spTree>
    <p:extLst>
      <p:ext uri="{BB962C8B-B14F-4D97-AF65-F5344CB8AC3E}">
        <p14:creationId xmlns:p14="http://schemas.microsoft.com/office/powerpoint/2010/main" val="25463360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150" sz="1200" kern="1200" dirty="0">
                <a:solidFill>
                  <a:schemeClr val="tx1"/>
                </a:solidFill>
                <a:effectLst/>
                <a:latin typeface="+mn-lt"/>
                <a:ea typeface="+mn-ea"/>
                <a:cs typeface="+mn-cs"/>
              </a:rPr>
              <a:t>On October 2024, IA was hit with DDoS attacks followed by a data breach</a:t>
            </a:r>
          </a:p>
          <a:p>
            <a:r>
              <a:rPr lang="en-150" sz="1200" kern="1200" dirty="0">
                <a:solidFill>
                  <a:schemeClr val="tx1"/>
                </a:solidFill>
                <a:effectLst/>
                <a:latin typeface="+mn-lt"/>
                <a:ea typeface="+mn-ea"/>
                <a:cs typeface="+mn-cs"/>
              </a:rPr>
              <a:t>Attacks were done by different groups</a:t>
            </a:r>
          </a:p>
          <a:p>
            <a:r>
              <a:rPr lang="en-150" sz="1200" kern="1200" dirty="0">
                <a:solidFill>
                  <a:schemeClr val="tx1"/>
                </a:solidFill>
                <a:effectLst/>
                <a:latin typeface="+mn-lt"/>
                <a:ea typeface="+mn-ea"/>
                <a:cs typeface="+mn-cs"/>
              </a:rPr>
              <a:t>The data breach happed due to exposed GitLab secrets (auth tokens) which IA was notified about in 2022</a:t>
            </a:r>
          </a:p>
          <a:p>
            <a:endParaRPr lang="en-150" dirty="0"/>
          </a:p>
        </p:txBody>
      </p:sp>
      <p:sp>
        <p:nvSpPr>
          <p:cNvPr id="4" name="Slide Number Placeholder 3"/>
          <p:cNvSpPr>
            <a:spLocks noGrp="1"/>
          </p:cNvSpPr>
          <p:nvPr>
            <p:ph type="sldNum" sz="quarter" idx="5"/>
          </p:nvPr>
        </p:nvSpPr>
        <p:spPr/>
        <p:txBody>
          <a:bodyPr/>
          <a:lstStyle/>
          <a:p>
            <a:fld id="{21F44FDB-531E-4B15-B653-FFD6FB992C95}" type="slidenum">
              <a:rPr lang="en-150" smtClean="0"/>
              <a:t>7</a:t>
            </a:fld>
            <a:endParaRPr lang="en-150"/>
          </a:p>
        </p:txBody>
      </p:sp>
    </p:spTree>
    <p:extLst>
      <p:ext uri="{BB962C8B-B14F-4D97-AF65-F5344CB8AC3E}">
        <p14:creationId xmlns:p14="http://schemas.microsoft.com/office/powerpoint/2010/main" val="4913889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150" sz="1200" kern="1200" dirty="0">
                <a:solidFill>
                  <a:schemeClr val="tx1"/>
                </a:solidFill>
                <a:effectLst/>
                <a:latin typeface="+mn-lt"/>
                <a:ea typeface="+mn-ea"/>
                <a:cs typeface="+mn-cs"/>
              </a:rPr>
              <a:t>The day of the breach, hackers left an alert on IA’s main page</a:t>
            </a:r>
          </a:p>
          <a:p>
            <a:r>
              <a:rPr lang="en-150" sz="1200" kern="1200" dirty="0">
                <a:solidFill>
                  <a:schemeClr val="tx1"/>
                </a:solidFill>
                <a:effectLst/>
                <a:latin typeface="+mn-lt"/>
                <a:ea typeface="+mn-ea"/>
                <a:cs typeface="+mn-cs"/>
              </a:rPr>
              <a:t>The message included (screenshot of the alert)</a:t>
            </a:r>
          </a:p>
          <a:p>
            <a:r>
              <a:rPr lang="en-150" sz="1200" kern="1200" dirty="0">
                <a:solidFill>
                  <a:schemeClr val="tx1"/>
                </a:solidFill>
                <a:effectLst/>
                <a:latin typeface="+mn-lt"/>
                <a:ea typeface="+mn-ea"/>
                <a:cs typeface="+mn-cs"/>
              </a:rPr>
              <a:t>HIBP = Have I Been </a:t>
            </a:r>
            <a:r>
              <a:rPr lang="en-150" sz="1200" kern="1200" dirty="0" err="1">
                <a:solidFill>
                  <a:schemeClr val="tx1"/>
                </a:solidFill>
                <a:effectLst/>
                <a:latin typeface="+mn-lt"/>
                <a:ea typeface="+mn-ea"/>
                <a:cs typeface="+mn-cs"/>
              </a:rPr>
              <a:t>Pwned</a:t>
            </a:r>
            <a:r>
              <a:rPr lang="en-150" sz="1200" kern="1200" dirty="0">
                <a:solidFill>
                  <a:schemeClr val="tx1"/>
                </a:solidFill>
                <a:effectLst/>
                <a:latin typeface="+mn-lt"/>
                <a:ea typeface="+mn-ea"/>
                <a:cs typeface="+mn-cs"/>
              </a:rPr>
              <a:t>, Created by Troy Hunt, a lot of stolen data can be found here</a:t>
            </a:r>
          </a:p>
          <a:p>
            <a:endParaRPr lang="en-150" dirty="0"/>
          </a:p>
        </p:txBody>
      </p:sp>
      <p:sp>
        <p:nvSpPr>
          <p:cNvPr id="4" name="Slide Number Placeholder 3"/>
          <p:cNvSpPr>
            <a:spLocks noGrp="1"/>
          </p:cNvSpPr>
          <p:nvPr>
            <p:ph type="sldNum" sz="quarter" idx="5"/>
          </p:nvPr>
        </p:nvSpPr>
        <p:spPr/>
        <p:txBody>
          <a:bodyPr/>
          <a:lstStyle/>
          <a:p>
            <a:fld id="{21F44FDB-531E-4B15-B653-FFD6FB992C95}" type="slidenum">
              <a:rPr lang="en-150" smtClean="0"/>
              <a:t>8</a:t>
            </a:fld>
            <a:endParaRPr lang="en-150"/>
          </a:p>
        </p:txBody>
      </p:sp>
    </p:spTree>
    <p:extLst>
      <p:ext uri="{BB962C8B-B14F-4D97-AF65-F5344CB8AC3E}">
        <p14:creationId xmlns:p14="http://schemas.microsoft.com/office/powerpoint/2010/main" val="26107528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150" sz="1200" kern="1200" dirty="0">
                <a:solidFill>
                  <a:schemeClr val="tx1"/>
                </a:solidFill>
                <a:effectLst/>
                <a:latin typeface="+mn-lt"/>
                <a:ea typeface="+mn-ea"/>
                <a:cs typeface="+mn-cs"/>
              </a:rPr>
              <a:t>SQL file sized 6.4GB including user account information</a:t>
            </a:r>
          </a:p>
          <a:p>
            <a:r>
              <a:rPr lang="en-150" sz="1200" kern="1200" dirty="0">
                <a:solidFill>
                  <a:schemeClr val="tx1"/>
                </a:solidFill>
                <a:effectLst/>
                <a:latin typeface="+mn-lt"/>
                <a:ea typeface="+mn-ea"/>
                <a:cs typeface="+mn-cs"/>
              </a:rPr>
              <a:t>Since users can file copyright of privacy complaints, they must provide their Ids. You can see where this is going...</a:t>
            </a:r>
          </a:p>
          <a:p>
            <a:endParaRPr lang="en-150" sz="1200" kern="1200" dirty="0">
              <a:solidFill>
                <a:schemeClr val="tx1"/>
              </a:solidFill>
              <a:effectLst/>
              <a:latin typeface="+mn-lt"/>
              <a:ea typeface="+mn-ea"/>
              <a:cs typeface="+mn-cs"/>
            </a:endParaRPr>
          </a:p>
          <a:p>
            <a:r>
              <a:rPr lang="en-150" sz="1200" kern="1200" dirty="0">
                <a:solidFill>
                  <a:schemeClr val="tx1"/>
                </a:solidFill>
                <a:effectLst/>
                <a:latin typeface="+mn-lt"/>
                <a:ea typeface="+mn-ea"/>
                <a:cs typeface="+mn-cs"/>
              </a:rPr>
              <a:t> </a:t>
            </a:r>
          </a:p>
          <a:p>
            <a:r>
              <a:rPr lang="en-150" sz="1200" kern="1200" dirty="0">
                <a:solidFill>
                  <a:schemeClr val="tx1"/>
                </a:solidFill>
                <a:effectLst/>
                <a:latin typeface="+mn-lt"/>
                <a:ea typeface="+mn-ea"/>
                <a:cs typeface="+mn-cs"/>
              </a:rPr>
              <a:t>Keep your Gitlab and </a:t>
            </a:r>
            <a:r>
              <a:rPr lang="en-150" sz="1200" kern="1200" dirty="0" err="1">
                <a:solidFill>
                  <a:schemeClr val="tx1"/>
                </a:solidFill>
                <a:effectLst/>
                <a:latin typeface="+mn-lt"/>
                <a:ea typeface="+mn-ea"/>
                <a:cs typeface="+mn-cs"/>
              </a:rPr>
              <a:t>Github</a:t>
            </a:r>
            <a:r>
              <a:rPr lang="en-150" sz="1200" kern="1200" dirty="0">
                <a:solidFill>
                  <a:schemeClr val="tx1"/>
                </a:solidFill>
                <a:effectLst/>
                <a:latin typeface="+mn-lt"/>
                <a:ea typeface="+mn-ea"/>
                <a:cs typeface="+mn-cs"/>
              </a:rPr>
              <a:t> secrets actually secret...</a:t>
            </a:r>
          </a:p>
          <a:p>
            <a:endParaRPr lang="en-150" dirty="0"/>
          </a:p>
        </p:txBody>
      </p:sp>
      <p:sp>
        <p:nvSpPr>
          <p:cNvPr id="4" name="Slide Number Placeholder 3"/>
          <p:cNvSpPr>
            <a:spLocks noGrp="1"/>
          </p:cNvSpPr>
          <p:nvPr>
            <p:ph type="sldNum" sz="quarter" idx="5"/>
          </p:nvPr>
        </p:nvSpPr>
        <p:spPr/>
        <p:txBody>
          <a:bodyPr/>
          <a:lstStyle/>
          <a:p>
            <a:fld id="{21F44FDB-531E-4B15-B653-FFD6FB992C95}" type="slidenum">
              <a:rPr lang="en-150" smtClean="0"/>
              <a:t>9</a:t>
            </a:fld>
            <a:endParaRPr lang="en-150"/>
          </a:p>
        </p:txBody>
      </p:sp>
    </p:spTree>
    <p:extLst>
      <p:ext uri="{BB962C8B-B14F-4D97-AF65-F5344CB8AC3E}">
        <p14:creationId xmlns:p14="http://schemas.microsoft.com/office/powerpoint/2010/main" val="39931041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2/11/2026</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9655048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2/11/2026</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8940418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2/11/2026</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74060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2/11/2026</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850811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2/11/2026</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7797876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2/11/2026</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1395143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2/11/2026</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9505513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2/11/2026</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2835549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2/11/2026</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0917664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2/11/2026</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587453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2/11/2026</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5085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2/11/2026</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7882264"/>
      </p:ext>
    </p:extLst>
  </p:cSld>
  <p:clrMap bg1="lt1" tx1="dk1" bg2="lt2" tx2="dk2" accent1="accent1" accent2="accent2" accent3="accent3" accent4="accent4" accent5="accent5" accent6="accent6" hlink="hlink" folHlink="folHlink"/>
  <p:sldLayoutIdLst>
    <p:sldLayoutId id="2147483689" r:id="rId1"/>
    <p:sldLayoutId id="2147483688" r:id="rId2"/>
    <p:sldLayoutId id="2147483687" r:id="rId3"/>
    <p:sldLayoutId id="2147483686" r:id="rId4"/>
    <p:sldLayoutId id="2147483685" r:id="rId5"/>
    <p:sldLayoutId id="2147483684" r:id="rId6"/>
    <p:sldLayoutId id="2147483683" r:id="rId7"/>
    <p:sldLayoutId id="2147483682" r:id="rId8"/>
    <p:sldLayoutId id="2147483681" r:id="rId9"/>
    <p:sldLayoutId id="2147483680" r:id="rId10"/>
    <p:sldLayoutId id="2147483679" r:id="rId11"/>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sv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8.svg"/></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1" name="Rectangle 1040">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F5FAEDC-DE34-CA70-5E0D-26F184C8A393}"/>
              </a:ext>
            </a:extLst>
          </p:cNvPr>
          <p:cNvSpPr>
            <a:spLocks noGrp="1"/>
          </p:cNvSpPr>
          <p:nvPr>
            <p:ph type="ctrTitle"/>
          </p:nvPr>
        </p:nvSpPr>
        <p:spPr>
          <a:xfrm>
            <a:off x="7537528" y="1032764"/>
            <a:ext cx="4308672" cy="3224045"/>
          </a:xfrm>
        </p:spPr>
        <p:txBody>
          <a:bodyPr anchor="b">
            <a:normAutofit/>
          </a:bodyPr>
          <a:lstStyle/>
          <a:p>
            <a:r>
              <a:rPr lang="en-150" sz="5800" dirty="0"/>
              <a:t>Internet Archive</a:t>
            </a:r>
          </a:p>
        </p:txBody>
      </p:sp>
      <p:sp>
        <p:nvSpPr>
          <p:cNvPr id="3" name="Subtitle 2">
            <a:extLst>
              <a:ext uri="{FF2B5EF4-FFF2-40B4-BE49-F238E27FC236}">
                <a16:creationId xmlns:a16="http://schemas.microsoft.com/office/drawing/2014/main" id="{5792B271-54B7-3C3C-CA05-EF603E8821E9}"/>
              </a:ext>
            </a:extLst>
          </p:cNvPr>
          <p:cNvSpPr>
            <a:spLocks noGrp="1"/>
          </p:cNvSpPr>
          <p:nvPr>
            <p:ph type="subTitle" idx="1"/>
          </p:nvPr>
        </p:nvSpPr>
        <p:spPr>
          <a:xfrm>
            <a:off x="7535756" y="5046281"/>
            <a:ext cx="4308672" cy="1172408"/>
          </a:xfrm>
        </p:spPr>
        <p:txBody>
          <a:bodyPr anchor="t">
            <a:normAutofit/>
          </a:bodyPr>
          <a:lstStyle/>
          <a:p>
            <a:r>
              <a:rPr lang="en-150"/>
              <a:t>Deniz Turgut</a:t>
            </a:r>
          </a:p>
          <a:p>
            <a:r>
              <a:rPr lang="en-150"/>
              <a:t>p2800389</a:t>
            </a:r>
          </a:p>
        </p:txBody>
      </p:sp>
      <p:pic>
        <p:nvPicPr>
          <p:cNvPr id="1026" name="Picture 2" descr="A depiction of the Library of Alexandria made in 1876">
            <a:extLst>
              <a:ext uri="{FF2B5EF4-FFF2-40B4-BE49-F238E27FC236}">
                <a16:creationId xmlns:a16="http://schemas.microsoft.com/office/drawing/2014/main" id="{ED27334D-791F-8941-3A5D-7E6A83864D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2247" r="20903"/>
          <a:stretch>
            <a:fillRect/>
          </a:stretch>
        </p:blipFill>
        <p:spPr bwMode="auto">
          <a:xfrm>
            <a:off x="20" y="10"/>
            <a:ext cx="6931132" cy="6857990"/>
          </a:xfrm>
          <a:prstGeom prst="rect">
            <a:avLst/>
          </a:prstGeom>
          <a:noFill/>
          <a:extLst>
            <a:ext uri="{909E8E84-426E-40DD-AFC4-6F175D3DCCD1}">
              <a14:hiddenFill xmlns:a14="http://schemas.microsoft.com/office/drawing/2010/main">
                <a:solidFill>
                  <a:srgbClr val="FFFFFF"/>
                </a:solidFill>
              </a14:hiddenFill>
            </a:ext>
          </a:extLst>
        </p:spPr>
      </p:pic>
      <p:cxnSp>
        <p:nvCxnSpPr>
          <p:cNvPr id="1043" name="Straight Connector 1042">
            <a:extLst>
              <a:ext uri="{FF2B5EF4-FFF2-40B4-BE49-F238E27FC236}">
                <a16:creationId xmlns:a16="http://schemas.microsoft.com/office/drawing/2014/main" id="{6CA391F1-4B2C-521B-F6A5-52C74B3034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675848" y="4711579"/>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52787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500"/>
                                  </p:stCondLst>
                                  <p:iterate>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7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62" name="Rectangle 206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9AA8AA-048B-7836-7728-FFF324C6F3A7}"/>
              </a:ext>
            </a:extLst>
          </p:cNvPr>
          <p:cNvSpPr>
            <a:spLocks noGrp="1"/>
          </p:cNvSpPr>
          <p:nvPr>
            <p:ph type="title"/>
          </p:nvPr>
        </p:nvSpPr>
        <p:spPr>
          <a:xfrm>
            <a:off x="7269904" y="914400"/>
            <a:ext cx="4261104" cy="1097280"/>
          </a:xfrm>
        </p:spPr>
        <p:txBody>
          <a:bodyPr anchor="t">
            <a:normAutofit/>
          </a:bodyPr>
          <a:lstStyle/>
          <a:p>
            <a:r>
              <a:rPr lang="en-150" sz="3600"/>
              <a:t>Brief history</a:t>
            </a:r>
          </a:p>
        </p:txBody>
      </p:sp>
      <p:pic>
        <p:nvPicPr>
          <p:cNvPr id="2050" name="Picture 2" descr="Internet Archive founder Brewster Kahle in front of a rack of Archive servers in 2006. (AP Photo/Ben... [+] Margot)">
            <a:extLst>
              <a:ext uri="{FF2B5EF4-FFF2-40B4-BE49-F238E27FC236}">
                <a16:creationId xmlns:a16="http://schemas.microsoft.com/office/drawing/2014/main" id="{D73BCF03-2A65-CEF3-F2F5-CAFF6FD1A2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8549" r="-1" b="-1"/>
          <a:stretch>
            <a:fillRect/>
          </a:stretch>
        </p:blipFill>
        <p:spPr bwMode="auto">
          <a:xfrm>
            <a:off x="-1" y="914399"/>
            <a:ext cx="6657255" cy="5353523"/>
          </a:xfrm>
          <a:prstGeom prst="rect">
            <a:avLst/>
          </a:prstGeom>
          <a:noFill/>
          <a:extLst>
            <a:ext uri="{909E8E84-426E-40DD-AFC4-6F175D3DCCD1}">
              <a14:hiddenFill xmlns:a14="http://schemas.microsoft.com/office/drawing/2010/main">
                <a:solidFill>
                  <a:srgbClr val="FFFFFF"/>
                </a:solidFill>
              </a14:hiddenFill>
            </a:ext>
          </a:extLst>
        </p:spPr>
      </p:pic>
      <p:cxnSp>
        <p:nvCxnSpPr>
          <p:cNvPr id="2064" name="Straight Connector 2063">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67922"/>
            <a:ext cx="6656832"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3AAB8EDF-7732-5E87-AD16-BD718A8DC748}"/>
              </a:ext>
            </a:extLst>
          </p:cNvPr>
          <p:cNvSpPr>
            <a:spLocks noGrp="1"/>
          </p:cNvSpPr>
          <p:nvPr>
            <p:ph idx="1"/>
          </p:nvPr>
        </p:nvSpPr>
        <p:spPr>
          <a:xfrm>
            <a:off x="7269905" y="2176036"/>
            <a:ext cx="4261104" cy="4121887"/>
          </a:xfrm>
        </p:spPr>
        <p:txBody>
          <a:bodyPr>
            <a:normAutofit/>
          </a:bodyPr>
          <a:lstStyle/>
          <a:p>
            <a:r>
              <a:rPr lang="en-150" dirty="0"/>
              <a:t>Founded by Brewster Kahle and Bruce Gilliat in May 1996</a:t>
            </a:r>
          </a:p>
          <a:p>
            <a:r>
              <a:rPr lang="en-150" dirty="0"/>
              <a:t>Ensure access to all knowledge</a:t>
            </a:r>
          </a:p>
          <a:p>
            <a:r>
              <a:rPr lang="en-150" dirty="0"/>
              <a:t>Digital age’s Library of Alexandria</a:t>
            </a:r>
          </a:p>
          <a:p>
            <a:r>
              <a:rPr lang="en-150" dirty="0"/>
              <a:t>2001: launched Wayback Machine</a:t>
            </a:r>
          </a:p>
        </p:txBody>
      </p:sp>
    </p:spTree>
    <p:extLst>
      <p:ext uri="{BB962C8B-B14F-4D97-AF65-F5344CB8AC3E}">
        <p14:creationId xmlns:p14="http://schemas.microsoft.com/office/powerpoint/2010/main" val="11868626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9BBA96D-760C-44C0-B94F-3FDC8357B2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EAA5F1BF-F733-47EA-A79A-01F3AD5A79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90600" y="1071435"/>
            <a:ext cx="10208830" cy="47197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AEB3DFC-36F5-FD28-95BB-6C97BF007D34}"/>
              </a:ext>
            </a:extLst>
          </p:cNvPr>
          <p:cNvSpPr>
            <a:spLocks noGrp="1"/>
          </p:cNvSpPr>
          <p:nvPr>
            <p:ph idx="1"/>
          </p:nvPr>
        </p:nvSpPr>
        <p:spPr>
          <a:xfrm>
            <a:off x="990600" y="2092097"/>
            <a:ext cx="9560720" cy="3532869"/>
          </a:xfrm>
        </p:spPr>
        <p:txBody>
          <a:bodyPr>
            <a:normAutofit/>
          </a:bodyPr>
          <a:lstStyle/>
          <a:p>
            <a:r>
              <a:rPr lang="en-150" dirty="0"/>
              <a:t>Saves a snapshot of web pages</a:t>
            </a:r>
          </a:p>
          <a:p>
            <a:r>
              <a:rPr lang="en-150" dirty="0"/>
              <a:t>Content submitted by users</a:t>
            </a:r>
          </a:p>
          <a:p>
            <a:r>
              <a:rPr lang="en-150" dirty="0"/>
              <a:t>Used for various different reasons</a:t>
            </a:r>
          </a:p>
          <a:p>
            <a:r>
              <a:rPr lang="en-150" dirty="0"/>
              <a:t>Allows us to see how pages looked like in the past</a:t>
            </a:r>
          </a:p>
          <a:p>
            <a:r>
              <a:rPr lang="en-150" dirty="0"/>
              <a:t>1400+ libraries help identify important pages</a:t>
            </a:r>
          </a:p>
          <a:p>
            <a:r>
              <a:rPr lang="en-150" dirty="0"/>
              <a:t>Content may be taken down for privacy or copyright reasons</a:t>
            </a:r>
          </a:p>
        </p:txBody>
      </p:sp>
      <p:cxnSp>
        <p:nvCxnSpPr>
          <p:cNvPr id="14" name="Straight Connector 13">
            <a:extLst>
              <a:ext uri="{FF2B5EF4-FFF2-40B4-BE49-F238E27FC236}">
                <a16:creationId xmlns:a16="http://schemas.microsoft.com/office/drawing/2014/main" id="{652938D1-813E-4650-AAB9-E09257454FF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83456" y="5765296"/>
            <a:ext cx="10215974"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3082" name="Picture 10" descr="Wayback Machine - Wikipedia">
            <a:extLst>
              <a:ext uri="{FF2B5EF4-FFF2-40B4-BE49-F238E27FC236}">
                <a16:creationId xmlns:a16="http://schemas.microsoft.com/office/drawing/2014/main" id="{B2099DE3-3BB4-4AC0-BCBF-2E662A2088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38592" y="466350"/>
            <a:ext cx="3305701" cy="12008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02265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C6DC752-D150-6BFD-A472-5A61F1BE9338}"/>
              </a:ext>
            </a:extLst>
          </p:cNvPr>
          <p:cNvSpPr>
            <a:spLocks noGrp="1"/>
          </p:cNvSpPr>
          <p:nvPr>
            <p:ph type="title"/>
          </p:nvPr>
        </p:nvSpPr>
        <p:spPr>
          <a:xfrm>
            <a:off x="5793149" y="1371600"/>
            <a:ext cx="5737859" cy="1097280"/>
          </a:xfrm>
        </p:spPr>
        <p:txBody>
          <a:bodyPr>
            <a:normAutofit/>
          </a:bodyPr>
          <a:lstStyle/>
          <a:p>
            <a:pPr>
              <a:lnSpc>
                <a:spcPct val="90000"/>
              </a:lnSpc>
            </a:pPr>
            <a:r>
              <a:rPr lang="en-150" sz="3400"/>
              <a:t>How much content is stored?</a:t>
            </a:r>
          </a:p>
        </p:txBody>
      </p:sp>
      <p:pic>
        <p:nvPicPr>
          <p:cNvPr id="7" name="Graphic 6" descr="Database with solid fill">
            <a:extLst>
              <a:ext uri="{FF2B5EF4-FFF2-40B4-BE49-F238E27FC236}">
                <a16:creationId xmlns:a16="http://schemas.microsoft.com/office/drawing/2014/main" id="{72D5B20A-E946-547D-0EE3-55F3D352FC6E}"/>
              </a:ext>
            </a:extLst>
          </p:cNvPr>
          <p:cNvPicPr>
            <a:picLocks noChangeAspect="1"/>
          </p:cNvPicPr>
          <p:nvPr/>
        </p:nvPicPr>
        <p:blipFill>
          <a:blip r:embed="rId3">
            <a:extLst>
              <a:ext uri="{96DAC541-7B7A-43D3-8B79-37D633B846F1}">
                <asvg:svgBlip xmlns:asvg="http://schemas.microsoft.com/office/drawing/2016/SVG/main" r:embed="rId4"/>
              </a:ext>
            </a:extLst>
          </a:blip>
          <a:stretch/>
        </p:blipFill>
        <p:spPr>
          <a:xfrm>
            <a:off x="713232" y="1956816"/>
            <a:ext cx="4343400" cy="4343400"/>
          </a:xfrm>
          <a:prstGeom prst="rect">
            <a:avLst/>
          </a:prstGeom>
        </p:spPr>
      </p:pic>
      <p:cxnSp>
        <p:nvCxnSpPr>
          <p:cNvPr id="24" name="Straight Connector 23">
            <a:extLst>
              <a:ext uri="{FF2B5EF4-FFF2-40B4-BE49-F238E27FC236}">
                <a16:creationId xmlns:a16="http://schemas.microsoft.com/office/drawing/2014/main" id="{753FE100-D0AB-4AE2-824B-60CFA31EC6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66301"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17" name="Content Placeholder 2">
            <a:extLst>
              <a:ext uri="{FF2B5EF4-FFF2-40B4-BE49-F238E27FC236}">
                <a16:creationId xmlns:a16="http://schemas.microsoft.com/office/drawing/2014/main" id="{D0B27038-B355-7B5C-6F91-4F1FF00C6A52}"/>
              </a:ext>
            </a:extLst>
          </p:cNvPr>
          <p:cNvSpPr>
            <a:spLocks noGrp="1"/>
          </p:cNvSpPr>
          <p:nvPr>
            <p:ph idx="1"/>
          </p:nvPr>
        </p:nvSpPr>
        <p:spPr>
          <a:xfrm>
            <a:off x="5793149" y="2633236"/>
            <a:ext cx="5737860" cy="3666980"/>
          </a:xfrm>
        </p:spPr>
        <p:txBody>
          <a:bodyPr>
            <a:normAutofit/>
          </a:bodyPr>
          <a:lstStyle/>
          <a:p>
            <a:r>
              <a:rPr lang="en-150" dirty="0"/>
              <a:t>1 trillion web pages</a:t>
            </a:r>
          </a:p>
          <a:p>
            <a:r>
              <a:rPr lang="en-150" dirty="0"/>
              <a:t>56 million books and texts</a:t>
            </a:r>
          </a:p>
          <a:p>
            <a:r>
              <a:rPr lang="en-150" dirty="0"/>
              <a:t>13 million audio recordings (280,000 live concerts)</a:t>
            </a:r>
          </a:p>
          <a:p>
            <a:r>
              <a:rPr lang="en-150" dirty="0"/>
              <a:t>15 million videos</a:t>
            </a:r>
          </a:p>
          <a:p>
            <a:r>
              <a:rPr lang="en-150" dirty="0"/>
              <a:t>5.3 million images</a:t>
            </a:r>
          </a:p>
          <a:p>
            <a:r>
              <a:rPr lang="en-150" dirty="0"/>
              <a:t>1.3 million software programs</a:t>
            </a:r>
          </a:p>
        </p:txBody>
      </p:sp>
    </p:spTree>
    <p:extLst>
      <p:ext uri="{BB962C8B-B14F-4D97-AF65-F5344CB8AC3E}">
        <p14:creationId xmlns:p14="http://schemas.microsoft.com/office/powerpoint/2010/main" val="36062110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erson with his mouth open and a person with his mouth open&#10;&#10;AI-generated content may be incorrect.">
            <a:extLst>
              <a:ext uri="{FF2B5EF4-FFF2-40B4-BE49-F238E27FC236}">
                <a16:creationId xmlns:a16="http://schemas.microsoft.com/office/drawing/2014/main" id="{8A8D0CCA-CA2D-F6DF-7EA4-142FBC02DD35}"/>
              </a:ext>
            </a:extLst>
          </p:cNvPr>
          <p:cNvPicPr>
            <a:picLocks noChangeAspect="1"/>
          </p:cNvPicPr>
          <p:nvPr/>
        </p:nvPicPr>
        <p:blipFill>
          <a:blip r:embed="rId3"/>
          <a:stretch>
            <a:fillRect/>
          </a:stretch>
        </p:blipFill>
        <p:spPr>
          <a:xfrm>
            <a:off x="0" y="9047"/>
            <a:ext cx="12192000" cy="6839905"/>
          </a:xfrm>
          <a:prstGeom prst="rect">
            <a:avLst/>
          </a:prstGeom>
        </p:spPr>
      </p:pic>
    </p:spTree>
    <p:extLst>
      <p:ext uri="{BB962C8B-B14F-4D97-AF65-F5344CB8AC3E}">
        <p14:creationId xmlns:p14="http://schemas.microsoft.com/office/powerpoint/2010/main" val="6962913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2AE984-FE66-CE17-1329-A8FEBFBB83A7}"/>
              </a:ext>
            </a:extLst>
          </p:cNvPr>
          <p:cNvSpPr>
            <a:spLocks noGrp="1"/>
          </p:cNvSpPr>
          <p:nvPr>
            <p:ph type="title"/>
          </p:nvPr>
        </p:nvSpPr>
        <p:spPr>
          <a:xfrm>
            <a:off x="5793149" y="1371600"/>
            <a:ext cx="5737859" cy="1097280"/>
          </a:xfrm>
        </p:spPr>
        <p:txBody>
          <a:bodyPr>
            <a:normAutofit/>
          </a:bodyPr>
          <a:lstStyle/>
          <a:p>
            <a:pPr>
              <a:lnSpc>
                <a:spcPct val="90000"/>
              </a:lnSpc>
            </a:pPr>
            <a:r>
              <a:rPr lang="en-150" sz="3400"/>
              <a:t>Federal Depository Library Program</a:t>
            </a:r>
          </a:p>
        </p:txBody>
      </p:sp>
      <p:pic>
        <p:nvPicPr>
          <p:cNvPr id="7" name="Graphic 6" descr="Bank">
            <a:extLst>
              <a:ext uri="{FF2B5EF4-FFF2-40B4-BE49-F238E27FC236}">
                <a16:creationId xmlns:a16="http://schemas.microsoft.com/office/drawing/2014/main" id="{E622DEC9-80A2-819A-D98B-909A0611678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13232" y="1956816"/>
            <a:ext cx="4343400" cy="4343400"/>
          </a:xfrm>
          <a:prstGeom prst="rect">
            <a:avLst/>
          </a:prstGeom>
        </p:spPr>
      </p:pic>
      <p:cxnSp>
        <p:nvCxnSpPr>
          <p:cNvPr id="19" name="Straight Connector 18">
            <a:extLst>
              <a:ext uri="{FF2B5EF4-FFF2-40B4-BE49-F238E27FC236}">
                <a16:creationId xmlns:a16="http://schemas.microsoft.com/office/drawing/2014/main" id="{753FE100-D0AB-4AE2-824B-60CFA31EC6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66301"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A8AFD4C3-8ED9-1D63-BB98-113F5E22CC68}"/>
              </a:ext>
            </a:extLst>
          </p:cNvPr>
          <p:cNvSpPr>
            <a:spLocks noGrp="1"/>
          </p:cNvSpPr>
          <p:nvPr>
            <p:ph idx="1"/>
          </p:nvPr>
        </p:nvSpPr>
        <p:spPr>
          <a:xfrm>
            <a:off x="5793149" y="2633236"/>
            <a:ext cx="5737860" cy="3666980"/>
          </a:xfrm>
        </p:spPr>
        <p:txBody>
          <a:bodyPr>
            <a:normAutofit/>
          </a:bodyPr>
          <a:lstStyle/>
          <a:p>
            <a:r>
              <a:rPr lang="en-150" dirty="0"/>
              <a:t>Official part of FDLP since July 24th 2025</a:t>
            </a:r>
          </a:p>
          <a:p>
            <a:r>
              <a:rPr lang="en-150" dirty="0"/>
              <a:t>Host official US government documents</a:t>
            </a:r>
          </a:p>
          <a:p>
            <a:r>
              <a:rPr lang="en-150" dirty="0"/>
              <a:t>Bills, laws, regulations and presidential materials</a:t>
            </a:r>
          </a:p>
        </p:txBody>
      </p:sp>
    </p:spTree>
    <p:extLst>
      <p:ext uri="{BB962C8B-B14F-4D97-AF65-F5344CB8AC3E}">
        <p14:creationId xmlns:p14="http://schemas.microsoft.com/office/powerpoint/2010/main" val="22425643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C16B3CA-E0EE-CE33-F79A-E93D0BFCB1E1}"/>
              </a:ext>
            </a:extLst>
          </p:cNvPr>
          <p:cNvSpPr>
            <a:spLocks noGrp="1"/>
          </p:cNvSpPr>
          <p:nvPr>
            <p:ph type="title"/>
          </p:nvPr>
        </p:nvSpPr>
        <p:spPr>
          <a:xfrm>
            <a:off x="5496821" y="1371600"/>
            <a:ext cx="6034187" cy="1097280"/>
          </a:xfrm>
        </p:spPr>
        <p:txBody>
          <a:bodyPr>
            <a:normAutofit/>
          </a:bodyPr>
          <a:lstStyle/>
          <a:p>
            <a:r>
              <a:rPr lang="en-150" dirty="0"/>
              <a:t>Cyber Attacks</a:t>
            </a:r>
          </a:p>
        </p:txBody>
      </p:sp>
      <p:pic>
        <p:nvPicPr>
          <p:cNvPr id="5" name="Picture 4" descr="Padlock on computer motherboard">
            <a:extLst>
              <a:ext uri="{FF2B5EF4-FFF2-40B4-BE49-F238E27FC236}">
                <a16:creationId xmlns:a16="http://schemas.microsoft.com/office/drawing/2014/main" id="{33F35A00-74E3-2DA2-AC3C-F4EEE3308AF6}"/>
              </a:ext>
            </a:extLst>
          </p:cNvPr>
          <p:cNvPicPr>
            <a:picLocks noChangeAspect="1"/>
          </p:cNvPicPr>
          <p:nvPr/>
        </p:nvPicPr>
        <p:blipFill>
          <a:blip r:embed="rId3"/>
          <a:srcRect l="12777" r="39940" b="-1"/>
          <a:stretch>
            <a:fillRect/>
          </a:stretch>
        </p:blipFill>
        <p:spPr>
          <a:xfrm>
            <a:off x="20" y="10"/>
            <a:ext cx="4857871" cy="6857990"/>
          </a:xfrm>
          <a:prstGeom prst="rect">
            <a:avLst/>
          </a:prstGeom>
        </p:spPr>
      </p:pic>
      <p:cxnSp>
        <p:nvCxnSpPr>
          <p:cNvPr id="18" name="Straight Connector 17">
            <a:extLst>
              <a:ext uri="{FF2B5EF4-FFF2-40B4-BE49-F238E27FC236}">
                <a16:creationId xmlns:a16="http://schemas.microsoft.com/office/drawing/2014/main" id="{691422F5-4221-4812-AFD9-5479C6D60AD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580905" y="1031005"/>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14273E59-2E7D-85A2-F6B6-2955681CA7F1}"/>
              </a:ext>
            </a:extLst>
          </p:cNvPr>
          <p:cNvSpPr>
            <a:spLocks noGrp="1"/>
          </p:cNvSpPr>
          <p:nvPr>
            <p:ph idx="1"/>
          </p:nvPr>
        </p:nvSpPr>
        <p:spPr>
          <a:xfrm>
            <a:off x="5496821" y="2633236"/>
            <a:ext cx="6034187" cy="3664687"/>
          </a:xfrm>
        </p:spPr>
        <p:txBody>
          <a:bodyPr>
            <a:normAutofit/>
          </a:bodyPr>
          <a:lstStyle/>
          <a:p>
            <a:r>
              <a:rPr lang="en-150" dirty="0"/>
              <a:t>October 2024: suffered DDoS attacks followed by a data breach</a:t>
            </a:r>
          </a:p>
          <a:p>
            <a:r>
              <a:rPr lang="en-150" dirty="0"/>
              <a:t>Exposed GitLab secrets (auth tokens) since 2022</a:t>
            </a:r>
          </a:p>
        </p:txBody>
      </p:sp>
    </p:spTree>
    <p:extLst>
      <p:ext uri="{BB962C8B-B14F-4D97-AF65-F5344CB8AC3E}">
        <p14:creationId xmlns:p14="http://schemas.microsoft.com/office/powerpoint/2010/main" val="9370230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0228C7F8-329D-630F-FF43-E54C3BB89D07}"/>
              </a:ext>
            </a:extLst>
          </p:cNvPr>
          <p:cNvPicPr>
            <a:picLocks noChangeAspect="1"/>
          </p:cNvPicPr>
          <p:nvPr/>
        </p:nvPicPr>
        <p:blipFill>
          <a:blip r:embed="rId3"/>
          <a:stretch>
            <a:fillRect/>
          </a:stretch>
        </p:blipFill>
        <p:spPr>
          <a:xfrm>
            <a:off x="0" y="1374777"/>
            <a:ext cx="12192000" cy="5483223"/>
          </a:xfrm>
          <a:prstGeom prst="rect">
            <a:avLst/>
          </a:prstGeom>
        </p:spPr>
      </p:pic>
      <p:sp>
        <p:nvSpPr>
          <p:cNvPr id="6" name="TextBox 5">
            <a:extLst>
              <a:ext uri="{FF2B5EF4-FFF2-40B4-BE49-F238E27FC236}">
                <a16:creationId xmlns:a16="http://schemas.microsoft.com/office/drawing/2014/main" id="{EC0E25D5-A257-9232-E73B-CC223479D46C}"/>
              </a:ext>
            </a:extLst>
          </p:cNvPr>
          <p:cNvSpPr txBox="1"/>
          <p:nvPr/>
        </p:nvSpPr>
        <p:spPr>
          <a:xfrm>
            <a:off x="454069" y="416582"/>
            <a:ext cx="6093912" cy="707886"/>
          </a:xfrm>
          <a:prstGeom prst="rect">
            <a:avLst/>
          </a:prstGeom>
          <a:noFill/>
        </p:spPr>
        <p:txBody>
          <a:bodyPr wrap="square">
            <a:spAutoFit/>
          </a:bodyPr>
          <a:lstStyle/>
          <a:p>
            <a:r>
              <a:rPr lang="en-150" sz="4000" dirty="0"/>
              <a:t>The day of the attack</a:t>
            </a:r>
          </a:p>
        </p:txBody>
      </p:sp>
    </p:spTree>
    <p:extLst>
      <p:ext uri="{BB962C8B-B14F-4D97-AF65-F5344CB8AC3E}">
        <p14:creationId xmlns:p14="http://schemas.microsoft.com/office/powerpoint/2010/main" val="21580921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637580D-1176-4083-A9A1-BD8ED08996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69BE22F-3C86-6252-0FD7-6F331EDA5562}"/>
              </a:ext>
            </a:extLst>
          </p:cNvPr>
          <p:cNvSpPr>
            <a:spLocks noGrp="1"/>
          </p:cNvSpPr>
          <p:nvPr>
            <p:ph type="title"/>
          </p:nvPr>
        </p:nvSpPr>
        <p:spPr>
          <a:xfrm>
            <a:off x="914400" y="1371600"/>
            <a:ext cx="10360152" cy="1139911"/>
          </a:xfrm>
        </p:spPr>
        <p:txBody>
          <a:bodyPr>
            <a:normAutofit/>
          </a:bodyPr>
          <a:lstStyle/>
          <a:p>
            <a:r>
              <a:rPr lang="en-150" dirty="0"/>
              <a:t>Exposed information</a:t>
            </a:r>
          </a:p>
        </p:txBody>
      </p:sp>
      <p:cxnSp>
        <p:nvCxnSpPr>
          <p:cNvPr id="11" name="Straight Connector 10">
            <a:extLst>
              <a:ext uri="{FF2B5EF4-FFF2-40B4-BE49-F238E27FC236}">
                <a16:creationId xmlns:a16="http://schemas.microsoft.com/office/drawing/2014/main" id="{B9C96FDC-E4C2-7D8A-44BA-572E7CD9E89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91585" y="1027306"/>
            <a:ext cx="10208830"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4AD85FDF-1D51-9AFA-943C-0A69595D6F6F}"/>
              </a:ext>
            </a:extLst>
          </p:cNvPr>
          <p:cNvGraphicFramePr>
            <a:graphicFrameLocks noGrp="1"/>
          </p:cNvGraphicFramePr>
          <p:nvPr>
            <p:ph idx="1"/>
            <p:extLst>
              <p:ext uri="{D42A27DB-BD31-4B8C-83A1-F6EECF244321}">
                <p14:modId xmlns:p14="http://schemas.microsoft.com/office/powerpoint/2010/main" val="2142144286"/>
              </p:ext>
            </p:extLst>
          </p:nvPr>
        </p:nvGraphicFramePr>
        <p:xfrm>
          <a:off x="914400" y="2607561"/>
          <a:ext cx="10363200" cy="369035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0743861"/>
      </p:ext>
    </p:extLst>
  </p:cSld>
  <p:clrMapOvr>
    <a:masterClrMapping/>
  </p:clrMapOvr>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TM03457496[[fn=Parallax]]</Template>
  <TotalTime>112</TotalTime>
  <Words>610</Words>
  <Application>Microsoft Office PowerPoint</Application>
  <PresentationFormat>Widescreen</PresentationFormat>
  <Paragraphs>76</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Arial</vt:lpstr>
      <vt:lpstr>Grandview Display</vt:lpstr>
      <vt:lpstr>DashVTI</vt:lpstr>
      <vt:lpstr>Internet Archive</vt:lpstr>
      <vt:lpstr>Brief history</vt:lpstr>
      <vt:lpstr>PowerPoint Presentation</vt:lpstr>
      <vt:lpstr>How much content is stored?</vt:lpstr>
      <vt:lpstr>PowerPoint Presentation</vt:lpstr>
      <vt:lpstr>Federal Depository Library Program</vt:lpstr>
      <vt:lpstr>Cyber Attacks</vt:lpstr>
      <vt:lpstr>PowerPoint Presentation</vt:lpstr>
      <vt:lpstr>Exposed information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deniz turgut</dc:creator>
  <cp:lastModifiedBy>Adam Welbourne</cp:lastModifiedBy>
  <cp:revision>9</cp:revision>
  <dcterms:created xsi:type="dcterms:W3CDTF">2026-02-11T13:28:58Z</dcterms:created>
  <dcterms:modified xsi:type="dcterms:W3CDTF">2026-02-11T17:21:52Z</dcterms:modified>
</cp:coreProperties>
</file>