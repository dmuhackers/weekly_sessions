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handoutMasterIdLst>
    <p:handoutMasterId r:id="rId13"/>
  </p:handoutMasterIdLst>
  <p:sldIdLst>
    <p:sldId id="257" r:id="rId5"/>
    <p:sldId id="268" r:id="rId6"/>
    <p:sldId id="269" r:id="rId7"/>
    <p:sldId id="270" r:id="rId8"/>
    <p:sldId id="271" r:id="rId9"/>
    <p:sldId id="272" r:id="rId10"/>
    <p:sldId id="273" r:id="rId1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111" d="100"/>
          <a:sy n="111" d="100"/>
        </p:scale>
        <p:origin x="594" y="96"/>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2/12/2026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2/12/2026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2/12/2026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2/12/2026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2/12/2026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2/12/2026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2/12/2026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2/12/2026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2/12/2026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2/12/2026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2/12/2026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2/12/2026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2/12/2026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2/12/2026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97868" y="1916832"/>
            <a:ext cx="8735325" cy="2000251"/>
          </a:xfrm>
        </p:spPr>
        <p:txBody>
          <a:bodyPr/>
          <a:lstStyle/>
          <a:p>
            <a:r>
              <a:rPr lang="en-US" dirty="0"/>
              <a:t>The SolarWinds Attack</a:t>
            </a:r>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Overview</a:t>
            </a:r>
          </a:p>
        </p:txBody>
      </p:sp>
      <p:sp>
        <p:nvSpPr>
          <p:cNvPr id="14" name="Content Placeholder 13"/>
          <p:cNvSpPr>
            <a:spLocks noGrp="1"/>
          </p:cNvSpPr>
          <p:nvPr>
            <p:ph idx="1"/>
          </p:nvPr>
        </p:nvSpPr>
        <p:spPr/>
        <p:txBody>
          <a:bodyPr/>
          <a:lstStyle/>
          <a:p>
            <a:r>
              <a:rPr lang="en-US" dirty="0"/>
              <a:t>March 2020 – You download a software update for a network monitoring tool called Orion.</a:t>
            </a:r>
          </a:p>
          <a:p>
            <a:r>
              <a:rPr lang="en-US" dirty="0"/>
              <a:t>The update contained a trojan that went completely unnoticed.</a:t>
            </a:r>
          </a:p>
          <a:p>
            <a:r>
              <a:rPr lang="en-US" dirty="0"/>
              <a:t>December 2020 – FireEye, a cybersecurity firm, discovered they had been breached, but not in the way anyone expected.</a:t>
            </a:r>
          </a:p>
          <a:p>
            <a:r>
              <a:rPr lang="en-US" dirty="0"/>
              <a:t>It turns out a trusted supplier was compromised, which in turn lead to 18,000 customers being breached.</a:t>
            </a:r>
          </a:p>
          <a:p>
            <a:r>
              <a:rPr lang="en-US" dirty="0"/>
              <a:t>The goal of this attack was to compromise one organization to compromise thousands, known as a supply chain attack!</a:t>
            </a:r>
          </a:p>
          <a:p>
            <a:endParaRPr lang="en-US"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26E03-D7C0-9535-5B48-B25FF933E242}"/>
              </a:ext>
            </a:extLst>
          </p:cNvPr>
          <p:cNvSpPr>
            <a:spLocks noGrp="1"/>
          </p:cNvSpPr>
          <p:nvPr>
            <p:ph type="title"/>
          </p:nvPr>
        </p:nvSpPr>
        <p:spPr/>
        <p:txBody>
          <a:bodyPr/>
          <a:lstStyle/>
          <a:p>
            <a:r>
              <a:rPr lang="en-GB" dirty="0"/>
              <a:t>Supply Chain Compromise</a:t>
            </a:r>
          </a:p>
        </p:txBody>
      </p:sp>
      <p:sp>
        <p:nvSpPr>
          <p:cNvPr id="3" name="Content Placeholder 2">
            <a:extLst>
              <a:ext uri="{FF2B5EF4-FFF2-40B4-BE49-F238E27FC236}">
                <a16:creationId xmlns:a16="http://schemas.microsoft.com/office/drawing/2014/main" id="{470EAD5D-0B69-718D-DF9E-8E7A2EB9EB0B}"/>
              </a:ext>
            </a:extLst>
          </p:cNvPr>
          <p:cNvSpPr>
            <a:spLocks noGrp="1"/>
          </p:cNvSpPr>
          <p:nvPr>
            <p:ph idx="1"/>
          </p:nvPr>
        </p:nvSpPr>
        <p:spPr>
          <a:xfrm>
            <a:off x="981844" y="1701797"/>
            <a:ext cx="10801199" cy="4462272"/>
          </a:xfrm>
        </p:spPr>
        <p:txBody>
          <a:bodyPr/>
          <a:lstStyle/>
          <a:p>
            <a:r>
              <a:rPr lang="en-GB" dirty="0"/>
              <a:t>SolarWinds is a software provider for companies and organisations worldwide. They create custom software for a clients needs.</a:t>
            </a:r>
          </a:p>
          <a:p>
            <a:r>
              <a:rPr lang="en-GB" dirty="0"/>
              <a:t>The attack originated in the SolarWinds development environment.</a:t>
            </a:r>
          </a:p>
          <a:p>
            <a:r>
              <a:rPr lang="en-GB" dirty="0"/>
              <a:t>Attackers planted malware knows as “SUNSPOT”. It’s purpose was to monitor usage of MSBuild.exe which was used to compile the updates.</a:t>
            </a:r>
          </a:p>
          <a:p>
            <a:r>
              <a:rPr lang="en-GB" dirty="0"/>
              <a:t>Once the malware detected the patch it injected “SUNBURST”, 4000 lines of obfuscated C# code inside a file called “SolarWinds.Orion.Core.BusinessLayer.dll”.</a:t>
            </a:r>
          </a:p>
          <a:p>
            <a:endParaRPr lang="en-GB" dirty="0"/>
          </a:p>
        </p:txBody>
      </p:sp>
    </p:spTree>
    <p:extLst>
      <p:ext uri="{BB962C8B-B14F-4D97-AF65-F5344CB8AC3E}">
        <p14:creationId xmlns:p14="http://schemas.microsoft.com/office/powerpoint/2010/main" val="1408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BD87A-EC6A-3DB9-61A0-AE11BA9C10EF}"/>
              </a:ext>
            </a:extLst>
          </p:cNvPr>
          <p:cNvSpPr>
            <a:spLocks noGrp="1"/>
          </p:cNvSpPr>
          <p:nvPr>
            <p:ph type="title"/>
          </p:nvPr>
        </p:nvSpPr>
        <p:spPr/>
        <p:txBody>
          <a:bodyPr/>
          <a:lstStyle/>
          <a:p>
            <a:r>
              <a:rPr lang="en-GB" dirty="0"/>
              <a:t>How it stayed invisible</a:t>
            </a:r>
          </a:p>
        </p:txBody>
      </p:sp>
      <p:sp>
        <p:nvSpPr>
          <p:cNvPr id="3" name="Content Placeholder 2">
            <a:extLst>
              <a:ext uri="{FF2B5EF4-FFF2-40B4-BE49-F238E27FC236}">
                <a16:creationId xmlns:a16="http://schemas.microsoft.com/office/drawing/2014/main" id="{3EA472F3-7295-DA2F-3DD1-981B1298C90C}"/>
              </a:ext>
            </a:extLst>
          </p:cNvPr>
          <p:cNvSpPr>
            <a:spLocks noGrp="1"/>
          </p:cNvSpPr>
          <p:nvPr>
            <p:ph idx="1"/>
          </p:nvPr>
        </p:nvSpPr>
        <p:spPr/>
        <p:txBody>
          <a:bodyPr>
            <a:normAutofit fontScale="92500"/>
          </a:bodyPr>
          <a:lstStyle/>
          <a:p>
            <a:r>
              <a:rPr lang="en-GB" dirty="0"/>
              <a:t>It was digitally signed, the file itself carried SolarWinds cryptographic signature.</a:t>
            </a:r>
          </a:p>
          <a:p>
            <a:r>
              <a:rPr lang="en-GB" dirty="0"/>
              <a:t>Sunburst did not use unusual port numbers or suspicious protocols. It used HTTP, disguised as the Orion improvement program, a real thing SolarWinds used.</a:t>
            </a:r>
          </a:p>
          <a:p>
            <a:r>
              <a:rPr lang="en-GB" dirty="0"/>
              <a:t>The malware was so sophisticated it checked for analysts, if it detected forensic tools, debuggers or sandbox environments it deactivated.</a:t>
            </a:r>
          </a:p>
          <a:p>
            <a:r>
              <a:rPr lang="en-GB" dirty="0"/>
              <a:t>It used a legitimate looking C2 domain that had been registered almost 2 years previous. Usually, C2 domains used in attacks are registered around the time of the breach.</a:t>
            </a:r>
          </a:p>
        </p:txBody>
      </p:sp>
    </p:spTree>
    <p:extLst>
      <p:ext uri="{BB962C8B-B14F-4D97-AF65-F5344CB8AC3E}">
        <p14:creationId xmlns:p14="http://schemas.microsoft.com/office/powerpoint/2010/main" val="17022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D79EB-F827-573F-32A1-33AE60CD41C9}"/>
              </a:ext>
            </a:extLst>
          </p:cNvPr>
          <p:cNvSpPr>
            <a:spLocks noGrp="1"/>
          </p:cNvSpPr>
          <p:nvPr>
            <p:ph type="title"/>
          </p:nvPr>
        </p:nvSpPr>
        <p:spPr/>
        <p:txBody>
          <a:bodyPr/>
          <a:lstStyle/>
          <a:p>
            <a:r>
              <a:rPr lang="en-GB" dirty="0"/>
              <a:t>The aftermath</a:t>
            </a:r>
          </a:p>
        </p:txBody>
      </p:sp>
      <p:sp>
        <p:nvSpPr>
          <p:cNvPr id="3" name="Content Placeholder 2">
            <a:extLst>
              <a:ext uri="{FF2B5EF4-FFF2-40B4-BE49-F238E27FC236}">
                <a16:creationId xmlns:a16="http://schemas.microsoft.com/office/drawing/2014/main" id="{14D2FE5A-4409-620C-95F3-909F255EE842}"/>
              </a:ext>
            </a:extLst>
          </p:cNvPr>
          <p:cNvSpPr>
            <a:spLocks noGrp="1"/>
          </p:cNvSpPr>
          <p:nvPr>
            <p:ph idx="1"/>
          </p:nvPr>
        </p:nvSpPr>
        <p:spPr/>
        <p:txBody>
          <a:bodyPr/>
          <a:lstStyle/>
          <a:p>
            <a:r>
              <a:rPr lang="en-GB" dirty="0"/>
              <a:t>18,000 Organisations were infected</a:t>
            </a:r>
          </a:p>
          <a:p>
            <a:r>
              <a:rPr lang="en-GB" dirty="0"/>
              <a:t>US federal agencies compromised, including Homeland security and the Department of justice and many more!</a:t>
            </a:r>
          </a:p>
          <a:p>
            <a:r>
              <a:rPr lang="en-GB" dirty="0"/>
              <a:t>Fortune 500 companies such as Microsoft, intel and cisco all compromised</a:t>
            </a:r>
          </a:p>
          <a:p>
            <a:r>
              <a:rPr lang="en-GB" dirty="0"/>
              <a:t>The US government attributed the attack to the Russian foreign intelligence service (SVR) also known as APT29 or Cozy Bear.</a:t>
            </a:r>
          </a:p>
        </p:txBody>
      </p:sp>
    </p:spTree>
    <p:extLst>
      <p:ext uri="{BB962C8B-B14F-4D97-AF65-F5344CB8AC3E}">
        <p14:creationId xmlns:p14="http://schemas.microsoft.com/office/powerpoint/2010/main" val="222529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8C3A2-7010-DBEE-C1AD-CEB07C2667AB}"/>
              </a:ext>
            </a:extLst>
          </p:cNvPr>
          <p:cNvSpPr>
            <a:spLocks noGrp="1"/>
          </p:cNvSpPr>
          <p:nvPr>
            <p:ph type="title"/>
          </p:nvPr>
        </p:nvSpPr>
        <p:spPr/>
        <p:txBody>
          <a:bodyPr/>
          <a:lstStyle/>
          <a:p>
            <a:r>
              <a:rPr lang="en-GB" dirty="0"/>
              <a:t>What was the legal effect?</a:t>
            </a:r>
          </a:p>
        </p:txBody>
      </p:sp>
      <p:sp>
        <p:nvSpPr>
          <p:cNvPr id="3" name="Content Placeholder 2">
            <a:extLst>
              <a:ext uri="{FF2B5EF4-FFF2-40B4-BE49-F238E27FC236}">
                <a16:creationId xmlns:a16="http://schemas.microsoft.com/office/drawing/2014/main" id="{FDD80B50-9F8E-6D02-15A8-EADA0CAF0403}"/>
              </a:ext>
            </a:extLst>
          </p:cNvPr>
          <p:cNvSpPr>
            <a:spLocks noGrp="1"/>
          </p:cNvSpPr>
          <p:nvPr>
            <p:ph idx="1"/>
          </p:nvPr>
        </p:nvSpPr>
        <p:spPr/>
        <p:txBody>
          <a:bodyPr/>
          <a:lstStyle/>
          <a:p>
            <a:r>
              <a:rPr lang="en-GB" dirty="0"/>
              <a:t>For the first time ever, a CISO was held accountable. The SEC charged Timothy Brown with fraud, claiming that he knew about the vulnerabilities in their infrastructure and did nothing to fix it.</a:t>
            </a:r>
          </a:p>
          <a:p>
            <a:r>
              <a:rPr lang="en-GB" dirty="0"/>
              <a:t>In May of 2021, Joe Biden signed an executive order (14028) that mandated software bills of materials for all software sold to the US government. This meant that companies must now list every component, every library and every dependency of </a:t>
            </a:r>
            <a:r>
              <a:rPr lang="en-GB"/>
              <a:t>the software.</a:t>
            </a:r>
            <a:endParaRPr lang="en-GB" dirty="0"/>
          </a:p>
        </p:txBody>
      </p:sp>
    </p:spTree>
    <p:extLst>
      <p:ext uri="{BB962C8B-B14F-4D97-AF65-F5344CB8AC3E}">
        <p14:creationId xmlns:p14="http://schemas.microsoft.com/office/powerpoint/2010/main" val="1449204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72732-A5B6-4FD1-1AF4-7C1DD26039FA}"/>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C60655E9-CDAD-6A74-4CE3-F17DB52DBA93}"/>
              </a:ext>
            </a:extLst>
          </p:cNvPr>
          <p:cNvSpPr>
            <a:spLocks noGrp="1"/>
          </p:cNvSpPr>
          <p:nvPr>
            <p:ph idx="1"/>
          </p:nvPr>
        </p:nvSpPr>
        <p:spPr/>
        <p:txBody>
          <a:bodyPr/>
          <a:lstStyle/>
          <a:p>
            <a:r>
              <a:rPr lang="en-GB" dirty="0"/>
              <a:t>In short, this attack really highlights the importance of “Zero trust” and verifying everything provided by a third party no matter who the provider is and their credibility.</a:t>
            </a:r>
          </a:p>
          <a:p>
            <a:r>
              <a:rPr lang="en-GB" dirty="0"/>
              <a:t>It also highlighted how a well thought out attack path paired with a supply chain compromise can cripple </a:t>
            </a:r>
            <a:r>
              <a:rPr lang="en-GB"/>
              <a:t>virtually anything.</a:t>
            </a:r>
            <a:endParaRPr lang="en-GB" dirty="0"/>
          </a:p>
        </p:txBody>
      </p:sp>
    </p:spTree>
    <p:extLst>
      <p:ext uri="{BB962C8B-B14F-4D97-AF65-F5344CB8AC3E}">
        <p14:creationId xmlns:p14="http://schemas.microsoft.com/office/powerpoint/2010/main" val="79554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836F65B-1B07-41EE-A0E8-BC6EF38552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78</TotalTime>
  <Words>487</Words>
  <Application>Microsoft Office PowerPoint</Application>
  <PresentationFormat>Custom</PresentationFormat>
  <Paragraphs>28</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Tech 16x9</vt:lpstr>
      <vt:lpstr>The SolarWinds Attack</vt:lpstr>
      <vt:lpstr>Overview</vt:lpstr>
      <vt:lpstr>Supply Chain Compromise</vt:lpstr>
      <vt:lpstr>How it stayed invisible</vt:lpstr>
      <vt:lpstr>The aftermath</vt:lpstr>
      <vt:lpstr>What was the legal effect?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bauer Bauer</dc:creator>
  <cp:lastModifiedBy>Ethan bauer Bauer</cp:lastModifiedBy>
  <cp:revision>5</cp:revision>
  <dcterms:created xsi:type="dcterms:W3CDTF">2026-02-11T13:48:16Z</dcterms:created>
  <dcterms:modified xsi:type="dcterms:W3CDTF">2026-02-12T16:28:03Z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