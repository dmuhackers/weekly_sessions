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Play"/>
      <p:regular r:id="rId24"/>
      <p:bold r:id="rId25"/>
    </p:embeddedFont>
    <p:embeddedFont>
      <p:font typeface="Space Grotesk"/>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gHRz9vp62aipmKpDqlwDfpmEKH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paceGrotesk-regular.fntdata"/><Relationship Id="rId25" Type="http://schemas.openxmlformats.org/officeDocument/2006/relationships/font" Target="fonts/Play-bold.fntdata"/><Relationship Id="rId28" Type="http://customschemas.google.com/relationships/presentationmetadata" Target="metadata"/><Relationship Id="rId27" Type="http://schemas.openxmlformats.org/officeDocument/2006/relationships/font" Target="fonts/SpaceGrotesk-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9b407a20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b9b407a20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9b407a205_1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b9b407a205_1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9b407a205_1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b9b407a205_1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2e7952e56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2e7952e5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2e7952e56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2e7952e5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2e7952e56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2e7952e5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2e7952e56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2e7952e5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2e7952e56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2e7952e5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2e7952e56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2e7952e5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2e7952e56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2e7952e5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2e7952e56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2e7952e5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2e7952e56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2e7952e5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2e7952e56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2e7952e5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2e7952e56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2e7952e5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30bbffafb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30bbffaf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30bbffafb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30bbffaf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30bbffafb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30bbffaf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9f49548e7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b9f49548e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30bbffafb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30bbffaf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b="1">
                <a:solidFill>
                  <a:schemeClr val="lt1"/>
                </a:solidFill>
                <a:latin typeface="Space Grotesk"/>
                <a:ea typeface="Space Grotesk"/>
                <a:cs typeface="Space Grotesk"/>
                <a:sym typeface="Space Grotes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sz="2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8" name="Google Shape;28;p3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37"/>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7"/>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7"/>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7"/>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7"/>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3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4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4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4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1"/>
          <p:cNvSpPr/>
          <p:nvPr>
            <p:ph idx="2" type="pic"/>
          </p:nvPr>
        </p:nvSpPr>
        <p:spPr>
          <a:xfrm>
            <a:off x="5183188" y="987425"/>
            <a:ext cx="6172200" cy="4873500"/>
          </a:xfrm>
          <a:prstGeom prst="rect">
            <a:avLst/>
          </a:prstGeom>
          <a:noFill/>
          <a:ln>
            <a:noFill/>
          </a:ln>
        </p:spPr>
      </p:sp>
      <p:sp>
        <p:nvSpPr>
          <p:cNvPr id="66" name="Google Shape;66;p4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4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43"/>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3"/>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4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8.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32"/>
          <p:cNvSpPr/>
          <p:nvPr/>
        </p:nvSpPr>
        <p:spPr>
          <a:xfrm>
            <a:off x="60963" y="-4287"/>
            <a:ext cx="12070080" cy="6866573"/>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1">
              <a:alphaModFix/>
            </a:blip>
            <a:stretch>
              <a:fillRect b="-9216" l="0" r="0" t="-9216"/>
            </a:stretch>
          </a:blipFill>
          <a:ln>
            <a:noFill/>
          </a:ln>
        </p:spPr>
      </p:sp>
      <p:pic>
        <p:nvPicPr>
          <p:cNvPr id="12" name="Google Shape;12;p32" title="2.png"/>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2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image" Target="../media/image1.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tryhackme.com/room/webattackforensics-aoc2025-b4t7c1d5f8" TargetMode="External"/><Relationship Id="rId4" Type="http://schemas.openxmlformats.org/officeDocument/2006/relationships/image" Target="../media/image17.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5.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tryhackme.com/room/introdigitalforensics" TargetMode="External"/><Relationship Id="rId4" Type="http://schemas.openxmlformats.org/officeDocument/2006/relationships/hyperlink" Target="https://tryhackme.com/room/registry-forensics-aoc2025-h6k9j2l5p8" TargetMode="External"/><Relationship Id="rId5" Type="http://schemas.openxmlformats.org/officeDocument/2006/relationships/hyperlink" Target="https://tryhackme.com/room/forensic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5" name="Shape 85"/>
        <p:cNvGrpSpPr/>
        <p:nvPr/>
      </p:nvGrpSpPr>
      <p:grpSpPr>
        <a:xfrm>
          <a:off x="0" y="0"/>
          <a:ext cx="0" cy="0"/>
          <a:chOff x="0" y="0"/>
          <a:chExt cx="0" cy="0"/>
        </a:xfrm>
      </p:grpSpPr>
      <p:pic>
        <p:nvPicPr>
          <p:cNvPr id="86" name="Google Shape;86;g3b9b407a205_1_0"/>
          <p:cNvPicPr preferRelativeResize="0"/>
          <p:nvPr/>
        </p:nvPicPr>
        <p:blipFill rotWithShape="1">
          <a:blip r:embed="rId3">
            <a:alphaModFix/>
          </a:blip>
          <a:srcRect b="0" l="0" r="0" t="0"/>
          <a:stretch/>
        </p:blipFill>
        <p:spPr>
          <a:xfrm>
            <a:off x="0" y="48001"/>
            <a:ext cx="12192000" cy="67818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b9b407a205_1_1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Announcements</a:t>
            </a:r>
            <a:endParaRPr/>
          </a:p>
        </p:txBody>
      </p:sp>
      <p:sp>
        <p:nvSpPr>
          <p:cNvPr id="92" name="Google Shape;92;g3b9b407a205_1_124"/>
          <p:cNvSpPr txBox="1"/>
          <p:nvPr>
            <p:ph idx="1" type="body"/>
          </p:nvPr>
        </p:nvSpPr>
        <p:spPr>
          <a:xfrm>
            <a:off x="838200" y="1690825"/>
            <a:ext cx="10955700" cy="456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946"/>
              <a:buNone/>
            </a:pPr>
            <a:r>
              <a:t/>
            </a:r>
            <a:endParaRPr sz="2800">
              <a:solidFill>
                <a:schemeClr val="lt1"/>
              </a:solidFill>
            </a:endParaRPr>
          </a:p>
          <a:p>
            <a:pPr indent="-406400" lvl="0" marL="457200" rtl="0" algn="l">
              <a:lnSpc>
                <a:spcPct val="90000"/>
              </a:lnSpc>
              <a:spcBef>
                <a:spcPts val="1000"/>
              </a:spcBef>
              <a:spcAft>
                <a:spcPts val="0"/>
              </a:spcAft>
              <a:buClr>
                <a:srgbClr val="FFFFFF"/>
              </a:buClr>
              <a:buSzPts val="2800"/>
              <a:buChar char="•"/>
            </a:pPr>
            <a:r>
              <a:rPr lang="en-US" sz="2800">
                <a:solidFill>
                  <a:schemeClr val="lt1"/>
                </a:solidFill>
              </a:rPr>
              <a:t>Pwn2Play sign-ups (4 DAYS LEFT!)</a:t>
            </a:r>
            <a:endParaRPr sz="2800">
              <a:solidFill>
                <a:schemeClr val="lt1"/>
              </a:solidFill>
            </a:endParaRPr>
          </a:p>
          <a:p>
            <a:pPr indent="0" lvl="0" marL="0" rtl="0" algn="l">
              <a:lnSpc>
                <a:spcPct val="90000"/>
              </a:lnSpc>
              <a:spcBef>
                <a:spcPts val="1000"/>
              </a:spcBef>
              <a:spcAft>
                <a:spcPts val="0"/>
              </a:spcAft>
              <a:buNone/>
            </a:pPr>
            <a:r>
              <a:t/>
            </a:r>
            <a:endParaRPr sz="2800">
              <a:solidFill>
                <a:schemeClr val="lt1"/>
              </a:solidFill>
            </a:endParaRPr>
          </a:p>
          <a:p>
            <a:pPr indent="-406400" lvl="0" marL="457200" rtl="0" algn="l">
              <a:lnSpc>
                <a:spcPct val="90000"/>
              </a:lnSpc>
              <a:spcBef>
                <a:spcPts val="1000"/>
              </a:spcBef>
              <a:spcAft>
                <a:spcPts val="0"/>
              </a:spcAft>
              <a:buClr>
                <a:schemeClr val="lt1"/>
              </a:buClr>
              <a:buSzPts val="2800"/>
              <a:buChar char="•"/>
            </a:pPr>
            <a:r>
              <a:rPr lang="en-US" sz="2800">
                <a:solidFill>
                  <a:schemeClr val="lt1"/>
                </a:solidFill>
              </a:rPr>
              <a:t>Next week is last session of the year (I’m not here :( )</a:t>
            </a:r>
            <a:endParaRPr sz="28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6" name="Shape 96"/>
        <p:cNvGrpSpPr/>
        <p:nvPr/>
      </p:nvGrpSpPr>
      <p:grpSpPr>
        <a:xfrm>
          <a:off x="0" y="0"/>
          <a:ext cx="0" cy="0"/>
          <a:chOff x="0" y="0"/>
          <a:chExt cx="0" cy="0"/>
        </a:xfrm>
      </p:grpSpPr>
      <p:pic>
        <p:nvPicPr>
          <p:cNvPr id="97" name="Google Shape;97;g3b9b407a205_1_116" title="1.png"/>
          <p:cNvPicPr preferRelativeResize="0"/>
          <p:nvPr/>
        </p:nvPicPr>
        <p:blipFill rotWithShape="1">
          <a:blip r:embed="rId3">
            <a:alphaModFix/>
          </a:blip>
          <a:srcRect b="0" l="0" r="0" t="0"/>
          <a:stretch/>
        </p:blipFill>
        <p:spPr>
          <a:xfrm>
            <a:off x="0" y="0"/>
            <a:ext cx="12192000" cy="6858000"/>
          </a:xfrm>
          <a:prstGeom prst="rect">
            <a:avLst/>
          </a:prstGeom>
          <a:noFill/>
          <a:ln>
            <a:noFill/>
          </a:ln>
        </p:spPr>
      </p:pic>
      <p:cxnSp>
        <p:nvCxnSpPr>
          <p:cNvPr id="98" name="Google Shape;98;g3b9b407a205_1_116"/>
          <p:cNvCxnSpPr/>
          <p:nvPr/>
        </p:nvCxnSpPr>
        <p:spPr>
          <a:xfrm>
            <a:off x="5347950" y="3950600"/>
            <a:ext cx="1416600" cy="1255800"/>
          </a:xfrm>
          <a:prstGeom prst="straightConnector1">
            <a:avLst/>
          </a:prstGeom>
          <a:noFill/>
          <a:ln cap="flat" cmpd="sng" w="228600">
            <a:solidFill>
              <a:srgbClr val="FF0000"/>
            </a:solidFill>
            <a:prstDash val="solid"/>
            <a:round/>
            <a:headEnd len="med" w="med" type="none"/>
            <a:tailEnd len="med" w="med" type="none"/>
          </a:ln>
        </p:spPr>
      </p:cxnSp>
      <p:cxnSp>
        <p:nvCxnSpPr>
          <p:cNvPr id="99" name="Google Shape;99;g3b9b407a205_1_116"/>
          <p:cNvCxnSpPr/>
          <p:nvPr/>
        </p:nvCxnSpPr>
        <p:spPr>
          <a:xfrm flipH="1">
            <a:off x="5299525" y="3982800"/>
            <a:ext cx="1449000" cy="1191300"/>
          </a:xfrm>
          <a:prstGeom prst="straightConnector1">
            <a:avLst/>
          </a:prstGeom>
          <a:noFill/>
          <a:ln cap="flat" cmpd="sng" w="228600">
            <a:solidFill>
              <a:srgbClr val="FF0000"/>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3e2e7952e56_0_12"/>
          <p:cNvPicPr preferRelativeResize="0"/>
          <p:nvPr/>
        </p:nvPicPr>
        <p:blipFill>
          <a:blip r:embed="rId3">
            <a:alphaModFix/>
          </a:blip>
          <a:stretch>
            <a:fillRect/>
          </a:stretch>
        </p:blipFill>
        <p:spPr>
          <a:xfrm>
            <a:off x="1595901" y="1066438"/>
            <a:ext cx="9000201" cy="4725124"/>
          </a:xfrm>
          <a:prstGeom prst="rect">
            <a:avLst/>
          </a:prstGeom>
          <a:noFill/>
          <a:ln>
            <a:noFill/>
          </a:ln>
        </p:spPr>
      </p:pic>
      <p:sp>
        <p:nvSpPr>
          <p:cNvPr id="105" name="Google Shape;105;g3e2e7952e56_0_12"/>
          <p:cNvSpPr txBox="1"/>
          <p:nvPr>
            <p:ph type="ctrTitle"/>
          </p:nvPr>
        </p:nvSpPr>
        <p:spPr>
          <a:xfrm>
            <a:off x="1524000" y="1857588"/>
            <a:ext cx="9144000" cy="2387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solidFill>
                  <a:schemeClr val="lt1"/>
                </a:solidFill>
              </a:rPr>
              <a:t>Blue Team CTFs</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e2e7952e56_0_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What </a:t>
            </a:r>
            <a:r>
              <a:rPr lang="en-US"/>
              <a:t>challenges</a:t>
            </a:r>
            <a:r>
              <a:rPr lang="en-US"/>
              <a:t> are there? </a:t>
            </a:r>
            <a:endParaRPr/>
          </a:p>
        </p:txBody>
      </p:sp>
      <p:sp>
        <p:nvSpPr>
          <p:cNvPr id="111" name="Google Shape;111;g3e2e7952e56_0_2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Most CTF heavily focus on Red Teaming, as that covers Pwn, Crypto, Web (the fun stuff), but there are a few Blue Team </a:t>
            </a:r>
            <a:r>
              <a:rPr lang="en-US">
                <a:solidFill>
                  <a:schemeClr val="lt1"/>
                </a:solidFill>
              </a:rPr>
              <a:t>challenges</a:t>
            </a:r>
            <a:r>
              <a:rPr lang="en-US">
                <a:solidFill>
                  <a:schemeClr val="lt1"/>
                </a:solidFill>
              </a:rPr>
              <a:t> too. These Typically include:</a:t>
            </a:r>
            <a:endParaRPr>
              <a:solidFill>
                <a:schemeClr val="lt1"/>
              </a:solidFill>
            </a:endParaRPr>
          </a:p>
          <a:p>
            <a:pPr indent="-342900" lvl="0" marL="457200" rtl="0" algn="l">
              <a:spcBef>
                <a:spcPts val="1000"/>
              </a:spcBef>
              <a:spcAft>
                <a:spcPts val="0"/>
              </a:spcAft>
              <a:buClr>
                <a:schemeClr val="lt1"/>
              </a:buClr>
              <a:buSzPts val="1800"/>
              <a:buChar char="•"/>
            </a:pPr>
            <a:r>
              <a:rPr lang="en-US">
                <a:solidFill>
                  <a:schemeClr val="lt1"/>
                </a:solidFill>
              </a:rPr>
              <a:t>Log Analysis</a:t>
            </a:r>
            <a:endParaRPr>
              <a:solidFill>
                <a:schemeClr val="lt1"/>
              </a:solidFill>
            </a:endParaRPr>
          </a:p>
          <a:p>
            <a:pPr indent="-342900" lvl="0" marL="457200" rtl="0" algn="l">
              <a:spcBef>
                <a:spcPts val="0"/>
              </a:spcBef>
              <a:spcAft>
                <a:spcPts val="0"/>
              </a:spcAft>
              <a:buClr>
                <a:schemeClr val="lt1"/>
              </a:buClr>
              <a:buSzPts val="1800"/>
              <a:buChar char="•"/>
            </a:pPr>
            <a:r>
              <a:rPr lang="en-US">
                <a:solidFill>
                  <a:schemeClr val="lt1"/>
                </a:solidFill>
              </a:rPr>
              <a:t>Network Traffic Analysis</a:t>
            </a:r>
            <a:endParaRPr>
              <a:solidFill>
                <a:schemeClr val="lt1"/>
              </a:solidFill>
            </a:endParaRPr>
          </a:p>
          <a:p>
            <a:pPr indent="-342900" lvl="0" marL="457200" rtl="0" algn="l">
              <a:spcBef>
                <a:spcPts val="0"/>
              </a:spcBef>
              <a:spcAft>
                <a:spcPts val="0"/>
              </a:spcAft>
              <a:buClr>
                <a:schemeClr val="lt1"/>
              </a:buClr>
              <a:buSzPts val="1800"/>
              <a:buChar char="•"/>
            </a:pPr>
            <a:r>
              <a:rPr lang="en-US">
                <a:solidFill>
                  <a:schemeClr val="lt1"/>
                </a:solidFill>
              </a:rPr>
              <a:t>Malware Analysis</a:t>
            </a:r>
            <a:endParaRPr>
              <a:solidFill>
                <a:schemeClr val="lt1"/>
              </a:solidFill>
            </a:endParaRPr>
          </a:p>
          <a:p>
            <a:pPr indent="-342900" lvl="0" marL="457200" rtl="0" algn="l">
              <a:spcBef>
                <a:spcPts val="0"/>
              </a:spcBef>
              <a:spcAft>
                <a:spcPts val="0"/>
              </a:spcAft>
              <a:buClr>
                <a:schemeClr val="lt1"/>
              </a:buClr>
              <a:buSzPts val="1800"/>
              <a:buChar char="•"/>
            </a:pPr>
            <a:r>
              <a:rPr lang="en-US">
                <a:solidFill>
                  <a:schemeClr val="lt1"/>
                </a:solidFill>
              </a:rPr>
              <a:t>Active defence (thought usually in Red Vs Blue)</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Clr>
                <a:schemeClr val="dk1"/>
              </a:buClr>
              <a:buSzPts val="1100"/>
              <a:buFont typeface="Arial"/>
              <a:buNone/>
            </a:pPr>
            <a:r>
              <a:rPr lang="en-US" sz="2400">
                <a:solidFill>
                  <a:schemeClr val="lt1"/>
                </a:solidFill>
              </a:rPr>
              <a:t>So basically a lot of Forensic analysis challenges and some Malware too :D</a:t>
            </a:r>
            <a:endParaRPr sz="2400">
              <a:solidFill>
                <a:schemeClr val="lt1"/>
              </a:solidFill>
            </a:endParaRPr>
          </a:p>
          <a:p>
            <a:pPr indent="0" lvl="0" marL="0" rtl="0" algn="l">
              <a:spcBef>
                <a:spcPts val="1000"/>
              </a:spcBef>
              <a:spcAft>
                <a:spcPts val="0"/>
              </a:spcAft>
              <a:buNone/>
            </a:pPr>
            <a:r>
              <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e2e7952e56_0_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Forensics</a:t>
            </a:r>
            <a:endParaRPr/>
          </a:p>
        </p:txBody>
      </p:sp>
      <p:sp>
        <p:nvSpPr>
          <p:cNvPr id="117" name="Google Shape;117;g3e2e7952e56_0_2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As stated before, most of the blue team challenges you’ll be doing are some or of forensics, which entails going through so much information or data trying to find some clues.</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This data can be in the form of .log files, .pcap, .mjpeg (which is motion videos, video but not video) and others. Each of </a:t>
            </a:r>
            <a:r>
              <a:rPr lang="en-US">
                <a:solidFill>
                  <a:schemeClr val="lt1"/>
                </a:solidFill>
              </a:rPr>
              <a:t>these</a:t>
            </a:r>
            <a:r>
              <a:rPr lang="en-US">
                <a:solidFill>
                  <a:schemeClr val="lt1"/>
                </a:solidFill>
              </a:rPr>
              <a:t> have tools which  allow you to view and digest the data easier.</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These can be a system monitor, Wireshark or linux command line tools. </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e2e7952e56_0_47"/>
          <p:cNvSpPr txBox="1"/>
          <p:nvPr>
            <p:ph type="ctrTitle"/>
          </p:nvPr>
        </p:nvSpPr>
        <p:spPr>
          <a:xfrm>
            <a:off x="1367300" y="2235138"/>
            <a:ext cx="9144000" cy="2387700"/>
          </a:xfrm>
          <a:prstGeom prst="rect">
            <a:avLst/>
          </a:prstGeom>
        </p:spPr>
        <p:txBody>
          <a:bodyPr anchorCtr="0" anchor="b" bIns="45700" lIns="91425" spcFirstLastPara="1" rIns="91425" wrap="square" tIns="45700">
            <a:normAutofit fontScale="90000"/>
          </a:bodyPr>
          <a:lstStyle/>
          <a:p>
            <a:pPr indent="0" lvl="0" marL="0" rtl="0" algn="ctr">
              <a:spcBef>
                <a:spcPts val="0"/>
              </a:spcBef>
              <a:spcAft>
                <a:spcPts val="0"/>
              </a:spcAft>
              <a:buNone/>
            </a:pPr>
            <a:r>
              <a:rPr lang="en-US">
                <a:solidFill>
                  <a:schemeClr val="lt1"/>
                </a:solidFill>
              </a:rPr>
              <a:t>Now you may be asking ‘Josh </a:t>
            </a:r>
            <a:r>
              <a:rPr lang="en-US">
                <a:solidFill>
                  <a:schemeClr val="lt1"/>
                </a:solidFill>
              </a:rPr>
              <a:t>didn't</a:t>
            </a:r>
            <a:r>
              <a:rPr lang="en-US">
                <a:solidFill>
                  <a:schemeClr val="lt1"/>
                </a:solidFill>
              </a:rPr>
              <a:t> Amara already give a Forensics talk?’</a:t>
            </a:r>
            <a:endParaRPr>
              <a:solidFill>
                <a:schemeClr val="lt1"/>
              </a:solidFill>
            </a:endParaRPr>
          </a:p>
        </p:txBody>
      </p:sp>
      <p:pic>
        <p:nvPicPr>
          <p:cNvPr id="123" name="Google Shape;123;g3e2e7952e56_0_47"/>
          <p:cNvPicPr preferRelativeResize="0"/>
          <p:nvPr/>
        </p:nvPicPr>
        <p:blipFill>
          <a:blip r:embed="rId3">
            <a:alphaModFix/>
          </a:blip>
          <a:stretch>
            <a:fillRect/>
          </a:stretch>
        </p:blipFill>
        <p:spPr>
          <a:xfrm>
            <a:off x="152400" y="4775238"/>
            <a:ext cx="1931901" cy="1930363"/>
          </a:xfrm>
          <a:prstGeom prst="rect">
            <a:avLst/>
          </a:prstGeom>
          <a:noFill/>
          <a:ln>
            <a:noFill/>
          </a:ln>
        </p:spPr>
      </p:pic>
      <p:pic>
        <p:nvPicPr>
          <p:cNvPr id="124" name="Google Shape;124;g3e2e7952e56_0_47"/>
          <p:cNvPicPr preferRelativeResize="0"/>
          <p:nvPr/>
        </p:nvPicPr>
        <p:blipFill>
          <a:blip r:embed="rId4">
            <a:alphaModFix/>
          </a:blip>
          <a:stretch>
            <a:fillRect/>
          </a:stretch>
        </p:blipFill>
        <p:spPr>
          <a:xfrm>
            <a:off x="3779451" y="192838"/>
            <a:ext cx="3431755" cy="1930362"/>
          </a:xfrm>
          <a:prstGeom prst="rect">
            <a:avLst/>
          </a:prstGeom>
          <a:noFill/>
          <a:ln>
            <a:noFill/>
          </a:ln>
        </p:spPr>
      </p:pic>
      <p:pic>
        <p:nvPicPr>
          <p:cNvPr id="125" name="Google Shape;125;g3e2e7952e56_0_47"/>
          <p:cNvPicPr preferRelativeResize="0"/>
          <p:nvPr/>
        </p:nvPicPr>
        <p:blipFill>
          <a:blip r:embed="rId5">
            <a:alphaModFix/>
          </a:blip>
          <a:stretch>
            <a:fillRect/>
          </a:stretch>
        </p:blipFill>
        <p:spPr>
          <a:xfrm>
            <a:off x="9673226" y="4622838"/>
            <a:ext cx="1930362" cy="19303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e2e7952e56_0_55"/>
          <p:cNvSpPr txBox="1"/>
          <p:nvPr>
            <p:ph type="ctrTitle"/>
          </p:nvPr>
        </p:nvSpPr>
        <p:spPr>
          <a:xfrm>
            <a:off x="1524000" y="1122363"/>
            <a:ext cx="9144000" cy="2387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solidFill>
                  <a:schemeClr val="lt1"/>
                </a:solidFill>
              </a:rPr>
              <a:t>Yes (Well done).</a:t>
            </a:r>
            <a:endParaRPr>
              <a:solidFill>
                <a:schemeClr val="lt1"/>
              </a:solidFill>
            </a:endParaRPr>
          </a:p>
        </p:txBody>
      </p:sp>
      <p:sp>
        <p:nvSpPr>
          <p:cNvPr id="131" name="Google Shape;131;g3e2e7952e56_0_55"/>
          <p:cNvSpPr txBox="1"/>
          <p:nvPr>
            <p:ph idx="1" type="subTitle"/>
          </p:nvPr>
        </p:nvSpPr>
        <p:spPr>
          <a:xfrm>
            <a:off x="1524000" y="3602038"/>
            <a:ext cx="9144000" cy="16557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rPr lang="en-US">
                <a:solidFill>
                  <a:schemeClr val="lt1"/>
                </a:solidFill>
              </a:rPr>
              <a:t>And i won’t be going over it again cause i’m lazy, so use her slides from the github for tools :D</a:t>
            </a:r>
            <a:endParaRPr>
              <a:solidFill>
                <a:schemeClr val="lt1"/>
              </a:solidFill>
            </a:endParaRPr>
          </a:p>
        </p:txBody>
      </p:sp>
      <p:pic>
        <p:nvPicPr>
          <p:cNvPr id="132" name="Google Shape;132;g3e2e7952e56_0_55"/>
          <p:cNvPicPr preferRelativeResize="0"/>
          <p:nvPr/>
        </p:nvPicPr>
        <p:blipFill>
          <a:blip r:embed="rId3">
            <a:alphaModFix/>
          </a:blip>
          <a:stretch>
            <a:fillRect/>
          </a:stretch>
        </p:blipFill>
        <p:spPr>
          <a:xfrm>
            <a:off x="646588" y="171613"/>
            <a:ext cx="2486025" cy="1838325"/>
          </a:xfrm>
          <a:prstGeom prst="rect">
            <a:avLst/>
          </a:prstGeom>
          <a:noFill/>
          <a:ln>
            <a:noFill/>
          </a:ln>
        </p:spPr>
      </p:pic>
      <p:pic>
        <p:nvPicPr>
          <p:cNvPr id="133" name="Google Shape;133;g3e2e7952e56_0_55"/>
          <p:cNvPicPr preferRelativeResize="0"/>
          <p:nvPr/>
        </p:nvPicPr>
        <p:blipFill>
          <a:blip r:embed="rId4">
            <a:alphaModFix/>
          </a:blip>
          <a:stretch>
            <a:fillRect/>
          </a:stretch>
        </p:blipFill>
        <p:spPr>
          <a:xfrm>
            <a:off x="9692800" y="4482650"/>
            <a:ext cx="1780474" cy="1780476"/>
          </a:xfrm>
          <a:prstGeom prst="rect">
            <a:avLst/>
          </a:prstGeom>
          <a:noFill/>
          <a:ln>
            <a:noFill/>
          </a:ln>
        </p:spPr>
      </p:pic>
      <p:pic>
        <p:nvPicPr>
          <p:cNvPr id="134" name="Google Shape;134;g3e2e7952e56_0_55"/>
          <p:cNvPicPr preferRelativeResize="0"/>
          <p:nvPr/>
        </p:nvPicPr>
        <p:blipFill>
          <a:blip r:embed="rId5">
            <a:alphaModFix/>
          </a:blip>
          <a:stretch>
            <a:fillRect/>
          </a:stretch>
        </p:blipFill>
        <p:spPr>
          <a:xfrm>
            <a:off x="494498" y="4429614"/>
            <a:ext cx="1425199" cy="1886550"/>
          </a:xfrm>
          <a:prstGeom prst="rect">
            <a:avLst/>
          </a:prstGeom>
          <a:noFill/>
          <a:ln>
            <a:noFill/>
          </a:ln>
        </p:spPr>
      </p:pic>
      <p:pic>
        <p:nvPicPr>
          <p:cNvPr id="135" name="Google Shape;135;g3e2e7952e56_0_55"/>
          <p:cNvPicPr preferRelativeResize="0"/>
          <p:nvPr/>
        </p:nvPicPr>
        <p:blipFill>
          <a:blip r:embed="rId6">
            <a:alphaModFix/>
          </a:blip>
          <a:stretch>
            <a:fillRect/>
          </a:stretch>
        </p:blipFill>
        <p:spPr>
          <a:xfrm>
            <a:off x="8654525" y="390575"/>
            <a:ext cx="1847850" cy="190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e2e7952e56_0_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Walkthrough</a:t>
            </a:r>
            <a:endParaRPr/>
          </a:p>
        </p:txBody>
      </p:sp>
      <p:sp>
        <p:nvSpPr>
          <p:cNvPr id="141" name="Google Shape;141;g3e2e7952e56_0_4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Instead i’m going to go through a TryHackMe for a forensics </a:t>
            </a:r>
            <a:r>
              <a:rPr lang="en-US">
                <a:solidFill>
                  <a:schemeClr val="lt1"/>
                </a:solidFill>
              </a:rPr>
              <a:t>challenge</a:t>
            </a:r>
            <a:r>
              <a:rPr lang="en-US">
                <a:solidFill>
                  <a:schemeClr val="lt1"/>
                </a:solidFill>
              </a:rPr>
              <a:t> to explain </a:t>
            </a:r>
            <a:r>
              <a:rPr lang="en-US">
                <a:solidFill>
                  <a:schemeClr val="lt1"/>
                </a:solidFill>
              </a:rPr>
              <a:t>the</a:t>
            </a:r>
            <a:r>
              <a:rPr lang="en-US">
                <a:solidFill>
                  <a:schemeClr val="lt1"/>
                </a:solidFill>
              </a:rPr>
              <a:t> logic and some ways to think about them, so you have some idea where to start.</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Of course this won’t work for everyone of them as every </a:t>
            </a:r>
            <a:r>
              <a:rPr lang="en-US">
                <a:solidFill>
                  <a:schemeClr val="lt1"/>
                </a:solidFill>
              </a:rPr>
              <a:t>challenge</a:t>
            </a:r>
            <a:r>
              <a:rPr lang="en-US">
                <a:solidFill>
                  <a:schemeClr val="lt1"/>
                </a:solidFill>
              </a:rPr>
              <a:t> is different, but practice makes perfect.</a:t>
            </a:r>
            <a:endParaRPr>
              <a:solidFill>
                <a:schemeClr val="lt1"/>
              </a:solidFill>
            </a:endParaRPr>
          </a:p>
        </p:txBody>
      </p:sp>
      <p:pic>
        <p:nvPicPr>
          <p:cNvPr id="142" name="Google Shape;142;g3e2e7952e56_0_42"/>
          <p:cNvPicPr preferRelativeResize="0"/>
          <p:nvPr/>
        </p:nvPicPr>
        <p:blipFill>
          <a:blip r:embed="rId3">
            <a:alphaModFix/>
          </a:blip>
          <a:stretch>
            <a:fillRect/>
          </a:stretch>
        </p:blipFill>
        <p:spPr>
          <a:xfrm>
            <a:off x="7743113" y="4132200"/>
            <a:ext cx="2466975" cy="184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e2e7952e56_0_6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 Lettuce Begin</a:t>
            </a:r>
            <a:endParaRPr/>
          </a:p>
        </p:txBody>
      </p:sp>
      <p:sp>
        <p:nvSpPr>
          <p:cNvPr id="148" name="Google Shape;148;g3e2e7952e56_0_6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The Box I’m going to do a crash course on is Web Attack Forensics.</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This is a challenge from last years Advent of Cyber, so is fairly new and has a medium difficulty so has a good balance. (And i won’t embarrass myself)</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This is the link: </a:t>
            </a:r>
            <a:r>
              <a:rPr lang="en-US" u="sng">
                <a:solidFill>
                  <a:srgbClr val="CC0000"/>
                </a:solidFill>
                <a:hlinkClick r:id="rId3">
                  <a:extLst>
                    <a:ext uri="{A12FA001-AC4F-418D-AE19-62706E023703}">
                      <ahyp:hlinkClr val="tx"/>
                    </a:ext>
                  </a:extLst>
                </a:hlinkClick>
              </a:rPr>
              <a:t>https://tryhackme.com/room/webattackforensics-aoc2025-b4t7c1d5f8</a:t>
            </a:r>
            <a:endParaRPr>
              <a:solidFill>
                <a:srgbClr val="CC0000"/>
              </a:solidFill>
            </a:endParaRPr>
          </a:p>
          <a:p>
            <a:pPr indent="0" lvl="0" marL="0" rtl="0" algn="l">
              <a:spcBef>
                <a:spcPts val="1000"/>
              </a:spcBef>
              <a:spcAft>
                <a:spcPts val="0"/>
              </a:spcAft>
              <a:buNone/>
            </a:pPr>
            <a:r>
              <a:t/>
            </a:r>
            <a:endParaRPr>
              <a:solidFill>
                <a:schemeClr val="lt1"/>
              </a:solidFill>
            </a:endParaRPr>
          </a:p>
        </p:txBody>
      </p:sp>
      <p:pic>
        <p:nvPicPr>
          <p:cNvPr id="149" name="Google Shape;149;g3e2e7952e56_0_65"/>
          <p:cNvPicPr preferRelativeResize="0"/>
          <p:nvPr/>
        </p:nvPicPr>
        <p:blipFill>
          <a:blip r:embed="rId4">
            <a:alphaModFix/>
          </a:blip>
          <a:stretch>
            <a:fillRect/>
          </a:stretch>
        </p:blipFill>
        <p:spPr>
          <a:xfrm>
            <a:off x="7631797" y="559338"/>
            <a:ext cx="1670624" cy="937275"/>
          </a:xfrm>
          <a:prstGeom prst="rect">
            <a:avLst/>
          </a:prstGeom>
          <a:noFill/>
          <a:ln>
            <a:noFill/>
          </a:ln>
        </p:spPr>
      </p:pic>
      <p:pic>
        <p:nvPicPr>
          <p:cNvPr id="150" name="Google Shape;150;g3e2e7952e56_0_65"/>
          <p:cNvPicPr preferRelativeResize="0"/>
          <p:nvPr/>
        </p:nvPicPr>
        <p:blipFill>
          <a:blip r:embed="rId5">
            <a:alphaModFix/>
          </a:blip>
          <a:stretch>
            <a:fillRect/>
          </a:stretch>
        </p:blipFill>
        <p:spPr>
          <a:xfrm>
            <a:off x="134997" y="5379200"/>
            <a:ext cx="1355325" cy="996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e2e7952e56_0_74"/>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u="sng">
                <a:solidFill>
                  <a:schemeClr val="lt1"/>
                </a:solidFill>
              </a:rPr>
              <a:t>Firstly</a:t>
            </a:r>
            <a:endParaRPr u="sng">
              <a:solidFill>
                <a:schemeClr val="lt1"/>
              </a:solidFill>
            </a:endParaRPr>
          </a:p>
        </p:txBody>
      </p:sp>
      <p:sp>
        <p:nvSpPr>
          <p:cNvPr id="156" name="Google Shape;156;g3e2e7952e56_0_74"/>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57" name="Google Shape;157;g3e2e7952e56_0_74"/>
          <p:cNvSpPr txBox="1"/>
          <p:nvPr>
            <p:ph idx="2" type="body"/>
          </p:nvPr>
        </p:nvSpPr>
        <p:spPr>
          <a:xfrm>
            <a:off x="839788" y="2057400"/>
            <a:ext cx="3932100" cy="38115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solidFill>
                  <a:schemeClr val="lt1"/>
                </a:solidFill>
              </a:rPr>
              <a:t>After starting the box we can then connect to a </a:t>
            </a:r>
            <a:r>
              <a:rPr lang="en-US">
                <a:solidFill>
                  <a:schemeClr val="lt1"/>
                </a:solidFill>
              </a:rPr>
              <a:t>website at the IP address. this website is called Splunk and is the main area for the company</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not really a lot to explain here so here's a network switch, size doesn't matter so he’s a 5 port O.o</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ANYWAYS</a:t>
            </a:r>
            <a:endParaRPr>
              <a:solidFill>
                <a:schemeClr val="lt1"/>
              </a:solidFill>
            </a:endParaRPr>
          </a:p>
        </p:txBody>
      </p:sp>
      <p:pic>
        <p:nvPicPr>
          <p:cNvPr id="158" name="Google Shape;158;g3e2e7952e56_0_74"/>
          <p:cNvPicPr preferRelativeResize="0"/>
          <p:nvPr/>
        </p:nvPicPr>
        <p:blipFill>
          <a:blip r:embed="rId3">
            <a:alphaModFix/>
          </a:blip>
          <a:stretch>
            <a:fillRect/>
          </a:stretch>
        </p:blipFill>
        <p:spPr>
          <a:xfrm>
            <a:off x="5638975" y="1246247"/>
            <a:ext cx="6121974" cy="2366675"/>
          </a:xfrm>
          <a:prstGeom prst="rect">
            <a:avLst/>
          </a:prstGeom>
          <a:noFill/>
          <a:ln>
            <a:noFill/>
          </a:ln>
        </p:spPr>
      </p:pic>
      <p:pic>
        <p:nvPicPr>
          <p:cNvPr id="159" name="Google Shape;159;g3e2e7952e56_0_74"/>
          <p:cNvPicPr preferRelativeResize="0"/>
          <p:nvPr/>
        </p:nvPicPr>
        <p:blipFill>
          <a:blip r:embed="rId4">
            <a:alphaModFix/>
          </a:blip>
          <a:stretch>
            <a:fillRect/>
          </a:stretch>
        </p:blipFill>
        <p:spPr>
          <a:xfrm>
            <a:off x="6489000" y="3752585"/>
            <a:ext cx="3932099" cy="2692464"/>
          </a:xfrm>
          <a:prstGeom prst="rect">
            <a:avLst/>
          </a:prstGeom>
          <a:noFill/>
          <a:ln>
            <a:noFill/>
          </a:ln>
        </p:spPr>
      </p:pic>
      <p:pic>
        <p:nvPicPr>
          <p:cNvPr id="160" name="Google Shape;160;g3e2e7952e56_0_74"/>
          <p:cNvPicPr preferRelativeResize="0"/>
          <p:nvPr/>
        </p:nvPicPr>
        <p:blipFill>
          <a:blip r:embed="rId5">
            <a:alphaModFix/>
          </a:blip>
          <a:stretch>
            <a:fillRect/>
          </a:stretch>
        </p:blipFill>
        <p:spPr>
          <a:xfrm>
            <a:off x="2569648" y="4000548"/>
            <a:ext cx="1801700" cy="1801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e2e7952e56_0_82"/>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u="sng">
                <a:solidFill>
                  <a:schemeClr val="lt1"/>
                </a:solidFill>
              </a:rPr>
              <a:t>Next</a:t>
            </a:r>
            <a:endParaRPr u="sng">
              <a:solidFill>
                <a:schemeClr val="lt1"/>
              </a:solidFill>
            </a:endParaRPr>
          </a:p>
        </p:txBody>
      </p:sp>
      <p:sp>
        <p:nvSpPr>
          <p:cNvPr id="166" name="Google Shape;166;g3e2e7952e56_0_82"/>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67" name="Google Shape;167;g3e2e7952e56_0_82"/>
          <p:cNvSpPr txBox="1"/>
          <p:nvPr>
            <p:ph idx="2" type="body"/>
          </p:nvPr>
        </p:nvSpPr>
        <p:spPr>
          <a:xfrm>
            <a:off x="839788" y="2057400"/>
            <a:ext cx="3932100" cy="38115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lang="en-US">
                <a:solidFill>
                  <a:schemeClr val="lt1"/>
                </a:solidFill>
              </a:rPr>
              <a:t>Then going through </a:t>
            </a:r>
            <a:r>
              <a:rPr lang="en-US">
                <a:solidFill>
                  <a:schemeClr val="lt1"/>
                </a:solidFill>
              </a:rPr>
              <a:t>the</a:t>
            </a:r>
            <a:r>
              <a:rPr lang="en-US">
                <a:solidFill>
                  <a:schemeClr val="lt1"/>
                </a:solidFill>
              </a:rPr>
              <a:t> website you can find a search menu, allowing us to find what has happened in </a:t>
            </a:r>
            <a:r>
              <a:rPr lang="en-US">
                <a:solidFill>
                  <a:schemeClr val="lt1"/>
                </a:solidFill>
              </a:rPr>
              <a:t>terms</a:t>
            </a:r>
            <a:r>
              <a:rPr lang="en-US">
                <a:solidFill>
                  <a:schemeClr val="lt1"/>
                </a:solidFill>
              </a:rPr>
              <a:t> of programs and executables</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using the command below we can filter for the important things which are cmd.exe, powershell.exe and powershell, as these are what allow </a:t>
            </a:r>
            <a:r>
              <a:rPr lang="en-US">
                <a:solidFill>
                  <a:schemeClr val="lt1"/>
                </a:solidFill>
              </a:rPr>
              <a:t>you to run things </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The magic command is:</a:t>
            </a:r>
            <a:endParaRPr>
              <a:solidFill>
                <a:schemeClr val="lt1"/>
              </a:solidFill>
            </a:endParaRPr>
          </a:p>
          <a:p>
            <a:pPr indent="0" lvl="0" marL="0" rtl="0" algn="l">
              <a:spcBef>
                <a:spcPts val="1000"/>
              </a:spcBef>
              <a:spcAft>
                <a:spcPts val="0"/>
              </a:spcAft>
              <a:buNone/>
            </a:pPr>
            <a:r>
              <a:rPr lang="en-US">
                <a:solidFill>
                  <a:schemeClr val="lt1"/>
                </a:solidFill>
              </a:rPr>
              <a:t>index=windows_apache_access (cmd.exe OR powershell OR "powershell.exe" OR "Invoke-Expression") | table _time host clientip uri_path uri_query status</a:t>
            </a:r>
            <a:endParaRPr>
              <a:solidFill>
                <a:schemeClr val="lt1"/>
              </a:solidFill>
            </a:endParaRPr>
          </a:p>
        </p:txBody>
      </p:sp>
      <p:pic>
        <p:nvPicPr>
          <p:cNvPr id="168" name="Google Shape;168;g3e2e7952e56_0_82"/>
          <p:cNvPicPr preferRelativeResize="0"/>
          <p:nvPr/>
        </p:nvPicPr>
        <p:blipFill>
          <a:blip r:embed="rId3">
            <a:alphaModFix/>
          </a:blip>
          <a:stretch>
            <a:fillRect/>
          </a:stretch>
        </p:blipFill>
        <p:spPr>
          <a:xfrm>
            <a:off x="6003175" y="1342674"/>
            <a:ext cx="5923651" cy="2858774"/>
          </a:xfrm>
          <a:prstGeom prst="rect">
            <a:avLst/>
          </a:prstGeom>
          <a:noFill/>
          <a:ln>
            <a:noFill/>
          </a:ln>
        </p:spPr>
      </p:pic>
      <p:pic>
        <p:nvPicPr>
          <p:cNvPr id="169" name="Google Shape;169;g3e2e7952e56_0_82"/>
          <p:cNvPicPr preferRelativeResize="0"/>
          <p:nvPr/>
        </p:nvPicPr>
        <p:blipFill>
          <a:blip r:embed="rId4">
            <a:alphaModFix/>
          </a:blip>
          <a:stretch>
            <a:fillRect/>
          </a:stretch>
        </p:blipFill>
        <p:spPr>
          <a:xfrm>
            <a:off x="3316925" y="5549172"/>
            <a:ext cx="8533326" cy="922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e2e7952e56_0_92"/>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u="sng">
                <a:solidFill>
                  <a:schemeClr val="lt1"/>
                </a:solidFill>
              </a:rPr>
              <a:t>something :)</a:t>
            </a:r>
            <a:endParaRPr u="sng">
              <a:solidFill>
                <a:schemeClr val="lt1"/>
              </a:solidFill>
            </a:endParaRPr>
          </a:p>
        </p:txBody>
      </p:sp>
      <p:sp>
        <p:nvSpPr>
          <p:cNvPr id="175" name="Google Shape;175;g3e2e7952e56_0_92"/>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76" name="Google Shape;176;g3e2e7952e56_0_92"/>
          <p:cNvSpPr txBox="1"/>
          <p:nvPr>
            <p:ph idx="2" type="body"/>
          </p:nvPr>
        </p:nvSpPr>
        <p:spPr>
          <a:xfrm>
            <a:off x="839788" y="2057400"/>
            <a:ext cx="3932100" cy="3811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After searching with the command we can see that the same uni query has been made 3 times, this being ‘cmd=powershell.exe+-enc+VABoAGkAcwAgAGkAcwAgAG4AbwB3ACAATQBpAG4AZQAhACAATQBVAEEASABBAEEASABBAEE</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This can be put in a Base64 calc to get the message shown</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This </a:t>
            </a:r>
            <a:r>
              <a:rPr lang="en-US">
                <a:solidFill>
                  <a:schemeClr val="lt1"/>
                </a:solidFill>
              </a:rPr>
              <a:t>actually</a:t>
            </a:r>
            <a:r>
              <a:rPr lang="en-US">
                <a:solidFill>
                  <a:schemeClr val="lt1"/>
                </a:solidFill>
              </a:rPr>
              <a:t> turns out to be nothing but it taunting us as seen in the picture so we move forward </a:t>
            </a:r>
            <a:endParaRPr>
              <a:solidFill>
                <a:schemeClr val="lt1"/>
              </a:solidFill>
            </a:endParaRPr>
          </a:p>
        </p:txBody>
      </p:sp>
      <p:pic>
        <p:nvPicPr>
          <p:cNvPr id="177" name="Google Shape;177;g3e2e7952e56_0_92"/>
          <p:cNvPicPr preferRelativeResize="0"/>
          <p:nvPr/>
        </p:nvPicPr>
        <p:blipFill>
          <a:blip r:embed="rId3">
            <a:alphaModFix/>
          </a:blip>
          <a:stretch>
            <a:fillRect/>
          </a:stretch>
        </p:blipFill>
        <p:spPr>
          <a:xfrm>
            <a:off x="6310144" y="1384181"/>
            <a:ext cx="5881850" cy="2609525"/>
          </a:xfrm>
          <a:prstGeom prst="rect">
            <a:avLst/>
          </a:prstGeom>
          <a:noFill/>
          <a:ln>
            <a:noFill/>
          </a:ln>
        </p:spPr>
      </p:pic>
      <p:pic>
        <p:nvPicPr>
          <p:cNvPr id="178" name="Google Shape;178;g3e2e7952e56_0_92"/>
          <p:cNvPicPr preferRelativeResize="0"/>
          <p:nvPr/>
        </p:nvPicPr>
        <p:blipFill rotWithShape="1">
          <a:blip r:embed="rId4">
            <a:alphaModFix/>
          </a:blip>
          <a:srcRect b="73906" l="0" r="0" t="0"/>
          <a:stretch/>
        </p:blipFill>
        <p:spPr>
          <a:xfrm>
            <a:off x="6497325" y="4162450"/>
            <a:ext cx="5019100" cy="1000950"/>
          </a:xfrm>
          <a:prstGeom prst="rect">
            <a:avLst/>
          </a:prstGeom>
          <a:noFill/>
          <a:ln>
            <a:noFill/>
          </a:ln>
        </p:spPr>
      </p:pic>
      <p:pic>
        <p:nvPicPr>
          <p:cNvPr id="179" name="Google Shape;179;g3e2e7952e56_0_92"/>
          <p:cNvPicPr preferRelativeResize="0"/>
          <p:nvPr/>
        </p:nvPicPr>
        <p:blipFill>
          <a:blip r:embed="rId5">
            <a:alphaModFix/>
          </a:blip>
          <a:stretch>
            <a:fillRect/>
          </a:stretch>
        </p:blipFill>
        <p:spPr>
          <a:xfrm>
            <a:off x="3967300" y="5432850"/>
            <a:ext cx="6762750" cy="102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e2e7952e56_0_102"/>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u="sng">
                <a:solidFill>
                  <a:schemeClr val="lt1"/>
                </a:solidFill>
              </a:rPr>
              <a:t>Yet another command</a:t>
            </a:r>
            <a:endParaRPr u="sng">
              <a:solidFill>
                <a:schemeClr val="lt1"/>
              </a:solidFill>
            </a:endParaRPr>
          </a:p>
        </p:txBody>
      </p:sp>
      <p:sp>
        <p:nvSpPr>
          <p:cNvPr id="185" name="Google Shape;185;g3e2e7952e56_0_102"/>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86" name="Google Shape;186;g3e2e7952e56_0_102"/>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solidFill>
                  <a:schemeClr val="lt1"/>
                </a:solidFill>
              </a:rPr>
              <a:t>the </a:t>
            </a:r>
            <a:r>
              <a:rPr lang="en-US">
                <a:solidFill>
                  <a:schemeClr val="lt1"/>
                </a:solidFill>
              </a:rPr>
              <a:t>next thing to do is to check on the server side if anything errored. this will show us what the attacker tried to run and if it managed to go anywhere.</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I checked it with this command:</a:t>
            </a:r>
            <a:endParaRPr>
              <a:solidFill>
                <a:schemeClr val="lt1"/>
              </a:solidFill>
            </a:endParaRPr>
          </a:p>
          <a:p>
            <a:pPr indent="0" lvl="0" marL="0" rtl="0" algn="l">
              <a:spcBef>
                <a:spcPts val="1000"/>
              </a:spcBef>
              <a:spcAft>
                <a:spcPts val="0"/>
              </a:spcAft>
              <a:buNone/>
            </a:pPr>
            <a:r>
              <a:rPr lang="en-US" sz="1500">
                <a:solidFill>
                  <a:schemeClr val="lt1"/>
                </a:solidFill>
                <a:latin typeface="Georgia"/>
                <a:ea typeface="Georgia"/>
                <a:cs typeface="Georgia"/>
                <a:sym typeface="Georgia"/>
              </a:rPr>
              <a:t>index=windows_apache_error ("cmd.exe" OR "powershell" OR "Internal Server Error")</a:t>
            </a:r>
            <a:endParaRPr sz="1500">
              <a:solidFill>
                <a:schemeClr val="lt1"/>
              </a:solidFill>
              <a:latin typeface="Georgia"/>
              <a:ea typeface="Georgia"/>
              <a:cs typeface="Georgia"/>
              <a:sym typeface="Georgia"/>
            </a:endParaRPr>
          </a:p>
          <a:p>
            <a:pPr indent="0" lvl="0" marL="0" rtl="0" algn="l">
              <a:spcBef>
                <a:spcPts val="1000"/>
              </a:spcBef>
              <a:spcAft>
                <a:spcPts val="0"/>
              </a:spcAft>
              <a:buNone/>
            </a:pPr>
            <a:r>
              <a:rPr lang="en-US" sz="1500">
                <a:solidFill>
                  <a:schemeClr val="lt1"/>
                </a:solidFill>
              </a:rPr>
              <a:t>which is used to check for errors that were caused</a:t>
            </a:r>
            <a:endParaRPr sz="1500">
              <a:solidFill>
                <a:schemeClr val="lt1"/>
              </a:solidFill>
            </a:endParaRPr>
          </a:p>
          <a:p>
            <a:pPr indent="0" lvl="0" marL="0" rtl="0" algn="l">
              <a:spcBef>
                <a:spcPts val="1000"/>
              </a:spcBef>
              <a:spcAft>
                <a:spcPts val="0"/>
              </a:spcAft>
              <a:buNone/>
            </a:pPr>
            <a:r>
              <a:t/>
            </a:r>
            <a:endParaRPr sz="1500">
              <a:solidFill>
                <a:schemeClr val="lt1"/>
              </a:solidFill>
            </a:endParaRPr>
          </a:p>
          <a:p>
            <a:pPr indent="0" lvl="0" marL="0" rtl="0" algn="l">
              <a:spcBef>
                <a:spcPts val="1000"/>
              </a:spcBef>
              <a:spcAft>
                <a:spcPts val="0"/>
              </a:spcAft>
              <a:buNone/>
            </a:pPr>
            <a:r>
              <a:rPr lang="en-US" sz="1500">
                <a:solidFill>
                  <a:schemeClr val="lt1"/>
                </a:solidFill>
              </a:rPr>
              <a:t>however this sadly didn’t lead anywhere useful</a:t>
            </a:r>
            <a:endParaRPr sz="1500">
              <a:solidFill>
                <a:schemeClr val="lt1"/>
              </a:solidFill>
            </a:endParaRPr>
          </a:p>
        </p:txBody>
      </p:sp>
      <p:pic>
        <p:nvPicPr>
          <p:cNvPr id="187" name="Google Shape;187;g3e2e7952e56_0_102"/>
          <p:cNvPicPr preferRelativeResize="0"/>
          <p:nvPr/>
        </p:nvPicPr>
        <p:blipFill>
          <a:blip r:embed="rId3">
            <a:alphaModFix/>
          </a:blip>
          <a:stretch>
            <a:fillRect/>
          </a:stretch>
        </p:blipFill>
        <p:spPr>
          <a:xfrm>
            <a:off x="5455851" y="1740425"/>
            <a:ext cx="6476925" cy="3328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e30bbffafb_0_3"/>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u="sng">
                <a:solidFill>
                  <a:schemeClr val="lt1"/>
                </a:solidFill>
              </a:rPr>
              <a:t>following the attacker</a:t>
            </a:r>
            <a:endParaRPr u="sng">
              <a:solidFill>
                <a:schemeClr val="lt1"/>
              </a:solidFill>
            </a:endParaRPr>
          </a:p>
        </p:txBody>
      </p:sp>
      <p:sp>
        <p:nvSpPr>
          <p:cNvPr id="193" name="Google Shape;193;g3e30bbffafb_0_3"/>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94" name="Google Shape;194;g3e30bbffafb_0_3"/>
          <p:cNvSpPr txBox="1"/>
          <p:nvPr>
            <p:ph idx="2" type="body"/>
          </p:nvPr>
        </p:nvSpPr>
        <p:spPr>
          <a:xfrm>
            <a:off x="839788" y="2057400"/>
            <a:ext cx="3932100" cy="38115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sz="1500">
                <a:solidFill>
                  <a:schemeClr val="lt1"/>
                </a:solidFill>
                <a:latin typeface="Georgia"/>
                <a:ea typeface="Georgia"/>
                <a:cs typeface="Georgia"/>
                <a:sym typeface="Georgia"/>
              </a:rPr>
              <a:t>The best route now as we’ve struck out twice is to try and follow what the attacker has done.</a:t>
            </a:r>
            <a:endParaRPr sz="1500">
              <a:solidFill>
                <a:schemeClr val="lt1"/>
              </a:solidFill>
              <a:latin typeface="Georgia"/>
              <a:ea typeface="Georgia"/>
              <a:cs typeface="Georgia"/>
              <a:sym typeface="Georgia"/>
            </a:endParaRPr>
          </a:p>
          <a:p>
            <a:pPr indent="0" lvl="0" marL="0" rtl="0" algn="l">
              <a:spcBef>
                <a:spcPts val="1000"/>
              </a:spcBef>
              <a:spcAft>
                <a:spcPts val="0"/>
              </a:spcAft>
              <a:buNone/>
            </a:pPr>
            <a:r>
              <a:rPr lang="en-US" sz="1500">
                <a:solidFill>
                  <a:schemeClr val="lt1"/>
                </a:solidFill>
                <a:latin typeface="Georgia"/>
                <a:ea typeface="Georgia"/>
                <a:cs typeface="Georgia"/>
                <a:sym typeface="Georgia"/>
              </a:rPr>
              <a:t>this command shows the execution process so we can see what has been done:</a:t>
            </a:r>
            <a:endParaRPr sz="1500">
              <a:solidFill>
                <a:schemeClr val="lt1"/>
              </a:solidFill>
              <a:latin typeface="Georgia"/>
              <a:ea typeface="Georgia"/>
              <a:cs typeface="Georgia"/>
              <a:sym typeface="Georgia"/>
            </a:endParaRPr>
          </a:p>
          <a:p>
            <a:pPr indent="0" lvl="0" marL="0" rtl="0" algn="l">
              <a:spcBef>
                <a:spcPts val="1000"/>
              </a:spcBef>
              <a:spcAft>
                <a:spcPts val="0"/>
              </a:spcAft>
              <a:buNone/>
            </a:pPr>
            <a:r>
              <a:rPr lang="en-US" sz="1500">
                <a:solidFill>
                  <a:schemeClr val="lt1"/>
                </a:solidFill>
                <a:latin typeface="Georgia"/>
                <a:ea typeface="Georgia"/>
                <a:cs typeface="Georgia"/>
                <a:sym typeface="Georgia"/>
              </a:rPr>
              <a:t>index=windows_sysmon ParentImage=”*httpd.exe”</a:t>
            </a:r>
            <a:r>
              <a:rPr lang="en-US" sz="1100">
                <a:solidFill>
                  <a:schemeClr val="lt1"/>
                </a:solidFill>
              </a:rPr>
              <a:t> </a:t>
            </a:r>
            <a:endParaRPr sz="1100">
              <a:solidFill>
                <a:schemeClr val="lt1"/>
              </a:solidFill>
            </a:endParaRPr>
          </a:p>
          <a:p>
            <a:pPr indent="0" lvl="0" marL="0" rtl="0" algn="l">
              <a:spcBef>
                <a:spcPts val="1000"/>
              </a:spcBef>
              <a:spcAft>
                <a:spcPts val="0"/>
              </a:spcAft>
              <a:buNone/>
            </a:pPr>
            <a:r>
              <a:t/>
            </a:r>
            <a:endParaRPr sz="1100">
              <a:solidFill>
                <a:schemeClr val="lt1"/>
              </a:solidFill>
            </a:endParaRPr>
          </a:p>
          <a:p>
            <a:pPr indent="0" lvl="0" marL="0" rtl="0" algn="l">
              <a:spcBef>
                <a:spcPts val="1000"/>
              </a:spcBef>
              <a:spcAft>
                <a:spcPts val="0"/>
              </a:spcAft>
              <a:buNone/>
            </a:pPr>
            <a:r>
              <a:rPr lang="en-US" sz="1500">
                <a:solidFill>
                  <a:schemeClr val="lt1"/>
                </a:solidFill>
              </a:rPr>
              <a:t>after we can also run a command that searches for specific commands, like ‘whoami’ which is a common one done by attackers to get info about the system</a:t>
            </a:r>
            <a:endParaRPr sz="1500">
              <a:solidFill>
                <a:schemeClr val="lt1"/>
              </a:solidFill>
            </a:endParaRPr>
          </a:p>
          <a:p>
            <a:pPr indent="0" lvl="0" marL="0" rtl="0" algn="l">
              <a:spcBef>
                <a:spcPts val="1000"/>
              </a:spcBef>
              <a:spcAft>
                <a:spcPts val="0"/>
              </a:spcAft>
              <a:buNone/>
            </a:pPr>
            <a:r>
              <a:rPr lang="en-US" sz="1500">
                <a:solidFill>
                  <a:schemeClr val="lt1"/>
                </a:solidFill>
              </a:rPr>
              <a:t>this command is :</a:t>
            </a:r>
            <a:endParaRPr sz="1500">
              <a:solidFill>
                <a:schemeClr val="lt1"/>
              </a:solidFill>
            </a:endParaRPr>
          </a:p>
          <a:p>
            <a:pPr indent="0" lvl="0" marL="0" rtl="0" algn="l">
              <a:spcBef>
                <a:spcPts val="1000"/>
              </a:spcBef>
              <a:spcAft>
                <a:spcPts val="0"/>
              </a:spcAft>
              <a:buNone/>
            </a:pPr>
            <a:r>
              <a:rPr lang="en-US" sz="1500">
                <a:solidFill>
                  <a:schemeClr val="lt1"/>
                </a:solidFill>
                <a:latin typeface="Georgia"/>
                <a:ea typeface="Georgia"/>
                <a:cs typeface="Georgia"/>
                <a:sym typeface="Georgia"/>
              </a:rPr>
              <a:t>index=windows_sysmon *cmd.exe* *whoami*”</a:t>
            </a:r>
            <a:r>
              <a:rPr lang="en-US" sz="1100">
                <a:solidFill>
                  <a:schemeClr val="lt1"/>
                </a:solidFill>
              </a:rPr>
              <a:t> </a:t>
            </a:r>
            <a:endParaRPr sz="1100">
              <a:solidFill>
                <a:schemeClr val="lt1"/>
              </a:solidFill>
            </a:endParaRPr>
          </a:p>
        </p:txBody>
      </p:sp>
      <p:pic>
        <p:nvPicPr>
          <p:cNvPr id="195" name="Google Shape;195;g3e30bbffafb_0_3"/>
          <p:cNvPicPr preferRelativeResize="0"/>
          <p:nvPr/>
        </p:nvPicPr>
        <p:blipFill>
          <a:blip r:embed="rId3">
            <a:alphaModFix/>
          </a:blip>
          <a:stretch>
            <a:fillRect/>
          </a:stretch>
        </p:blipFill>
        <p:spPr>
          <a:xfrm>
            <a:off x="5739493" y="1265593"/>
            <a:ext cx="5525324" cy="1934975"/>
          </a:xfrm>
          <a:prstGeom prst="rect">
            <a:avLst/>
          </a:prstGeom>
          <a:noFill/>
          <a:ln>
            <a:noFill/>
          </a:ln>
        </p:spPr>
      </p:pic>
      <p:pic>
        <p:nvPicPr>
          <p:cNvPr id="196" name="Google Shape;196;g3e30bbffafb_0_3"/>
          <p:cNvPicPr preferRelativeResize="0"/>
          <p:nvPr/>
        </p:nvPicPr>
        <p:blipFill>
          <a:blip r:embed="rId4">
            <a:alphaModFix/>
          </a:blip>
          <a:stretch>
            <a:fillRect/>
          </a:stretch>
        </p:blipFill>
        <p:spPr>
          <a:xfrm>
            <a:off x="5681125" y="3547282"/>
            <a:ext cx="5525325" cy="215219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e30bbffafb_0_13"/>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u="sng">
                <a:solidFill>
                  <a:schemeClr val="lt1"/>
                </a:solidFill>
              </a:rPr>
              <a:t>Finally the answer</a:t>
            </a:r>
            <a:endParaRPr u="sng">
              <a:solidFill>
                <a:schemeClr val="lt1"/>
              </a:solidFill>
            </a:endParaRPr>
          </a:p>
        </p:txBody>
      </p:sp>
      <p:sp>
        <p:nvSpPr>
          <p:cNvPr id="202" name="Google Shape;202;g3e30bbffafb_0_13"/>
          <p:cNvSpPr txBox="1"/>
          <p:nvPr>
            <p:ph idx="1" type="body"/>
          </p:nvPr>
        </p:nvSpPr>
        <p:spPr>
          <a:xfrm>
            <a:off x="5183188" y="987425"/>
            <a:ext cx="6172200" cy="487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203" name="Google Shape;203;g3e30bbffafb_0_13"/>
          <p:cNvSpPr txBox="1"/>
          <p:nvPr>
            <p:ph idx="2" type="body"/>
          </p:nvPr>
        </p:nvSpPr>
        <p:spPr>
          <a:xfrm>
            <a:off x="839788" y="2057400"/>
            <a:ext cx="3932100" cy="3811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So </a:t>
            </a:r>
            <a:r>
              <a:rPr lang="en-US">
                <a:solidFill>
                  <a:schemeClr val="lt1"/>
                </a:solidFill>
              </a:rPr>
              <a:t>thanks</a:t>
            </a:r>
            <a:r>
              <a:rPr lang="en-US">
                <a:solidFill>
                  <a:schemeClr val="lt1"/>
                </a:solidFill>
              </a:rPr>
              <a:t> to the last command, we now have all the information. For the </a:t>
            </a:r>
            <a:r>
              <a:rPr lang="en-US">
                <a:solidFill>
                  <a:schemeClr val="lt1"/>
                </a:solidFill>
              </a:rPr>
              <a:t>first</a:t>
            </a:r>
            <a:r>
              <a:rPr lang="en-US">
                <a:solidFill>
                  <a:schemeClr val="lt1"/>
                </a:solidFill>
              </a:rPr>
              <a:t> one, the attacker tried to be sneaky and name the file ‘whoami.exe’ so you’d look past it, and as it’s not located in the system32 folder we know that.</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For the second part, we can go back to the first step where the attacker left the </a:t>
            </a:r>
            <a:r>
              <a:rPr lang="en-US">
                <a:solidFill>
                  <a:schemeClr val="lt1"/>
                </a:solidFill>
              </a:rPr>
              <a:t>taunting</a:t>
            </a:r>
            <a:r>
              <a:rPr lang="en-US">
                <a:solidFill>
                  <a:schemeClr val="lt1"/>
                </a:solidFill>
              </a:rPr>
              <a:t> message in Base64, and as it shows us what created that file we know it is ‘powershell.exe’</a:t>
            </a:r>
            <a:endParaRPr>
              <a:solidFill>
                <a:schemeClr val="lt1"/>
              </a:solidFill>
            </a:endParaRPr>
          </a:p>
        </p:txBody>
      </p:sp>
      <p:pic>
        <p:nvPicPr>
          <p:cNvPr id="204" name="Google Shape;204;g3e30bbffafb_0_13"/>
          <p:cNvPicPr preferRelativeResize="0"/>
          <p:nvPr/>
        </p:nvPicPr>
        <p:blipFill>
          <a:blip r:embed="rId3">
            <a:alphaModFix/>
          </a:blip>
          <a:stretch>
            <a:fillRect/>
          </a:stretch>
        </p:blipFill>
        <p:spPr>
          <a:xfrm>
            <a:off x="8306727" y="517902"/>
            <a:ext cx="2491200" cy="2427724"/>
          </a:xfrm>
          <a:prstGeom prst="rect">
            <a:avLst/>
          </a:prstGeom>
          <a:noFill/>
          <a:ln>
            <a:noFill/>
          </a:ln>
        </p:spPr>
      </p:pic>
      <p:pic>
        <p:nvPicPr>
          <p:cNvPr id="205" name="Google Shape;205;g3e30bbffafb_0_13"/>
          <p:cNvPicPr preferRelativeResize="0"/>
          <p:nvPr/>
        </p:nvPicPr>
        <p:blipFill>
          <a:blip r:embed="rId4">
            <a:alphaModFix/>
          </a:blip>
          <a:stretch>
            <a:fillRect/>
          </a:stretch>
        </p:blipFill>
        <p:spPr>
          <a:xfrm>
            <a:off x="6048590" y="1055575"/>
            <a:ext cx="1904250" cy="1299525"/>
          </a:xfrm>
          <a:prstGeom prst="rect">
            <a:avLst/>
          </a:prstGeom>
          <a:noFill/>
          <a:ln>
            <a:noFill/>
          </a:ln>
        </p:spPr>
      </p:pic>
      <p:pic>
        <p:nvPicPr>
          <p:cNvPr id="206" name="Google Shape;206;g3e30bbffafb_0_13"/>
          <p:cNvPicPr preferRelativeResize="0"/>
          <p:nvPr/>
        </p:nvPicPr>
        <p:blipFill rotWithShape="1">
          <a:blip r:embed="rId5">
            <a:alphaModFix/>
          </a:blip>
          <a:srcRect b="-10570" l="-17440" r="17440" t="10570"/>
          <a:stretch/>
        </p:blipFill>
        <p:spPr>
          <a:xfrm>
            <a:off x="5081975" y="3900025"/>
            <a:ext cx="5322333" cy="684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e30bbffafb_0_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Summary</a:t>
            </a:r>
            <a:endParaRPr/>
          </a:p>
        </p:txBody>
      </p:sp>
      <p:sp>
        <p:nvSpPr>
          <p:cNvPr id="212" name="Google Shape;212;g3e30bbffafb_0_2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solidFill>
                  <a:schemeClr val="lt1"/>
                </a:solidFill>
              </a:rPr>
              <a:t>That was a very </a:t>
            </a:r>
            <a:r>
              <a:rPr lang="en-US">
                <a:solidFill>
                  <a:schemeClr val="lt1"/>
                </a:solidFill>
              </a:rPr>
              <a:t>crude and quick explanations of one example of how these challenges can go, but they can really vary. The man thing is to try and say focused and shut out the noise. Gather everything you can that feels important, and then slim it down from there. There are also many tools out there to help, as mentioned in the Forensics talk :)</a:t>
            </a:r>
            <a:endParaRPr>
              <a:solidFill>
                <a:schemeClr val="lt1"/>
              </a:solidFill>
            </a:endParaRPr>
          </a:p>
          <a:p>
            <a:pPr indent="0" lvl="0" marL="0" rtl="0" algn="l">
              <a:spcBef>
                <a:spcPts val="1000"/>
              </a:spcBef>
              <a:spcAft>
                <a:spcPts val="0"/>
              </a:spcAft>
              <a:buNone/>
            </a:pPr>
            <a:r>
              <a:t/>
            </a:r>
            <a:endParaRPr>
              <a:solidFill>
                <a:schemeClr val="lt1"/>
              </a:solidFill>
            </a:endParaRPr>
          </a:p>
          <a:p>
            <a:pPr indent="0" lvl="0" marL="0" rtl="0" algn="l">
              <a:spcBef>
                <a:spcPts val="1000"/>
              </a:spcBef>
              <a:spcAft>
                <a:spcPts val="0"/>
              </a:spcAft>
              <a:buNone/>
            </a:pPr>
            <a:r>
              <a:rPr lang="en-US">
                <a:solidFill>
                  <a:schemeClr val="lt1"/>
                </a:solidFill>
              </a:rPr>
              <a:t>Again though, the best way with these, sadly like all challenges, is just practice. The more you do the better you get</a:t>
            </a:r>
            <a:endParaRPr>
              <a:solidFill>
                <a:schemeClr val="lt1"/>
              </a:solidFill>
            </a:endParaRPr>
          </a:p>
        </p:txBody>
      </p:sp>
      <p:pic>
        <p:nvPicPr>
          <p:cNvPr id="213" name="Google Shape;213;g3e30bbffafb_0_22"/>
          <p:cNvPicPr preferRelativeResize="0"/>
          <p:nvPr/>
        </p:nvPicPr>
        <p:blipFill>
          <a:blip r:embed="rId3">
            <a:alphaModFix/>
          </a:blip>
          <a:stretch>
            <a:fillRect/>
          </a:stretch>
        </p:blipFill>
        <p:spPr>
          <a:xfrm>
            <a:off x="8304825" y="4783050"/>
            <a:ext cx="2476500" cy="1847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b9f49548e7_0_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Practical</a:t>
            </a:r>
            <a:endParaRPr/>
          </a:p>
        </p:txBody>
      </p:sp>
      <p:sp>
        <p:nvSpPr>
          <p:cNvPr id="219" name="Google Shape;219;g3b9f49548e7_0_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1800"/>
              <a:buNone/>
            </a:pPr>
            <a:r>
              <a:rPr lang="en-US">
                <a:solidFill>
                  <a:srgbClr val="CC0000"/>
                </a:solidFill>
              </a:rPr>
              <a:t>Easy:</a:t>
            </a:r>
            <a:endParaRPr>
              <a:solidFill>
                <a:srgbClr val="CC0000"/>
              </a:solidFill>
            </a:endParaRPr>
          </a:p>
          <a:p>
            <a:pPr indent="0" lvl="0" marL="0" rtl="0" algn="l">
              <a:lnSpc>
                <a:spcPct val="90000"/>
              </a:lnSpc>
              <a:spcBef>
                <a:spcPts val="0"/>
              </a:spcBef>
              <a:spcAft>
                <a:spcPts val="0"/>
              </a:spcAft>
              <a:buSzPts val="1800"/>
              <a:buNone/>
            </a:pPr>
            <a:r>
              <a:t/>
            </a:r>
            <a:endParaRPr>
              <a:solidFill>
                <a:srgbClr val="CC0000"/>
              </a:solidFill>
            </a:endParaRPr>
          </a:p>
          <a:p>
            <a:pPr indent="0" lvl="0" marL="0" rtl="0" algn="l">
              <a:lnSpc>
                <a:spcPct val="90000"/>
              </a:lnSpc>
              <a:spcBef>
                <a:spcPts val="0"/>
              </a:spcBef>
              <a:spcAft>
                <a:spcPts val="0"/>
              </a:spcAft>
              <a:buSzPts val="1800"/>
              <a:buNone/>
            </a:pPr>
            <a:r>
              <a:rPr lang="en-US" u="sng">
                <a:solidFill>
                  <a:srgbClr val="CC0000"/>
                </a:solidFill>
                <a:hlinkClick r:id="rId3">
                  <a:extLst>
                    <a:ext uri="{A12FA001-AC4F-418D-AE19-62706E023703}">
                      <ahyp:hlinkClr val="tx"/>
                    </a:ext>
                  </a:extLst>
                </a:hlinkClick>
              </a:rPr>
              <a:t>https://tryhackme.com/room/introdigitalforensics</a:t>
            </a:r>
            <a:endParaRPr>
              <a:solidFill>
                <a:srgbClr val="CC0000"/>
              </a:solidFill>
            </a:endParaRPr>
          </a:p>
          <a:p>
            <a:pPr indent="0" lvl="0" marL="0" rtl="0" algn="l">
              <a:lnSpc>
                <a:spcPct val="90000"/>
              </a:lnSpc>
              <a:spcBef>
                <a:spcPts val="0"/>
              </a:spcBef>
              <a:spcAft>
                <a:spcPts val="0"/>
              </a:spcAft>
              <a:buSzPts val="1800"/>
              <a:buNone/>
            </a:pPr>
            <a:r>
              <a:t/>
            </a:r>
            <a:endParaRPr>
              <a:solidFill>
                <a:srgbClr val="CC0000"/>
              </a:solidFill>
            </a:endParaRPr>
          </a:p>
          <a:p>
            <a:pPr indent="0" lvl="0" marL="0" rtl="0" algn="l">
              <a:lnSpc>
                <a:spcPct val="90000"/>
              </a:lnSpc>
              <a:spcBef>
                <a:spcPts val="0"/>
              </a:spcBef>
              <a:spcAft>
                <a:spcPts val="0"/>
              </a:spcAft>
              <a:buSzPts val="1800"/>
              <a:buNone/>
            </a:pPr>
            <a:r>
              <a:rPr lang="en-US">
                <a:solidFill>
                  <a:srgbClr val="CC0000"/>
                </a:solidFill>
              </a:rPr>
              <a:t>Medium: </a:t>
            </a:r>
            <a:endParaRPr>
              <a:solidFill>
                <a:srgbClr val="CC0000"/>
              </a:solidFill>
            </a:endParaRPr>
          </a:p>
          <a:p>
            <a:pPr indent="0" lvl="0" marL="0" rtl="0" algn="l">
              <a:lnSpc>
                <a:spcPct val="90000"/>
              </a:lnSpc>
              <a:spcBef>
                <a:spcPts val="0"/>
              </a:spcBef>
              <a:spcAft>
                <a:spcPts val="0"/>
              </a:spcAft>
              <a:buSzPts val="1800"/>
              <a:buNone/>
            </a:pPr>
            <a:r>
              <a:t/>
            </a:r>
            <a:endParaRPr>
              <a:solidFill>
                <a:srgbClr val="CC0000"/>
              </a:solidFill>
            </a:endParaRPr>
          </a:p>
          <a:p>
            <a:pPr indent="0" lvl="0" marL="0" rtl="0" algn="l">
              <a:lnSpc>
                <a:spcPct val="90000"/>
              </a:lnSpc>
              <a:spcBef>
                <a:spcPts val="0"/>
              </a:spcBef>
              <a:spcAft>
                <a:spcPts val="0"/>
              </a:spcAft>
              <a:buSzPts val="1800"/>
              <a:buNone/>
            </a:pPr>
            <a:r>
              <a:rPr lang="en-US" u="sng">
                <a:solidFill>
                  <a:srgbClr val="CC0000"/>
                </a:solidFill>
                <a:hlinkClick r:id="rId4">
                  <a:extLst>
                    <a:ext uri="{A12FA001-AC4F-418D-AE19-62706E023703}">
                      <ahyp:hlinkClr val="tx"/>
                    </a:ext>
                  </a:extLst>
                </a:hlinkClick>
              </a:rPr>
              <a:t>https://tryhackme.com/room/registry-forensics-aoc2025-h6k9j2l5p8</a:t>
            </a:r>
            <a:endParaRPr>
              <a:solidFill>
                <a:srgbClr val="CC0000"/>
              </a:solidFill>
            </a:endParaRPr>
          </a:p>
          <a:p>
            <a:pPr indent="0" lvl="0" marL="0" rtl="0" algn="l">
              <a:lnSpc>
                <a:spcPct val="90000"/>
              </a:lnSpc>
              <a:spcBef>
                <a:spcPts val="0"/>
              </a:spcBef>
              <a:spcAft>
                <a:spcPts val="0"/>
              </a:spcAft>
              <a:buSzPts val="1800"/>
              <a:buNone/>
            </a:pPr>
            <a:r>
              <a:t/>
            </a:r>
            <a:endParaRPr>
              <a:solidFill>
                <a:srgbClr val="CC0000"/>
              </a:solidFill>
            </a:endParaRPr>
          </a:p>
          <a:p>
            <a:pPr indent="0" lvl="0" marL="0" rtl="0" algn="l">
              <a:lnSpc>
                <a:spcPct val="90000"/>
              </a:lnSpc>
              <a:spcBef>
                <a:spcPts val="0"/>
              </a:spcBef>
              <a:spcAft>
                <a:spcPts val="0"/>
              </a:spcAft>
              <a:buSzPts val="1800"/>
              <a:buNone/>
            </a:pPr>
            <a:r>
              <a:rPr lang="en-US">
                <a:solidFill>
                  <a:srgbClr val="CC0000"/>
                </a:solidFill>
              </a:rPr>
              <a:t>Hard:</a:t>
            </a:r>
            <a:endParaRPr>
              <a:solidFill>
                <a:srgbClr val="CC0000"/>
              </a:solidFill>
            </a:endParaRPr>
          </a:p>
          <a:p>
            <a:pPr indent="0" lvl="0" marL="0" rtl="0" algn="l">
              <a:lnSpc>
                <a:spcPct val="90000"/>
              </a:lnSpc>
              <a:spcBef>
                <a:spcPts val="0"/>
              </a:spcBef>
              <a:spcAft>
                <a:spcPts val="0"/>
              </a:spcAft>
              <a:buSzPts val="1800"/>
              <a:buNone/>
            </a:pPr>
            <a:r>
              <a:t/>
            </a:r>
            <a:endParaRPr>
              <a:solidFill>
                <a:srgbClr val="CC0000"/>
              </a:solidFill>
            </a:endParaRPr>
          </a:p>
          <a:p>
            <a:pPr indent="0" lvl="0" marL="0" rtl="0" algn="l">
              <a:lnSpc>
                <a:spcPct val="90000"/>
              </a:lnSpc>
              <a:spcBef>
                <a:spcPts val="0"/>
              </a:spcBef>
              <a:spcAft>
                <a:spcPts val="0"/>
              </a:spcAft>
              <a:buSzPts val="1800"/>
              <a:buNone/>
            </a:pPr>
            <a:r>
              <a:rPr lang="en-US" u="sng">
                <a:solidFill>
                  <a:srgbClr val="CC0000"/>
                </a:solidFill>
                <a:hlinkClick r:id="rId5">
                  <a:extLst>
                    <a:ext uri="{A12FA001-AC4F-418D-AE19-62706E023703}">
                      <ahyp:hlinkClr val="tx"/>
                    </a:ext>
                  </a:extLst>
                </a:hlinkClick>
              </a:rPr>
              <a:t>https://tryhackme.com/room/forensics</a:t>
            </a:r>
            <a:endParaRPr>
              <a:solidFill>
                <a:srgbClr val="CC0000"/>
              </a:solidFill>
            </a:endParaRPr>
          </a:p>
          <a:p>
            <a:pPr indent="0" lvl="0" marL="0" rtl="0" algn="l">
              <a:lnSpc>
                <a:spcPct val="90000"/>
              </a:lnSpc>
              <a:spcBef>
                <a:spcPts val="0"/>
              </a:spcBef>
              <a:spcAft>
                <a:spcPts val="0"/>
              </a:spcAft>
              <a:buSzPts val="1800"/>
              <a:buNone/>
            </a:pPr>
            <a:r>
              <a:t/>
            </a:r>
            <a:endParaRPr>
              <a:solidFill>
                <a:schemeClr val="lt1"/>
              </a:solidFill>
            </a:endParaRPr>
          </a:p>
          <a:p>
            <a:pPr indent="0" lvl="0" marL="0" rtl="0" algn="l">
              <a:lnSpc>
                <a:spcPct val="90000"/>
              </a:lnSpc>
              <a:spcBef>
                <a:spcPts val="0"/>
              </a:spcBef>
              <a:spcAft>
                <a:spcPts val="0"/>
              </a:spcAft>
              <a:buSzPts val="1800"/>
              <a:buNone/>
            </a:pPr>
            <a:r>
              <a:rPr lang="en-US">
                <a:solidFill>
                  <a:schemeClr val="lt1"/>
                </a:solidFill>
              </a:rPr>
              <a:t>If you get very stuck, google some walkthroughs and follow along with them, they can help you think in different ways than usual.</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e30bbffafb_0_33"/>
          <p:cNvSpPr txBox="1"/>
          <p:nvPr>
            <p:ph type="ctrTitle"/>
          </p:nvPr>
        </p:nvSpPr>
        <p:spPr>
          <a:xfrm>
            <a:off x="1524000" y="1122363"/>
            <a:ext cx="9144000" cy="2387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solidFill>
                  <a:schemeClr val="lt1"/>
                </a:solidFill>
              </a:rPr>
              <a:t>That’s all from me </a:t>
            </a:r>
            <a:endParaRPr>
              <a:solidFill>
                <a:schemeClr val="lt1"/>
              </a:solidFill>
            </a:endParaRPr>
          </a:p>
        </p:txBody>
      </p:sp>
      <p:sp>
        <p:nvSpPr>
          <p:cNvPr id="225" name="Google Shape;225;g3e30bbffafb_0_33"/>
          <p:cNvSpPr txBox="1"/>
          <p:nvPr>
            <p:ph idx="1" type="subTitle"/>
          </p:nvPr>
        </p:nvSpPr>
        <p:spPr>
          <a:xfrm>
            <a:off x="1524000" y="3602038"/>
            <a:ext cx="9144000" cy="16557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t/>
            </a:r>
            <a:endParaRPr>
              <a:solidFill>
                <a:schemeClr val="lt1"/>
              </a:solidFill>
            </a:endParaRPr>
          </a:p>
        </p:txBody>
      </p:sp>
      <p:pic>
        <p:nvPicPr>
          <p:cNvPr id="226" name="Google Shape;226;g3e30bbffafb_0_33"/>
          <p:cNvPicPr preferRelativeResize="0"/>
          <p:nvPr/>
        </p:nvPicPr>
        <p:blipFill>
          <a:blip r:embed="rId3">
            <a:alphaModFix/>
          </a:blip>
          <a:stretch>
            <a:fillRect/>
          </a:stretch>
        </p:blipFill>
        <p:spPr>
          <a:xfrm>
            <a:off x="4498100" y="4107775"/>
            <a:ext cx="3024150" cy="2268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2026-01-19T12:57:19Z</dcterms:created>
  <dc:creator>charlie Burrows</dc:creator>
</cp:coreProperties>
</file>