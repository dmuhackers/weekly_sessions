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IBM Plex Sans"/>
      <p:regular r:id="rId36"/>
      <p:bold r:id="rId37"/>
      <p:italic r:id="rId38"/>
      <p:boldItalic r:id="rId39"/>
    </p:embeddedFont>
    <p:embeddedFont>
      <p:font typeface="Alice"/>
      <p:regular r:id="rId40"/>
    </p:embeddedFont>
    <p:embeddedFont>
      <p:font typeface="Poppins SemiBold"/>
      <p:regular r:id="rId41"/>
      <p:bold r:id="rId42"/>
      <p:italic r:id="rId43"/>
      <p:boldItalic r:id="rId44"/>
    </p:embeddedFont>
    <p:embeddedFont>
      <p:font typeface="Cascadia Code"/>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9" roundtripDataSignature="AMtx7mgYXNcQn25kB7M7bcgu5+QyQCV5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lice-regular.fntdata"/><Relationship Id="rId42" Type="http://schemas.openxmlformats.org/officeDocument/2006/relationships/font" Target="fonts/PoppinsSemiBold-bold.fntdata"/><Relationship Id="rId41" Type="http://schemas.openxmlformats.org/officeDocument/2006/relationships/font" Target="fonts/PoppinsSemiBold-regular.fntdata"/><Relationship Id="rId44" Type="http://schemas.openxmlformats.org/officeDocument/2006/relationships/font" Target="fonts/PoppinsSemiBold-boldItalic.fntdata"/><Relationship Id="rId43" Type="http://schemas.openxmlformats.org/officeDocument/2006/relationships/font" Target="fonts/PoppinsSemiBold-italic.fntdata"/><Relationship Id="rId46" Type="http://schemas.openxmlformats.org/officeDocument/2006/relationships/font" Target="fonts/CascadiaCode-bold.fntdata"/><Relationship Id="rId45" Type="http://schemas.openxmlformats.org/officeDocument/2006/relationships/font" Target="fonts/CascadiaCod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CascadiaCode-boldItalic.fntdata"/><Relationship Id="rId47" Type="http://schemas.openxmlformats.org/officeDocument/2006/relationships/font" Target="fonts/CascadiaCode-italic.fntdata"/><Relationship Id="rId49"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IBMPlexSans-bold.fntdata"/><Relationship Id="rId36" Type="http://schemas.openxmlformats.org/officeDocument/2006/relationships/font" Target="fonts/IBMPlexSans-regular.fntdata"/><Relationship Id="rId39" Type="http://schemas.openxmlformats.org/officeDocument/2006/relationships/font" Target="fonts/IBMPlexSans-boldItalic.fntdata"/><Relationship Id="rId38" Type="http://schemas.openxmlformats.org/officeDocument/2006/relationships/font" Target="fonts/IBMPlexSans-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There are 4 key stages of the compilation pipeline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C is a mid-level language which needs a compiler to convert it into executable code so that the program can actually be run</a:t>
            </a:r>
            <a:endParaRPr/>
          </a:p>
        </p:txBody>
      </p:sp>
      <p:sp>
        <p:nvSpPr>
          <p:cNvPr id="213" name="Google Shape;213;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223" name="Google Shape;22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.s file in assembly level instructions</a:t>
            </a:r>
            <a:endParaRPr/>
          </a:p>
          <a:p>
            <a:pPr indent="0" lvl="0" marL="0" rtl="0" algn="l">
              <a:lnSpc>
                <a:spcPct val="100000"/>
              </a:lnSpc>
              <a:spcBef>
                <a:spcPts val="0"/>
              </a:spcBef>
              <a:spcAft>
                <a:spcPts val="0"/>
              </a:spcAft>
              <a:buSzPts val="1100"/>
              <a:buNone/>
            </a:pPr>
            <a:r>
              <a:t/>
            </a:r>
            <a:endParaRPr/>
          </a:p>
        </p:txBody>
      </p:sp>
      <p:sp>
        <p:nvSpPr>
          <p:cNvPr id="232" name="Google Shape;232;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241" name="Google Shape;241;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250" name="Google Shape;25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This is just an example of how to compile and link a simple C program to show the compilation process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-Wall just enables all the compiler’s warning messages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 </a:t>
            </a:r>
            <a:endParaRPr/>
          </a:p>
        </p:txBody>
      </p:sp>
      <p:sp>
        <p:nvSpPr>
          <p:cNvPr id="259" name="Google Shape;259;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As you can see it has created the intermediate files,</a:t>
            </a:r>
            <a:endParaRPr/>
          </a:p>
          <a:p>
            <a:pPr indent="0" lvl="0" marL="0" rtl="0" algn="l">
              <a:lnSpc>
                <a:spcPct val="100000"/>
              </a:lnSpc>
              <a:spcBef>
                <a:spcPts val="0"/>
              </a:spcBef>
              <a:spcAft>
                <a:spcPts val="0"/>
              </a:spcAft>
              <a:buSzPts val="1100"/>
              <a:buNone/>
            </a:pPr>
            <a:r>
              <a:rPr lang="en-GB"/>
              <a:t>Source file (.c)</a:t>
            </a:r>
            <a:endParaRPr/>
          </a:p>
          <a:p>
            <a:pPr indent="0" lvl="0" marL="0" rtl="0" algn="l">
              <a:lnSpc>
                <a:spcPct val="100000"/>
              </a:lnSpc>
              <a:spcBef>
                <a:spcPts val="0"/>
              </a:spcBef>
              <a:spcAft>
                <a:spcPts val="0"/>
              </a:spcAft>
              <a:buSzPts val="1100"/>
              <a:buNone/>
            </a:pPr>
            <a:r>
              <a:rPr lang="en-GB"/>
              <a:t>Preprocessed source (.i)</a:t>
            </a:r>
            <a:endParaRPr/>
          </a:p>
          <a:p>
            <a:pPr indent="0" lvl="0" marL="0" rtl="0" algn="l">
              <a:lnSpc>
                <a:spcPct val="100000"/>
              </a:lnSpc>
              <a:spcBef>
                <a:spcPts val="0"/>
              </a:spcBef>
              <a:spcAft>
                <a:spcPts val="0"/>
              </a:spcAft>
              <a:buSzPts val="1100"/>
              <a:buNone/>
            </a:pPr>
            <a:r>
              <a:rPr lang="en-GB"/>
              <a:t>Compiler generated disassembly (.s)</a:t>
            </a:r>
            <a:endParaRPr/>
          </a:p>
          <a:p>
            <a:pPr indent="0" lvl="0" marL="0" rtl="0" algn="l">
              <a:lnSpc>
                <a:spcPct val="100000"/>
              </a:lnSpc>
              <a:spcBef>
                <a:spcPts val="0"/>
              </a:spcBef>
              <a:spcAft>
                <a:spcPts val="0"/>
              </a:spcAft>
              <a:buSzPts val="1100"/>
              <a:buNone/>
            </a:pPr>
            <a:r>
              <a:rPr lang="en-GB"/>
              <a:t>Relocatable object file (.o)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268" name="Google Shape;268;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Quick triage tools: File, objdump, readelf, CFF Explorer</a:t>
            </a:r>
            <a:endParaRPr/>
          </a:p>
        </p:txBody>
      </p:sp>
      <p:sp>
        <p:nvSpPr>
          <p:cNvPr id="276" name="Google Shape;276;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Quick triage tools: File, objdump, readelf, CFF Explorer</a:t>
            </a:r>
            <a:endParaRPr/>
          </a:p>
          <a:p>
            <a:pPr indent="0" lvl="0" marL="0" rtl="0" algn="l">
              <a:lnSpc>
                <a:spcPct val="100000"/>
              </a:lnSpc>
              <a:spcBef>
                <a:spcPts val="0"/>
              </a:spcBef>
              <a:spcAft>
                <a:spcPts val="0"/>
              </a:spcAft>
              <a:buSzPts val="1100"/>
              <a:buNone/>
            </a:pPr>
            <a:r>
              <a:rPr lang="en-GB"/>
              <a:t>Document and iterate, the key is often trial and error</a:t>
            </a:r>
            <a:endParaRPr/>
          </a:p>
        </p:txBody>
      </p:sp>
      <p:sp>
        <p:nvSpPr>
          <p:cNvPr id="304" name="Google Shape;304;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5c4a5a289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g3d5c4a5a289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d5c4a5a289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g3d5c4a5a289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Example of looking at imports through IDA, which can be used to find information or indicators of compromise</a:t>
            </a:r>
            <a:endParaRPr/>
          </a:p>
        </p:txBody>
      </p:sp>
      <p:sp>
        <p:nvSpPr>
          <p:cNvPr id="352" name="Google Shape;352;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This is an example of the graph view using IDA (yes its on windows XP)</a:t>
            </a:r>
            <a:br>
              <a:rPr lang="en-GB"/>
            </a:br>
            <a:r>
              <a:rPr lang="en-GB"/>
              <a:t>It just makes the disassembly much easier to read, and shows the control flow process</a:t>
            </a:r>
            <a:endParaRPr/>
          </a:p>
          <a:p>
            <a:pPr indent="0" lvl="0" marL="0" rtl="0" algn="l">
              <a:lnSpc>
                <a:spcPct val="100000"/>
              </a:lnSpc>
              <a:spcBef>
                <a:spcPts val="0"/>
              </a:spcBef>
              <a:spcAft>
                <a:spcPts val="0"/>
              </a:spcAft>
              <a:buSzPts val="1100"/>
              <a:buNone/>
            </a:pPr>
            <a:r>
              <a:rPr lang="en-GB"/>
              <a:t>Towards the bottom of the graph you can see the function looping and the registers getting XOR’d withc what seems to be a key of 0FFh (255 decimal), in this example this key is one of the simplest and predicable XOR operations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As 0xFF flips each bit (0 becomes 1, 1 becomes 0)</a:t>
            </a:r>
            <a:endParaRPr/>
          </a:p>
          <a:p>
            <a:pPr indent="0" lvl="0" marL="0" rtl="0" algn="l">
              <a:lnSpc>
                <a:spcPct val="100000"/>
              </a:lnSpc>
              <a:spcBef>
                <a:spcPts val="0"/>
              </a:spcBef>
              <a:spcAft>
                <a:spcPts val="0"/>
              </a:spcAft>
              <a:buSzPts val="1100"/>
              <a:buNone/>
            </a:pPr>
            <a:r>
              <a:rPr lang="en-GB"/>
              <a:t> h just mean hexadecimal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solidFill>
                  <a:schemeClr val="dk1"/>
                </a:solidFill>
              </a:rPr>
              <a:t>It is the same as a NOT instruction</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GB">
                <a:solidFill>
                  <a:schemeClr val="dk1"/>
                </a:solidFill>
              </a:rPr>
              <a:t>Patching binaries can be very useful as it gives you direct control over how a compiled program behaves. It is particularly useful when you do not have access to the source code, allowing you to skip checks, break constants and bypass restrictions.</a:t>
            </a:r>
            <a:endParaRPr>
              <a:solidFill>
                <a:schemeClr val="dk1"/>
              </a:solidFill>
            </a:endParaRPr>
          </a:p>
          <a:p>
            <a:pPr indent="0" lvl="0" marL="158750" rtl="0" algn="l">
              <a:lnSpc>
                <a:spcPct val="100000"/>
              </a:lnSpc>
              <a:spcBef>
                <a:spcPts val="0"/>
              </a:spcBef>
              <a:spcAft>
                <a:spcPts val="0"/>
              </a:spcAft>
              <a:buSzPts val="1100"/>
              <a:buNone/>
            </a:pPr>
            <a:r>
              <a:t/>
            </a:r>
            <a:endParaRPr>
              <a:solidFill>
                <a:schemeClr val="lt1"/>
              </a:solidFill>
            </a:endParaRPr>
          </a:p>
          <a:p>
            <a:pPr indent="0" lvl="0" marL="0" rtl="0" algn="l">
              <a:lnSpc>
                <a:spcPct val="100000"/>
              </a:lnSpc>
              <a:spcBef>
                <a:spcPts val="0"/>
              </a:spcBef>
              <a:spcAft>
                <a:spcPts val="0"/>
              </a:spcAft>
              <a:buSzPts val="1100"/>
              <a:buNone/>
            </a:pPr>
            <a:r>
              <a:t/>
            </a:r>
            <a:endParaRPr/>
          </a:p>
        </p:txBody>
      </p:sp>
      <p:sp>
        <p:nvSpPr>
          <p:cNvPr id="360" name="Google Shape;360;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d5c4a5a289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g3d5c4a5a289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d5c4a5a289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/NFU</a:t>
            </a:r>
            <a:endParaRPr/>
          </a:p>
          <a:p>
            <a:pPr indent="0" lvl="0" marL="0" rtl="0" algn="l">
              <a:lnSpc>
                <a:spcPct val="100000"/>
              </a:lnSpc>
              <a:spcBef>
                <a:spcPts val="0"/>
              </a:spcBef>
              <a:spcAft>
                <a:spcPts val="0"/>
              </a:spcAft>
              <a:buSzPts val="1100"/>
              <a:buNone/>
            </a:pPr>
            <a:r>
              <a:rPr lang="en-GB"/>
              <a:t>X=HEX</a:t>
            </a:r>
            <a:endParaRPr/>
          </a:p>
          <a:p>
            <a:pPr indent="0" lvl="0" marL="0" rtl="0" algn="l">
              <a:lnSpc>
                <a:spcPct val="100000"/>
              </a:lnSpc>
              <a:spcBef>
                <a:spcPts val="0"/>
              </a:spcBef>
              <a:spcAft>
                <a:spcPts val="0"/>
              </a:spcAft>
              <a:buSzPts val="1100"/>
              <a:buNone/>
            </a:pPr>
            <a:r>
              <a:rPr lang="en-GB"/>
              <a:t>D=DECIMAL</a:t>
            </a:r>
            <a:endParaRPr/>
          </a:p>
          <a:p>
            <a:pPr indent="0" lvl="0" marL="0" rtl="0" algn="l">
              <a:lnSpc>
                <a:spcPct val="100000"/>
              </a:lnSpc>
              <a:spcBef>
                <a:spcPts val="0"/>
              </a:spcBef>
              <a:spcAft>
                <a:spcPts val="0"/>
              </a:spcAft>
              <a:buSzPts val="1100"/>
              <a:buNone/>
            </a:pPr>
            <a:r>
              <a:rPr lang="en-GB"/>
              <a:t>U=UNIT SIZE (B=BYTE,W=WORD)</a:t>
            </a:r>
            <a:endParaRPr/>
          </a:p>
        </p:txBody>
      </p:sp>
      <p:sp>
        <p:nvSpPr>
          <p:cNvPr id="378" name="Google Shape;378;g3d5c4a5a289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e1d0619a2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/NFU</a:t>
            </a:r>
            <a:endParaRPr/>
          </a:p>
          <a:p>
            <a:pPr indent="0" lvl="0" marL="0" rtl="0" algn="l">
              <a:lnSpc>
                <a:spcPct val="100000"/>
              </a:lnSpc>
              <a:spcBef>
                <a:spcPts val="0"/>
              </a:spcBef>
              <a:spcAft>
                <a:spcPts val="0"/>
              </a:spcAft>
              <a:buSzPts val="1100"/>
              <a:buNone/>
            </a:pPr>
            <a:r>
              <a:rPr lang="en-GB"/>
              <a:t>X=HEX</a:t>
            </a:r>
            <a:endParaRPr/>
          </a:p>
          <a:p>
            <a:pPr indent="0" lvl="0" marL="0" rtl="0" algn="l">
              <a:lnSpc>
                <a:spcPct val="100000"/>
              </a:lnSpc>
              <a:spcBef>
                <a:spcPts val="0"/>
              </a:spcBef>
              <a:spcAft>
                <a:spcPts val="0"/>
              </a:spcAft>
              <a:buSzPts val="1100"/>
              <a:buNone/>
            </a:pPr>
            <a:r>
              <a:rPr lang="en-GB"/>
              <a:t>D=DECIMAL</a:t>
            </a:r>
            <a:endParaRPr/>
          </a:p>
          <a:p>
            <a:pPr indent="0" lvl="0" marL="0" rtl="0" algn="l">
              <a:lnSpc>
                <a:spcPct val="100000"/>
              </a:lnSpc>
              <a:spcBef>
                <a:spcPts val="0"/>
              </a:spcBef>
              <a:spcAft>
                <a:spcPts val="0"/>
              </a:spcAft>
              <a:buSzPts val="1100"/>
              <a:buNone/>
            </a:pPr>
            <a:r>
              <a:rPr lang="en-GB"/>
              <a:t>U=UNIT SIZE (B=BYTE,W=WORD)</a:t>
            </a:r>
            <a:endParaRPr/>
          </a:p>
        </p:txBody>
      </p:sp>
      <p:sp>
        <p:nvSpPr>
          <p:cNvPr id="388" name="Google Shape;388;g3e1d0619a2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e1d0619a2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e1d0619a2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You can see the embedded file using pdfid.py  </a:t>
            </a:r>
            <a:endParaRPr/>
          </a:p>
          <a:p>
            <a:pPr indent="0" lvl="0" marL="0" rtl="0" algn="l">
              <a:spcBef>
                <a:spcPts val="0"/>
              </a:spcBef>
              <a:spcAft>
                <a:spcPts val="0"/>
              </a:spcAft>
              <a:buNone/>
            </a:pPr>
            <a:r>
              <a:rPr lang="en-GB"/>
              <a:t>There are in this scenario 2 JS </a:t>
            </a:r>
            <a:r>
              <a:rPr lang="en-GB"/>
              <a:t>hidden</a:t>
            </a:r>
            <a:r>
              <a:rPr lang="en-GB"/>
              <a:t> within what seems to be a harmless pdf file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ScyllaHide-anti debugging plugin</a:t>
            </a:r>
            <a:endParaRPr/>
          </a:p>
          <a:p>
            <a:pPr indent="0" lvl="0" marL="0" rtl="0" algn="l">
              <a:lnSpc>
                <a:spcPct val="100000"/>
              </a:lnSpc>
              <a:spcBef>
                <a:spcPts val="0"/>
              </a:spcBef>
              <a:spcAft>
                <a:spcPts val="0"/>
              </a:spcAft>
              <a:buSzPts val="1100"/>
              <a:buNone/>
            </a:pPr>
            <a:r>
              <a:rPr lang="en-GB"/>
              <a:t>TitanHide- kernal mode anti debug plugin</a:t>
            </a:r>
            <a:endParaRPr/>
          </a:p>
          <a:p>
            <a:pPr indent="0" lvl="0" marL="0" rtl="0" algn="l">
              <a:lnSpc>
                <a:spcPct val="100000"/>
              </a:lnSpc>
              <a:spcBef>
                <a:spcPts val="0"/>
              </a:spcBef>
              <a:spcAft>
                <a:spcPts val="0"/>
              </a:spcAft>
              <a:buSzPts val="1100"/>
              <a:buNone/>
            </a:pPr>
            <a:r>
              <a:rPr lang="en-GB"/>
              <a:t>X64dbgida- synchronises x64dbg with IDA Pro</a:t>
            </a:r>
            <a:endParaRPr/>
          </a:p>
        </p:txBody>
      </p:sp>
      <p:sp>
        <p:nvSpPr>
          <p:cNvPr id="404" name="Google Shape;404;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4" name="Google Shape;414;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3" name="Google Shape;42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8"/>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 name="Google Shape;14;p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 name="Google Shape;16;p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23"/>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Google Shape;20;p23"/>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 name="Google Shape;21;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 name="Google Shape;22;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sp>
        <p:nvSpPr>
          <p:cNvPr id="25" name="Google Shape;25;p2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2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7" name="Google Shape;27;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22"/>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 name="Google Shape;32;p22"/>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3" name="Google Shape;33;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 name="Google Shape;34;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4"/>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24"/>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Google Shape;39;p24"/>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Google Shape;40;p24"/>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Google Shape;41;p24"/>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Google Shape;4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3" name="Google Shape;4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2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2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9" name="Google Shape;49;p2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2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2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27"/>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Google Shape;57;p27"/>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Google Shape;58;p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2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2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28"/>
          <p:cNvSpPr/>
          <p:nvPr>
            <p:ph idx="2" type="pic"/>
          </p:nvPr>
        </p:nvSpPr>
        <p:spPr>
          <a:xfrm>
            <a:off x="3887391" y="740569"/>
            <a:ext cx="4629150" cy="3655219"/>
          </a:xfrm>
          <a:prstGeom prst="rect">
            <a:avLst/>
          </a:prstGeom>
          <a:noFill/>
          <a:ln>
            <a:noFill/>
          </a:ln>
        </p:spPr>
      </p:sp>
      <p:sp>
        <p:nvSpPr>
          <p:cNvPr id="64" name="Google Shape;64;p28"/>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Google Shape;65;p2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2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29"/>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Google Shape;71;p2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2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30"/>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3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3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3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8" name="Google Shape;88;p1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9" name="Google Shape;89;p1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11"/>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2" name="Google Shape;92;p11"/>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Clr>
                <a:srgbClr val="888888"/>
              </a:buClr>
              <a:buSzPts val="1600"/>
              <a:buNone/>
              <a:defRPr>
                <a:solidFill>
                  <a:srgbClr val="888888"/>
                </a:solidFill>
              </a:defRPr>
            </a:lvl1pPr>
            <a:lvl2pPr lvl="1" algn="ctr">
              <a:lnSpc>
                <a:spcPct val="100000"/>
              </a:lnSpc>
              <a:spcBef>
                <a:spcPts val="300"/>
              </a:spcBef>
              <a:spcAft>
                <a:spcPts val="0"/>
              </a:spcAft>
              <a:buClr>
                <a:srgbClr val="888888"/>
              </a:buClr>
              <a:buSzPts val="1400"/>
              <a:buNone/>
              <a:defRPr>
                <a:solidFill>
                  <a:srgbClr val="888888"/>
                </a:solidFill>
              </a:defRPr>
            </a:lvl2pPr>
            <a:lvl3pPr lvl="2" algn="ctr">
              <a:lnSpc>
                <a:spcPct val="100000"/>
              </a:lnSpc>
              <a:spcBef>
                <a:spcPts val="200"/>
              </a:spcBef>
              <a:spcAft>
                <a:spcPts val="0"/>
              </a:spcAft>
              <a:buClr>
                <a:srgbClr val="888888"/>
              </a:buClr>
              <a:buSzPts val="1200"/>
              <a:buNone/>
              <a:defRPr>
                <a:solidFill>
                  <a:srgbClr val="888888"/>
                </a:solidFill>
              </a:defRPr>
            </a:lvl3pPr>
            <a:lvl4pPr lvl="3" algn="ctr">
              <a:lnSpc>
                <a:spcPct val="100000"/>
              </a:lnSpc>
              <a:spcBef>
                <a:spcPts val="200"/>
              </a:spcBef>
              <a:spcAft>
                <a:spcPts val="0"/>
              </a:spcAft>
              <a:buClr>
                <a:srgbClr val="888888"/>
              </a:buClr>
              <a:buSzPts val="10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200"/>
              </a:spcBef>
              <a:spcAft>
                <a:spcPts val="0"/>
              </a:spcAft>
              <a:buClr>
                <a:srgbClr val="888888"/>
              </a:buClr>
              <a:buSzPts val="1000"/>
              <a:buNone/>
              <a:defRPr>
                <a:solidFill>
                  <a:srgbClr val="888888"/>
                </a:solidFill>
              </a:defRPr>
            </a:lvl6pPr>
            <a:lvl7pPr lvl="6" algn="ctr">
              <a:lnSpc>
                <a:spcPct val="100000"/>
              </a:lnSpc>
              <a:spcBef>
                <a:spcPts val="200"/>
              </a:spcBef>
              <a:spcAft>
                <a:spcPts val="0"/>
              </a:spcAft>
              <a:buClr>
                <a:srgbClr val="888888"/>
              </a:buClr>
              <a:buSzPts val="1000"/>
              <a:buNone/>
              <a:defRPr>
                <a:solidFill>
                  <a:srgbClr val="888888"/>
                </a:solidFill>
              </a:defRPr>
            </a:lvl7pPr>
            <a:lvl8pPr lvl="7" algn="ctr">
              <a:lnSpc>
                <a:spcPct val="100000"/>
              </a:lnSpc>
              <a:spcBef>
                <a:spcPts val="200"/>
              </a:spcBef>
              <a:spcAft>
                <a:spcPts val="0"/>
              </a:spcAft>
              <a:buClr>
                <a:srgbClr val="888888"/>
              </a:buClr>
              <a:buSzPts val="1000"/>
              <a:buNone/>
              <a:defRPr>
                <a:solidFill>
                  <a:srgbClr val="888888"/>
                </a:solidFill>
              </a:defRPr>
            </a:lvl8pPr>
            <a:lvl9pPr lvl="8" algn="ctr">
              <a:lnSpc>
                <a:spcPct val="100000"/>
              </a:lnSpc>
              <a:spcBef>
                <a:spcPts val="200"/>
              </a:spcBef>
              <a:spcAft>
                <a:spcPts val="0"/>
              </a:spcAft>
              <a:buClr>
                <a:srgbClr val="888888"/>
              </a:buClr>
              <a:buSzPts val="1000"/>
              <a:buNone/>
              <a:defRPr>
                <a:solidFill>
                  <a:srgbClr val="888888"/>
                </a:solidFill>
              </a:defRPr>
            </a:lvl9pPr>
          </a:lstStyle>
          <a:p/>
        </p:txBody>
      </p:sp>
      <p:sp>
        <p:nvSpPr>
          <p:cNvPr id="93" name="Google Shape;93;p1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4" name="Google Shape;94;p1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5" name="Google Shape;95;p1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2"/>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8" name="Google Shape;98;p12"/>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99" name="Google Shape;99;p1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0" name="Google Shape;100;p1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1" name="Google Shape;101;p1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3"/>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4" name="Google Shape;104;p13"/>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rgbClr val="888888"/>
              </a:buClr>
              <a:buSzPts val="1000"/>
              <a:buNone/>
              <a:defRPr sz="1000">
                <a:solidFill>
                  <a:srgbClr val="888888"/>
                </a:solidFill>
              </a:defRPr>
            </a:lvl1pPr>
            <a:lvl2pPr indent="-228600" lvl="1" marL="914400" algn="l">
              <a:lnSpc>
                <a:spcPct val="100000"/>
              </a:lnSpc>
              <a:spcBef>
                <a:spcPts val="200"/>
              </a:spcBef>
              <a:spcAft>
                <a:spcPts val="0"/>
              </a:spcAft>
              <a:buClr>
                <a:srgbClr val="888888"/>
              </a:buClr>
              <a:buSzPts val="900"/>
              <a:buNone/>
              <a:defRPr sz="900">
                <a:solidFill>
                  <a:srgbClr val="888888"/>
                </a:solidFill>
              </a:defRPr>
            </a:lvl2pPr>
            <a:lvl3pPr indent="-228600" lvl="2" marL="1371600" algn="l">
              <a:lnSpc>
                <a:spcPct val="100000"/>
              </a:lnSpc>
              <a:spcBef>
                <a:spcPts val="200"/>
              </a:spcBef>
              <a:spcAft>
                <a:spcPts val="0"/>
              </a:spcAft>
              <a:buClr>
                <a:srgbClr val="888888"/>
              </a:buClr>
              <a:buSzPts val="800"/>
              <a:buNone/>
              <a:defRPr sz="800">
                <a:solidFill>
                  <a:srgbClr val="888888"/>
                </a:solidFill>
              </a:defRPr>
            </a:lvl3pPr>
            <a:lvl4pPr indent="-228600" lvl="3" marL="1828800" algn="l">
              <a:lnSpc>
                <a:spcPct val="100000"/>
              </a:lnSpc>
              <a:spcBef>
                <a:spcPts val="100"/>
              </a:spcBef>
              <a:spcAft>
                <a:spcPts val="0"/>
              </a:spcAft>
              <a:buClr>
                <a:srgbClr val="888888"/>
              </a:buClr>
              <a:buSzPts val="700"/>
              <a:buNone/>
              <a:defRPr sz="700">
                <a:solidFill>
                  <a:srgbClr val="888888"/>
                </a:solidFill>
              </a:defRPr>
            </a:lvl4pPr>
            <a:lvl5pPr indent="-228600" lvl="4" marL="2286000" algn="l">
              <a:lnSpc>
                <a:spcPct val="100000"/>
              </a:lnSpc>
              <a:spcBef>
                <a:spcPts val="100"/>
              </a:spcBef>
              <a:spcAft>
                <a:spcPts val="0"/>
              </a:spcAft>
              <a:buClr>
                <a:srgbClr val="888888"/>
              </a:buClr>
              <a:buSzPts val="700"/>
              <a:buNone/>
              <a:defRPr sz="700">
                <a:solidFill>
                  <a:srgbClr val="888888"/>
                </a:solidFill>
              </a:defRPr>
            </a:lvl5pPr>
            <a:lvl6pPr indent="-228600" lvl="5" marL="2743200" algn="l">
              <a:lnSpc>
                <a:spcPct val="100000"/>
              </a:lnSpc>
              <a:spcBef>
                <a:spcPts val="100"/>
              </a:spcBef>
              <a:spcAft>
                <a:spcPts val="0"/>
              </a:spcAft>
              <a:buClr>
                <a:srgbClr val="888888"/>
              </a:buClr>
              <a:buSzPts val="700"/>
              <a:buNone/>
              <a:defRPr sz="700">
                <a:solidFill>
                  <a:srgbClr val="888888"/>
                </a:solidFill>
              </a:defRPr>
            </a:lvl6pPr>
            <a:lvl7pPr indent="-228600" lvl="6" marL="3200400" algn="l">
              <a:lnSpc>
                <a:spcPct val="100000"/>
              </a:lnSpc>
              <a:spcBef>
                <a:spcPts val="100"/>
              </a:spcBef>
              <a:spcAft>
                <a:spcPts val="0"/>
              </a:spcAft>
              <a:buClr>
                <a:srgbClr val="888888"/>
              </a:buClr>
              <a:buSzPts val="700"/>
              <a:buNone/>
              <a:defRPr sz="700">
                <a:solidFill>
                  <a:srgbClr val="888888"/>
                </a:solidFill>
              </a:defRPr>
            </a:lvl7pPr>
            <a:lvl8pPr indent="-228600" lvl="7" marL="3657600" algn="l">
              <a:lnSpc>
                <a:spcPct val="100000"/>
              </a:lnSpc>
              <a:spcBef>
                <a:spcPts val="100"/>
              </a:spcBef>
              <a:spcAft>
                <a:spcPts val="0"/>
              </a:spcAft>
              <a:buClr>
                <a:srgbClr val="888888"/>
              </a:buClr>
              <a:buSzPts val="700"/>
              <a:buNone/>
              <a:defRPr sz="700">
                <a:solidFill>
                  <a:srgbClr val="888888"/>
                </a:solidFill>
              </a:defRPr>
            </a:lvl8pPr>
            <a:lvl9pPr indent="-228600" lvl="8" marL="4114800" algn="l">
              <a:lnSpc>
                <a:spcPct val="100000"/>
              </a:lnSpc>
              <a:spcBef>
                <a:spcPts val="100"/>
              </a:spcBef>
              <a:spcAft>
                <a:spcPts val="0"/>
              </a:spcAft>
              <a:buClr>
                <a:srgbClr val="888888"/>
              </a:buClr>
              <a:buSzPts val="700"/>
              <a:buNone/>
              <a:defRPr sz="700">
                <a:solidFill>
                  <a:srgbClr val="888888"/>
                </a:solidFill>
              </a:defRPr>
            </a:lvl9pPr>
          </a:lstStyle>
          <a:p/>
        </p:txBody>
      </p:sp>
      <p:sp>
        <p:nvSpPr>
          <p:cNvPr id="105" name="Google Shape;105;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6" name="Google Shape;106;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7" name="Google Shape;107;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14"/>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0" name="Google Shape;110;p14"/>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111" name="Google Shape;111;p14"/>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112" name="Google Shape;112;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3" name="Google Shape;113;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4" name="Google Shape;114;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1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7" name="Google Shape;117;p15"/>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118" name="Google Shape;118;p15"/>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119" name="Google Shape;119;p15"/>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120" name="Google Shape;120;p15"/>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121" name="Google Shape;121;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2" name="Google Shape;122;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3" name="Google Shape;123;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6" name="Google Shape;126;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7" name="Google Shape;127;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8" name="Google Shape;128;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p17"/>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31" name="Google Shape;131;p17"/>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lnSpc>
                <a:spcPct val="100000"/>
              </a:lnSpc>
              <a:spcBef>
                <a:spcPts val="300"/>
              </a:spcBef>
              <a:spcAft>
                <a:spcPts val="0"/>
              </a:spcAft>
              <a:buClr>
                <a:schemeClr val="dk1"/>
              </a:buClr>
              <a:buSzPts val="1600"/>
              <a:buChar char="•"/>
              <a:defRPr sz="1600"/>
            </a:lvl1pPr>
            <a:lvl2pPr indent="-317500" lvl="1" marL="914400" algn="l">
              <a:lnSpc>
                <a:spcPct val="100000"/>
              </a:lnSpc>
              <a:spcBef>
                <a:spcPts val="300"/>
              </a:spcBef>
              <a:spcAft>
                <a:spcPts val="0"/>
              </a:spcAft>
              <a:buClr>
                <a:schemeClr val="dk1"/>
              </a:buClr>
              <a:buSzPts val="1400"/>
              <a:buChar char="–"/>
              <a:defRPr sz="1400"/>
            </a:lvl2pPr>
            <a:lvl3pPr indent="-304800" lvl="2" marL="1371600" algn="l">
              <a:lnSpc>
                <a:spcPct val="100000"/>
              </a:lnSpc>
              <a:spcBef>
                <a:spcPts val="200"/>
              </a:spcBef>
              <a:spcAft>
                <a:spcPts val="0"/>
              </a:spcAft>
              <a:buClr>
                <a:schemeClr val="dk1"/>
              </a:buClr>
              <a:buSzPts val="1200"/>
              <a:buChar char="•"/>
              <a:defRPr sz="1200"/>
            </a:lvl3pPr>
            <a:lvl4pPr indent="-292100" lvl="3" marL="1828800" algn="l">
              <a:lnSpc>
                <a:spcPct val="100000"/>
              </a:lnSpc>
              <a:spcBef>
                <a:spcPts val="200"/>
              </a:spcBef>
              <a:spcAft>
                <a:spcPts val="0"/>
              </a:spcAft>
              <a:buClr>
                <a:schemeClr val="dk1"/>
              </a:buClr>
              <a:buSzPts val="1000"/>
              <a:buChar char="–"/>
              <a:defRPr sz="1000"/>
            </a:lvl4pPr>
            <a:lvl5pPr indent="-292100" lvl="4" marL="2286000" algn="l">
              <a:lnSpc>
                <a:spcPct val="100000"/>
              </a:lnSpc>
              <a:spcBef>
                <a:spcPts val="200"/>
              </a:spcBef>
              <a:spcAft>
                <a:spcPts val="0"/>
              </a:spcAft>
              <a:buClr>
                <a:schemeClr val="dk1"/>
              </a:buClr>
              <a:buSzPts val="1000"/>
              <a:buChar char="»"/>
              <a:defRPr sz="1000"/>
            </a:lvl5pPr>
            <a:lvl6pPr indent="-292100" lvl="5" marL="2743200" algn="l">
              <a:lnSpc>
                <a:spcPct val="100000"/>
              </a:lnSpc>
              <a:spcBef>
                <a:spcPts val="200"/>
              </a:spcBef>
              <a:spcAft>
                <a:spcPts val="0"/>
              </a:spcAft>
              <a:buClr>
                <a:schemeClr val="dk1"/>
              </a:buClr>
              <a:buSzPts val="1000"/>
              <a:buChar char="•"/>
              <a:defRPr sz="1000"/>
            </a:lvl6pPr>
            <a:lvl7pPr indent="-292100" lvl="6" marL="3200400" algn="l">
              <a:lnSpc>
                <a:spcPct val="100000"/>
              </a:lnSpc>
              <a:spcBef>
                <a:spcPts val="200"/>
              </a:spcBef>
              <a:spcAft>
                <a:spcPts val="0"/>
              </a:spcAft>
              <a:buClr>
                <a:schemeClr val="dk1"/>
              </a:buClr>
              <a:buSzPts val="1000"/>
              <a:buChar char="•"/>
              <a:defRPr sz="1000"/>
            </a:lvl7pPr>
            <a:lvl8pPr indent="-292100" lvl="7" marL="3657600" algn="l">
              <a:lnSpc>
                <a:spcPct val="100000"/>
              </a:lnSpc>
              <a:spcBef>
                <a:spcPts val="200"/>
              </a:spcBef>
              <a:spcAft>
                <a:spcPts val="0"/>
              </a:spcAft>
              <a:buClr>
                <a:schemeClr val="dk1"/>
              </a:buClr>
              <a:buSzPts val="1000"/>
              <a:buChar char="•"/>
              <a:defRPr sz="1000"/>
            </a:lvl8pPr>
            <a:lvl9pPr indent="-292100" lvl="8" marL="4114800" algn="l">
              <a:lnSpc>
                <a:spcPct val="100000"/>
              </a:lnSpc>
              <a:spcBef>
                <a:spcPts val="200"/>
              </a:spcBef>
              <a:spcAft>
                <a:spcPts val="0"/>
              </a:spcAft>
              <a:buClr>
                <a:schemeClr val="dk1"/>
              </a:buClr>
              <a:buSzPts val="1000"/>
              <a:buChar char="•"/>
              <a:defRPr sz="1000"/>
            </a:lvl9pPr>
          </a:lstStyle>
          <a:p/>
        </p:txBody>
      </p:sp>
      <p:sp>
        <p:nvSpPr>
          <p:cNvPr id="132" name="Google Shape;132;p17"/>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33" name="Google Shape;133;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34" name="Google Shape;134;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35" name="Google Shape;135;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18"/>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38" name="Google Shape;138;p18"/>
          <p:cNvSpPr/>
          <p:nvPr>
            <p:ph idx="2" type="pic"/>
          </p:nvPr>
        </p:nvSpPr>
        <p:spPr>
          <a:xfrm>
            <a:off x="896144" y="306388"/>
            <a:ext cx="2743200" cy="2057400"/>
          </a:xfrm>
          <a:prstGeom prst="rect">
            <a:avLst/>
          </a:prstGeom>
          <a:noFill/>
          <a:ln>
            <a:noFill/>
          </a:ln>
        </p:spPr>
      </p:sp>
      <p:sp>
        <p:nvSpPr>
          <p:cNvPr id="139" name="Google Shape;139;p18"/>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40" name="Google Shape;140;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41" name="Google Shape;141;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42" name="Google Shape;142;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45" name="Google Shape;145;p19"/>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46" name="Google Shape;146;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47" name="Google Shape;147;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48" name="Google Shape;148;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p20"/>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51" name="Google Shape;151;p20"/>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52" name="Google Shape;152;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53" name="Google Shape;153;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54" name="Google Shape;154;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7"/>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lnSpc>
                <a:spcPct val="100000"/>
              </a:lnSpc>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82" name="Google Shape;82;p9"/>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lnSpc>
                <a:spcPct val="100000"/>
              </a:lnSpc>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83" name="Google Shape;83;p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84" name="Google Shape;84;p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85" name="Google Shape;85;p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hyperlink" Target="https://dmuhackers.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4.jp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jp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9.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4.jpg"/><Relationship Id="rId4" Type="http://schemas.openxmlformats.org/officeDocument/2006/relationships/image" Target="../media/image18.png"/><Relationship Id="rId5"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4.jp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hyperlink" Target="https://github.com/DMUHacker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2" name="Shape 162"/>
        <p:cNvGrpSpPr/>
        <p:nvPr/>
      </p:nvGrpSpPr>
      <p:grpSpPr>
        <a:xfrm>
          <a:off x="0" y="0"/>
          <a:ext cx="0" cy="0"/>
          <a:chOff x="0" y="0"/>
          <a:chExt cx="0" cy="0"/>
        </a:xfrm>
      </p:grpSpPr>
      <p:sp>
        <p:nvSpPr>
          <p:cNvPr id="163" name="Google Shape;163;p2"/>
          <p:cNvSpPr/>
          <p:nvPr/>
        </p:nvSpPr>
        <p:spPr>
          <a:xfrm>
            <a:off x="0" y="0"/>
            <a:ext cx="9144000" cy="6096000"/>
          </a:xfrm>
          <a:custGeom>
            <a:rect b="b" l="l" r="r" t="t"/>
            <a:pathLst>
              <a:path extrusionOk="0" h="12192000" w="18288000">
                <a:moveTo>
                  <a:pt x="0" y="0"/>
                </a:moveTo>
                <a:lnTo>
                  <a:pt x="18288000" y="0"/>
                </a:lnTo>
                <a:lnTo>
                  <a:pt x="18288000" y="12192000"/>
                </a:lnTo>
                <a:lnTo>
                  <a:pt x="0" y="12192000"/>
                </a:lnTo>
                <a:lnTo>
                  <a:pt x="0" y="0"/>
                </a:lnTo>
                <a:close/>
              </a:path>
            </a:pathLst>
          </a:custGeom>
          <a:blipFill rotWithShape="1">
            <a:blip r:embed="rId3">
              <a:alphaModFix amt="42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64" name="Google Shape;164;p2"/>
          <p:cNvGrpSpPr/>
          <p:nvPr/>
        </p:nvGrpSpPr>
        <p:grpSpPr>
          <a:xfrm>
            <a:off x="-220774" y="1887607"/>
            <a:ext cx="9585548" cy="3255895"/>
            <a:chOff x="0" y="-38100"/>
            <a:chExt cx="5049177" cy="1715039"/>
          </a:xfrm>
        </p:grpSpPr>
        <p:sp>
          <p:nvSpPr>
            <p:cNvPr id="165" name="Google Shape;165;p2"/>
            <p:cNvSpPr/>
            <p:nvPr/>
          </p:nvSpPr>
          <p:spPr>
            <a:xfrm>
              <a:off x="0" y="0"/>
              <a:ext cx="5049177" cy="1676939"/>
            </a:xfrm>
            <a:custGeom>
              <a:rect b="b" l="l" r="r" t="t"/>
              <a:pathLst>
                <a:path extrusionOk="0" h="1676939" w="5049177">
                  <a:moveTo>
                    <a:pt x="0" y="0"/>
                  </a:moveTo>
                  <a:lnTo>
                    <a:pt x="5049177" y="0"/>
                  </a:lnTo>
                  <a:lnTo>
                    <a:pt x="5049177" y="1676939"/>
                  </a:lnTo>
                  <a:lnTo>
                    <a:pt x="0" y="1676939"/>
                  </a:lnTo>
                  <a:close/>
                </a:path>
              </a:pathLst>
            </a:custGeom>
            <a:gradFill>
              <a:gsLst>
                <a:gs pos="0">
                  <a:srgbClr val="000000">
                    <a:alpha val="0"/>
                  </a:srgbClr>
                </a:gs>
                <a:gs pos="100000">
                  <a:srgbClr val="000000"/>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2"/>
            <p:cNvSpPr txBox="1"/>
            <p:nvPr/>
          </p:nvSpPr>
          <p:spPr>
            <a:xfrm>
              <a:off x="0" y="-38100"/>
              <a:ext cx="5049177" cy="1715038"/>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67" name="Google Shape;167;p2"/>
          <p:cNvGrpSpPr/>
          <p:nvPr/>
        </p:nvGrpSpPr>
        <p:grpSpPr>
          <a:xfrm>
            <a:off x="508472" y="2965908"/>
            <a:ext cx="8115300" cy="1701570"/>
            <a:chOff x="0" y="-38100"/>
            <a:chExt cx="4274726" cy="896301"/>
          </a:xfrm>
        </p:grpSpPr>
        <p:sp>
          <p:nvSpPr>
            <p:cNvPr id="168" name="Google Shape;168;p2"/>
            <p:cNvSpPr/>
            <p:nvPr/>
          </p:nvSpPr>
          <p:spPr>
            <a:xfrm>
              <a:off x="0" y="0"/>
              <a:ext cx="4274726" cy="858201"/>
            </a:xfrm>
            <a:custGeom>
              <a:rect b="b" l="l" r="r" t="t"/>
              <a:pathLst>
                <a:path extrusionOk="0" h="858201" w="4274726">
                  <a:moveTo>
                    <a:pt x="28620" y="0"/>
                  </a:moveTo>
                  <a:lnTo>
                    <a:pt x="4246106" y="0"/>
                  </a:lnTo>
                  <a:cubicBezTo>
                    <a:pt x="4261912" y="0"/>
                    <a:pt x="4274726" y="12813"/>
                    <a:pt x="4274726" y="28620"/>
                  </a:cubicBezTo>
                  <a:lnTo>
                    <a:pt x="4274726" y="829581"/>
                  </a:lnTo>
                  <a:cubicBezTo>
                    <a:pt x="4274726" y="845387"/>
                    <a:pt x="4261912" y="858201"/>
                    <a:pt x="4246106" y="858201"/>
                  </a:cubicBezTo>
                  <a:lnTo>
                    <a:pt x="28620" y="858201"/>
                  </a:lnTo>
                  <a:cubicBezTo>
                    <a:pt x="12813" y="858201"/>
                    <a:pt x="0" y="845387"/>
                    <a:pt x="0" y="829581"/>
                  </a:cubicBezTo>
                  <a:lnTo>
                    <a:pt x="0" y="28620"/>
                  </a:lnTo>
                  <a:cubicBezTo>
                    <a:pt x="0" y="12813"/>
                    <a:pt x="12813" y="0"/>
                    <a:pt x="28620" y="0"/>
                  </a:cubicBezTo>
                  <a:close/>
                </a:path>
              </a:pathLst>
            </a:custGeom>
            <a:solidFill>
              <a:srgbClr val="000000">
                <a:alpha val="0"/>
              </a:srgbClr>
            </a:solidFill>
            <a:ln cap="rnd" cmpd="sng" w="38100">
              <a:solidFill>
                <a:srgbClr val="FFFFFF">
                  <a:alpha val="60000"/>
                </a:srgbClr>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
            <p:cNvSpPr txBox="1"/>
            <p:nvPr/>
          </p:nvSpPr>
          <p:spPr>
            <a:xfrm>
              <a:off x="0" y="-38100"/>
              <a:ext cx="4274726" cy="896301"/>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70" name="Google Shape;170;p2"/>
          <p:cNvGrpSpPr/>
          <p:nvPr/>
        </p:nvGrpSpPr>
        <p:grpSpPr>
          <a:xfrm>
            <a:off x="514350" y="2965908"/>
            <a:ext cx="8115300" cy="1701570"/>
            <a:chOff x="0" y="-38100"/>
            <a:chExt cx="4274726" cy="896301"/>
          </a:xfrm>
        </p:grpSpPr>
        <p:sp>
          <p:nvSpPr>
            <p:cNvPr id="171" name="Google Shape;171;p2"/>
            <p:cNvSpPr/>
            <p:nvPr/>
          </p:nvSpPr>
          <p:spPr>
            <a:xfrm>
              <a:off x="0" y="0"/>
              <a:ext cx="4274726" cy="858201"/>
            </a:xfrm>
            <a:custGeom>
              <a:rect b="b" l="l" r="r" t="t"/>
              <a:pathLst>
                <a:path extrusionOk="0" h="858201" w="4274726">
                  <a:moveTo>
                    <a:pt x="28620" y="0"/>
                  </a:moveTo>
                  <a:lnTo>
                    <a:pt x="4246106" y="0"/>
                  </a:lnTo>
                  <a:cubicBezTo>
                    <a:pt x="4261912" y="0"/>
                    <a:pt x="4274726" y="12813"/>
                    <a:pt x="4274726" y="28620"/>
                  </a:cubicBezTo>
                  <a:lnTo>
                    <a:pt x="4274726" y="829581"/>
                  </a:lnTo>
                  <a:cubicBezTo>
                    <a:pt x="4274726" y="845387"/>
                    <a:pt x="4261912" y="858201"/>
                    <a:pt x="4246106" y="858201"/>
                  </a:cubicBezTo>
                  <a:lnTo>
                    <a:pt x="28620" y="858201"/>
                  </a:lnTo>
                  <a:cubicBezTo>
                    <a:pt x="12813" y="858201"/>
                    <a:pt x="0" y="845387"/>
                    <a:pt x="0" y="829581"/>
                  </a:cubicBezTo>
                  <a:lnTo>
                    <a:pt x="0" y="28620"/>
                  </a:lnTo>
                  <a:cubicBezTo>
                    <a:pt x="0" y="12813"/>
                    <a:pt x="12813" y="0"/>
                    <a:pt x="28620" y="0"/>
                  </a:cubicBezTo>
                  <a:close/>
                </a:path>
              </a:pathLst>
            </a:custGeom>
            <a:solidFill>
              <a:srgbClr val="FFFFFF">
                <a:alpha val="15294"/>
              </a:srgbClr>
            </a:solidFill>
            <a:ln cap="rnd" cmpd="sng" w="38100">
              <a:solidFill>
                <a:srgbClr val="FFFFFF">
                  <a:alpha val="15294"/>
                </a:srgbClr>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
            <p:cNvSpPr txBox="1"/>
            <p:nvPr/>
          </p:nvSpPr>
          <p:spPr>
            <a:xfrm>
              <a:off x="0" y="-38100"/>
              <a:ext cx="4274726" cy="896301"/>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73" name="Google Shape;173;p2"/>
          <p:cNvGrpSpPr/>
          <p:nvPr/>
        </p:nvGrpSpPr>
        <p:grpSpPr>
          <a:xfrm rot="-5400000">
            <a:off x="6847428" y="-119834"/>
            <a:ext cx="2176738" cy="2416406"/>
            <a:chOff x="0" y="-38100"/>
            <a:chExt cx="1146594" cy="1272839"/>
          </a:xfrm>
        </p:grpSpPr>
        <p:sp>
          <p:nvSpPr>
            <p:cNvPr id="174" name="Google Shape;174;p2"/>
            <p:cNvSpPr/>
            <p:nvPr/>
          </p:nvSpPr>
          <p:spPr>
            <a:xfrm>
              <a:off x="0" y="0"/>
              <a:ext cx="1146594" cy="1234739"/>
            </a:xfrm>
            <a:custGeom>
              <a:rect b="b" l="l" r="r" t="t"/>
              <a:pathLst>
                <a:path extrusionOk="0" h="1234739" w="1146594">
                  <a:moveTo>
                    <a:pt x="0" y="0"/>
                  </a:moveTo>
                  <a:lnTo>
                    <a:pt x="1146594" y="0"/>
                  </a:lnTo>
                  <a:lnTo>
                    <a:pt x="1146594" y="1234739"/>
                  </a:lnTo>
                  <a:lnTo>
                    <a:pt x="0" y="1234739"/>
                  </a:lnTo>
                  <a:close/>
                </a:path>
              </a:pathLst>
            </a:custGeom>
            <a:gradFill>
              <a:gsLst>
                <a:gs pos="0">
                  <a:srgbClr val="08172A">
                    <a:alpha val="0"/>
                  </a:srgbClr>
                </a:gs>
                <a:gs pos="50000">
                  <a:srgbClr val="08172A">
                    <a:alpha val="0"/>
                  </a:srgbClr>
                </a:gs>
                <a:gs pos="100000">
                  <a:srgbClr val="09182B"/>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5" name="Google Shape;175;p2"/>
            <p:cNvSpPr txBox="1"/>
            <p:nvPr/>
          </p:nvSpPr>
          <p:spPr>
            <a:xfrm>
              <a:off x="0" y="-38100"/>
              <a:ext cx="1146594" cy="1272839"/>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76" name="Google Shape;176;p2"/>
          <p:cNvSpPr/>
          <p:nvPr/>
        </p:nvSpPr>
        <p:spPr>
          <a:xfrm>
            <a:off x="7463587" y="454983"/>
            <a:ext cx="1264423" cy="1473830"/>
          </a:xfrm>
          <a:custGeom>
            <a:rect b="b" l="l" r="r" t="t"/>
            <a:pathLst>
              <a:path extrusionOk="0" h="2947660" w="2528846">
                <a:moveTo>
                  <a:pt x="0" y="0"/>
                </a:moveTo>
                <a:lnTo>
                  <a:pt x="2528847" y="0"/>
                </a:lnTo>
                <a:lnTo>
                  <a:pt x="2528847" y="2947660"/>
                </a:lnTo>
                <a:lnTo>
                  <a:pt x="0" y="294766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p2"/>
          <p:cNvSpPr txBox="1"/>
          <p:nvPr/>
        </p:nvSpPr>
        <p:spPr>
          <a:xfrm>
            <a:off x="514350" y="509588"/>
            <a:ext cx="3486006" cy="110013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600"/>
              <a:buFont typeface="Arial"/>
              <a:buNone/>
            </a:pPr>
            <a:r>
              <a:rPr b="0" i="0" lang="en-GB" sz="3600" u="none" cap="none" strike="noStrike">
                <a:solidFill>
                  <a:srgbClr val="FFFFFF"/>
                </a:solidFill>
                <a:latin typeface="Alice"/>
                <a:ea typeface="Alice"/>
                <a:cs typeface="Alice"/>
                <a:sym typeface="Alice"/>
              </a:rPr>
              <a:t>DMU </a:t>
            </a:r>
            <a:endParaRPr b="0" i="0" sz="7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3600"/>
              <a:buFont typeface="Arial"/>
              <a:buNone/>
            </a:pPr>
            <a:r>
              <a:rPr b="0" i="0" lang="en-GB" sz="3600" u="none" cap="none" strike="noStrike">
                <a:solidFill>
                  <a:srgbClr val="FFFFFF"/>
                </a:solidFill>
                <a:latin typeface="Alice"/>
                <a:ea typeface="Alice"/>
                <a:cs typeface="Alice"/>
                <a:sym typeface="Alice"/>
              </a:rPr>
              <a:t>Hacking Society</a:t>
            </a:r>
            <a:endParaRPr b="0" i="0" sz="700" u="none" cap="none" strike="noStrike">
              <a:solidFill>
                <a:srgbClr val="000000"/>
              </a:solidFill>
              <a:latin typeface="Arial"/>
              <a:ea typeface="Arial"/>
              <a:cs typeface="Arial"/>
              <a:sym typeface="Arial"/>
            </a:endParaRPr>
          </a:p>
        </p:txBody>
      </p:sp>
      <p:sp>
        <p:nvSpPr>
          <p:cNvPr id="178" name="Google Shape;178;p2"/>
          <p:cNvSpPr txBox="1"/>
          <p:nvPr/>
        </p:nvSpPr>
        <p:spPr>
          <a:xfrm>
            <a:off x="602175" y="3117250"/>
            <a:ext cx="7935000" cy="148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GB" sz="4800" u="none" cap="none" strike="noStrike">
                <a:solidFill>
                  <a:schemeClr val="lt1"/>
                </a:solidFill>
                <a:latin typeface="Consolas"/>
                <a:ea typeface="Consolas"/>
                <a:cs typeface="Consolas"/>
                <a:sym typeface="Consolas"/>
              </a:rPr>
              <a:t>Reverse Engineering</a:t>
            </a:r>
            <a:endParaRPr b="0" i="0" sz="4800" u="none" cap="none" strike="noStrike">
              <a:solidFill>
                <a:schemeClr val="lt1"/>
              </a:solidFill>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p3"/>
          <p:cNvSpPr/>
          <p:nvPr/>
        </p:nvSpPr>
        <p:spPr>
          <a:xfrm>
            <a:off x="378519" y="343377"/>
            <a:ext cx="271664" cy="459738"/>
          </a:xfrm>
          <a:custGeom>
            <a:rect b="b" l="l" r="r" t="t"/>
            <a:pathLst>
              <a:path extrusionOk="0" h="919476" w="543327">
                <a:moveTo>
                  <a:pt x="0" y="0"/>
                </a:moveTo>
                <a:lnTo>
                  <a:pt x="543326" y="0"/>
                </a:lnTo>
                <a:lnTo>
                  <a:pt x="543326"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5" name="Google Shape;185;p3"/>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6" name="Google Shape;186;p3"/>
          <p:cNvSpPr/>
          <p:nvPr/>
        </p:nvSpPr>
        <p:spPr>
          <a:xfrm>
            <a:off x="5477416" y="1838245"/>
            <a:ext cx="1956401" cy="2057400"/>
          </a:xfrm>
          <a:custGeom>
            <a:rect b="b" l="l" r="r" t="t"/>
            <a:pathLst>
              <a:path extrusionOk="0" h="4114800" w="3912801">
                <a:moveTo>
                  <a:pt x="0" y="0"/>
                </a:moveTo>
                <a:lnTo>
                  <a:pt x="3912801" y="0"/>
                </a:lnTo>
                <a:lnTo>
                  <a:pt x="3912801" y="4114800"/>
                </a:lnTo>
                <a:lnTo>
                  <a:pt x="0" y="411480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3"/>
          <p:cNvSpPr/>
          <p:nvPr/>
        </p:nvSpPr>
        <p:spPr>
          <a:xfrm>
            <a:off x="1710184" y="1838245"/>
            <a:ext cx="2916418" cy="2057400"/>
          </a:xfrm>
          <a:custGeom>
            <a:rect b="b" l="l" r="r" t="t"/>
            <a:pathLst>
              <a:path extrusionOk="0" h="4114800" w="5832835">
                <a:moveTo>
                  <a:pt x="0" y="0"/>
                </a:moveTo>
                <a:lnTo>
                  <a:pt x="5832835" y="0"/>
                </a:lnTo>
                <a:lnTo>
                  <a:pt x="5832835" y="4114800"/>
                </a:lnTo>
                <a:lnTo>
                  <a:pt x="0" y="4114800"/>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8" name="Google Shape;188;p3"/>
          <p:cNvSpPr txBox="1"/>
          <p:nvPr/>
        </p:nvSpPr>
        <p:spPr>
          <a:xfrm>
            <a:off x="742448" y="490538"/>
            <a:ext cx="1114984" cy="1416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
              <a:buFont typeface="Arial"/>
              <a:buNone/>
            </a:pPr>
            <a:r>
              <a:rPr b="1" i="0" lang="en-GB" sz="800" u="none" cap="none" strike="noStrike">
                <a:solidFill>
                  <a:srgbClr val="D9D9D9"/>
                </a:solidFill>
                <a:latin typeface="Poppins SemiBold"/>
                <a:ea typeface="Poppins SemiBold"/>
                <a:cs typeface="Poppins SemiBold"/>
                <a:sym typeface="Poppins SemiBold"/>
              </a:rPr>
              <a:t>DMUHACKERS</a:t>
            </a:r>
            <a:endParaRPr b="0" i="0" sz="700" u="none" cap="none" strike="noStrike">
              <a:solidFill>
                <a:srgbClr val="000000"/>
              </a:solidFill>
              <a:latin typeface="Arial"/>
              <a:ea typeface="Arial"/>
              <a:cs typeface="Arial"/>
              <a:sym typeface="Arial"/>
            </a:endParaRPr>
          </a:p>
        </p:txBody>
      </p:sp>
      <p:sp>
        <p:nvSpPr>
          <p:cNvPr id="189" name="Google Shape;189;p3"/>
          <p:cNvSpPr txBox="1"/>
          <p:nvPr/>
        </p:nvSpPr>
        <p:spPr>
          <a:xfrm>
            <a:off x="1052140" y="712073"/>
            <a:ext cx="7039800" cy="708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1" i="0" lang="en-GB" sz="4600" u="none" cap="none" strike="noStrike">
                <a:solidFill>
                  <a:srgbClr val="D9D9D9"/>
                </a:solidFill>
                <a:latin typeface="Consolas"/>
                <a:ea typeface="Consolas"/>
                <a:cs typeface="Consolas"/>
                <a:sym typeface="Consolas"/>
              </a:rPr>
              <a:t>D0nt d0 1ll3gal sh1t</a:t>
            </a:r>
            <a:endParaRPr b="0" i="0" sz="700" u="none" cap="none" strike="noStrike">
              <a:solidFill>
                <a:srgbClr val="000000"/>
              </a:solidFill>
              <a:latin typeface="Consolas"/>
              <a:ea typeface="Consolas"/>
              <a:cs typeface="Consolas"/>
              <a:sym typeface="Consolas"/>
            </a:endParaRPr>
          </a:p>
        </p:txBody>
      </p:sp>
      <p:sp>
        <p:nvSpPr>
          <p:cNvPr id="190" name="Google Shape;190;p3"/>
          <p:cNvSpPr txBox="1"/>
          <p:nvPr/>
        </p:nvSpPr>
        <p:spPr>
          <a:xfrm>
            <a:off x="1710184" y="4180840"/>
            <a:ext cx="57237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n-GB" sz="2600" u="none" cap="none" strike="noStrike">
                <a:solidFill>
                  <a:srgbClr val="D9D9D9"/>
                </a:solidFill>
                <a:latin typeface="Consolas"/>
                <a:ea typeface="Consolas"/>
                <a:cs typeface="Consolas"/>
                <a:sym typeface="Consolas"/>
              </a:rPr>
              <a:t>please..</a:t>
            </a:r>
            <a:endParaRPr b="0" i="0" sz="700" u="none" cap="none" strike="noStrike">
              <a:solidFill>
                <a:srgbClr val="000000"/>
              </a:solidFill>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6" name="Google Shape;196;p4"/>
          <p:cNvSpPr/>
          <p:nvPr/>
        </p:nvSpPr>
        <p:spPr>
          <a:xfrm>
            <a:off x="378519" y="343377"/>
            <a:ext cx="271664" cy="459738"/>
          </a:xfrm>
          <a:custGeom>
            <a:rect b="b" l="l" r="r" t="t"/>
            <a:pathLst>
              <a:path extrusionOk="0" h="919476" w="543327">
                <a:moveTo>
                  <a:pt x="0" y="0"/>
                </a:moveTo>
                <a:lnTo>
                  <a:pt x="543326" y="0"/>
                </a:lnTo>
                <a:lnTo>
                  <a:pt x="543326"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7" name="Google Shape;197;p4"/>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8" name="Google Shape;198;p4"/>
          <p:cNvSpPr txBox="1"/>
          <p:nvPr/>
        </p:nvSpPr>
        <p:spPr>
          <a:xfrm>
            <a:off x="742448" y="490538"/>
            <a:ext cx="1115100" cy="123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
              <a:buFont typeface="Arial"/>
              <a:buNone/>
            </a:pPr>
            <a:r>
              <a:rPr b="1" i="0" lang="en-GB" sz="800" u="none" cap="none" strike="noStrike">
                <a:solidFill>
                  <a:srgbClr val="D9D9D9"/>
                </a:solidFill>
                <a:latin typeface="Poppins SemiBold"/>
                <a:ea typeface="Poppins SemiBold"/>
                <a:cs typeface="Poppins SemiBold"/>
                <a:sym typeface="Poppins SemiBold"/>
              </a:rPr>
              <a:t>DMU HACKERS</a:t>
            </a:r>
            <a:endParaRPr b="0" i="0" sz="700" u="none" cap="none" strike="noStrike">
              <a:solidFill>
                <a:srgbClr val="000000"/>
              </a:solidFill>
              <a:latin typeface="Arial"/>
              <a:ea typeface="Arial"/>
              <a:cs typeface="Arial"/>
              <a:sym typeface="Arial"/>
            </a:endParaRPr>
          </a:p>
        </p:txBody>
      </p:sp>
      <p:sp>
        <p:nvSpPr>
          <p:cNvPr id="199" name="Google Shape;199;p4"/>
          <p:cNvSpPr txBox="1"/>
          <p:nvPr/>
        </p:nvSpPr>
        <p:spPr>
          <a:xfrm>
            <a:off x="378525" y="803125"/>
            <a:ext cx="70095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Announcements</a:t>
            </a:r>
            <a:endParaRPr b="0" i="0" sz="26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
        <p:nvSpPr>
          <p:cNvPr id="200" name="Google Shape;200;p4"/>
          <p:cNvSpPr/>
          <p:nvPr/>
        </p:nvSpPr>
        <p:spPr>
          <a:xfrm>
            <a:off x="378526" y="1674435"/>
            <a:ext cx="6261798" cy="2584415"/>
          </a:xfrm>
          <a:custGeom>
            <a:rect b="b" l="l" r="r" t="t"/>
            <a:pathLst>
              <a:path extrusionOk="0" h="5168830" w="12523597">
                <a:moveTo>
                  <a:pt x="0" y="0"/>
                </a:moveTo>
                <a:lnTo>
                  <a:pt x="12523596" y="0"/>
                </a:lnTo>
                <a:lnTo>
                  <a:pt x="12523596" y="5168830"/>
                </a:lnTo>
                <a:lnTo>
                  <a:pt x="0" y="516883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E5B8B7"/>
                </a:solidFill>
                <a:latin typeface="Cascadia Code"/>
                <a:ea typeface="Cascadia Code"/>
                <a:cs typeface="Cascadia Code"/>
                <a:sym typeface="Cascadia Code"/>
              </a:rPr>
              <a:t>Get your teams signed up for P2P – May 30</a:t>
            </a:r>
            <a:r>
              <a:rPr b="0" baseline="30000" i="0" lang="en-GB" sz="1600" u="none" cap="none" strike="noStrike">
                <a:solidFill>
                  <a:srgbClr val="E5B8B7"/>
                </a:solidFill>
                <a:latin typeface="Cascadia Code"/>
                <a:ea typeface="Cascadia Code"/>
                <a:cs typeface="Cascadia Code"/>
                <a:sym typeface="Cascadia Code"/>
              </a:rPr>
              <a:t>th</a:t>
            </a:r>
            <a:r>
              <a:rPr b="0" i="0" lang="en-GB" sz="1600" u="none" cap="none" strike="noStrike">
                <a:solidFill>
                  <a:srgbClr val="E5B8B7"/>
                </a:solidFill>
                <a:latin typeface="Cascadia Code"/>
                <a:ea typeface="Cascadia Code"/>
                <a:cs typeface="Cascadia Code"/>
                <a:sym typeface="Cascadia Code"/>
              </a:rPr>
              <a:t>!</a:t>
            </a:r>
            <a:endParaRPr b="0" i="0" sz="1600" u="none" cap="none" strike="noStrike">
              <a:solidFill>
                <a:srgbClr val="E5B8B7"/>
              </a:solidFill>
              <a:latin typeface="Cascadia Code"/>
              <a:ea typeface="Cascadia Code"/>
              <a:cs typeface="Cascadia Code"/>
              <a:sym typeface="Cascadia Code"/>
            </a:endParaRPr>
          </a:p>
          <a:p>
            <a:pPr indent="0" lvl="0" marL="0" marR="0" rtl="0" algn="l">
              <a:lnSpc>
                <a:spcPct val="100000"/>
              </a:lnSpc>
              <a:spcBef>
                <a:spcPts val="0"/>
              </a:spcBef>
              <a:spcAft>
                <a:spcPts val="0"/>
              </a:spcAft>
              <a:buNone/>
            </a:pPr>
            <a:r>
              <a:t/>
            </a:r>
            <a:endParaRPr sz="1600">
              <a:solidFill>
                <a:srgbClr val="E5B8B7"/>
              </a:solidFill>
              <a:latin typeface="Cascadia Code"/>
              <a:ea typeface="Cascadia Code"/>
              <a:cs typeface="Cascadia Code"/>
              <a:sym typeface="Cascadia Code"/>
            </a:endParaRPr>
          </a:p>
          <a:p>
            <a:pPr indent="0" lvl="0" marL="0" marR="0" rtl="0" algn="l">
              <a:lnSpc>
                <a:spcPct val="100000"/>
              </a:lnSpc>
              <a:spcBef>
                <a:spcPts val="0"/>
              </a:spcBef>
              <a:spcAft>
                <a:spcPts val="0"/>
              </a:spcAft>
              <a:buNone/>
            </a:pPr>
            <a:r>
              <a:t/>
            </a:r>
            <a:endParaRPr sz="1600">
              <a:solidFill>
                <a:srgbClr val="E5B8B7"/>
              </a:solidFill>
              <a:latin typeface="Cascadia Code"/>
              <a:ea typeface="Cascadia Code"/>
              <a:cs typeface="Cascadia Code"/>
              <a:sym typeface="Cascadia Code"/>
            </a:endParaRPr>
          </a:p>
          <a:p>
            <a:pPr indent="0" lvl="0" marL="0" marR="0" rtl="0" algn="l">
              <a:lnSpc>
                <a:spcPct val="100000"/>
              </a:lnSpc>
              <a:spcBef>
                <a:spcPts val="0"/>
              </a:spcBef>
              <a:spcAft>
                <a:spcPts val="0"/>
              </a:spcAft>
              <a:buNone/>
            </a:pPr>
            <a:r>
              <a:rPr lang="en-GB" sz="1600" u="sng">
                <a:solidFill>
                  <a:srgbClr val="E5B8B7"/>
                </a:solidFill>
                <a:latin typeface="Cascadia Code"/>
                <a:ea typeface="Cascadia Code"/>
                <a:cs typeface="Cascadia Code"/>
                <a:sym typeface="Cascadia Code"/>
                <a:hlinkClick r:id="rId7">
                  <a:extLst>
                    <a:ext uri="{A12FA001-AC4F-418D-AE19-62706E023703}">
                      <ahyp:hlinkClr val="tx"/>
                    </a:ext>
                  </a:extLst>
                </a:hlinkClick>
              </a:rPr>
              <a:t>https://dmuhackers.com/</a:t>
            </a:r>
            <a:endParaRPr sz="1600">
              <a:solidFill>
                <a:srgbClr val="E5B8B7"/>
              </a:solidFill>
              <a:latin typeface="Cascadia Code"/>
              <a:ea typeface="Cascadia Code"/>
              <a:cs typeface="Cascadia Code"/>
              <a:sym typeface="Cascadia Code"/>
            </a:endParaRPr>
          </a:p>
          <a:p>
            <a:pPr indent="0" lvl="0" marL="0" marR="0" rtl="0" algn="l">
              <a:lnSpc>
                <a:spcPct val="100000"/>
              </a:lnSpc>
              <a:spcBef>
                <a:spcPts val="0"/>
              </a:spcBef>
              <a:spcAft>
                <a:spcPts val="0"/>
              </a:spcAft>
              <a:buNone/>
            </a:pPr>
            <a:r>
              <a:t/>
            </a:r>
            <a:endParaRPr sz="1600">
              <a:solidFill>
                <a:srgbClr val="E5B8B7"/>
              </a:solidFill>
              <a:latin typeface="Cascadia Code"/>
              <a:ea typeface="Cascadia Code"/>
              <a:cs typeface="Cascadia Code"/>
              <a:sym typeface="Cascadia Code"/>
            </a:endParaRPr>
          </a:p>
          <a:p>
            <a:pPr indent="0" lvl="0" marL="0" marR="0" rtl="0" algn="l">
              <a:lnSpc>
                <a:spcPct val="100000"/>
              </a:lnSpc>
              <a:spcBef>
                <a:spcPts val="0"/>
              </a:spcBef>
              <a:spcAft>
                <a:spcPts val="0"/>
              </a:spcAft>
              <a:buNone/>
            </a:pPr>
            <a:r>
              <a:rPr lang="en-GB" sz="1600">
                <a:solidFill>
                  <a:srgbClr val="E5B8B7"/>
                </a:solidFill>
                <a:latin typeface="Cascadia Code"/>
                <a:ea typeface="Cascadia Code"/>
                <a:cs typeface="Cascadia Code"/>
                <a:sym typeface="Cascadia Code"/>
              </a:rPr>
              <a:t>QOTD: Favourite Song?</a:t>
            </a:r>
            <a:endParaRPr sz="1600">
              <a:solidFill>
                <a:srgbClr val="E5B8B7"/>
              </a:solidFill>
              <a:latin typeface="Cascadia Code"/>
              <a:ea typeface="Cascadia Code"/>
              <a:cs typeface="Cascadia Code"/>
              <a:sym typeface="Cascadia Code"/>
            </a:endParaRPr>
          </a:p>
          <a:p>
            <a:pPr indent="0" lvl="0" marL="0" marR="0" rtl="0" algn="l">
              <a:lnSpc>
                <a:spcPct val="100000"/>
              </a:lnSpc>
              <a:spcBef>
                <a:spcPts val="0"/>
              </a:spcBef>
              <a:spcAft>
                <a:spcPts val="0"/>
              </a:spcAft>
              <a:buNone/>
            </a:pPr>
            <a:r>
              <a:t/>
            </a:r>
            <a:endParaRPr b="0" i="0" sz="1600" u="none" cap="none" strike="noStrike">
              <a:solidFill>
                <a:srgbClr val="E5B8B7"/>
              </a:solidFill>
              <a:latin typeface="Cascadia Code"/>
              <a:ea typeface="Cascadia Code"/>
              <a:cs typeface="Cascadia Code"/>
              <a:sym typeface="Cascadia Code"/>
            </a:endParaRPr>
          </a:p>
          <a:p>
            <a:pPr indent="0" lvl="0" marL="0" marR="0" rtl="0" algn="l">
              <a:lnSpc>
                <a:spcPct val="100000"/>
              </a:lnSpc>
              <a:spcBef>
                <a:spcPts val="0"/>
              </a:spcBef>
              <a:spcAft>
                <a:spcPts val="0"/>
              </a:spcAft>
              <a:buNone/>
            </a:pPr>
            <a:r>
              <a:t/>
            </a:r>
            <a:endParaRPr b="0" i="0" sz="1600" u="none" cap="none" strike="noStrike">
              <a:solidFill>
                <a:srgbClr val="E5B8B7"/>
              </a:solidFill>
              <a:latin typeface="Cascadia Code"/>
              <a:ea typeface="Cascadia Code"/>
              <a:cs typeface="Cascadia Code"/>
              <a:sym typeface="Cascadia Code"/>
            </a:endParaRPr>
          </a:p>
          <a:p>
            <a:pPr indent="0" lvl="0" marL="0" marR="0" rtl="0" algn="l">
              <a:lnSpc>
                <a:spcPct val="100000"/>
              </a:lnSpc>
              <a:spcBef>
                <a:spcPts val="0"/>
              </a:spcBef>
              <a:spcAft>
                <a:spcPts val="0"/>
              </a:spcAft>
              <a:buNone/>
            </a:pPr>
            <a:r>
              <a:t/>
            </a:r>
            <a:endParaRPr b="0" i="0" sz="1600" u="none" cap="none" strike="noStrike">
              <a:solidFill>
                <a:srgbClr val="E5B8B7"/>
              </a:solidFill>
              <a:latin typeface="Cascadia Code"/>
              <a:ea typeface="Cascadia Code"/>
              <a:cs typeface="Cascadia Code"/>
              <a:sym typeface="Cascadia Cod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6" name="Google Shape;206;p6"/>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07" name="Google Shape;207;p6"/>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What is Reverse Engineering?</a:t>
            </a:r>
            <a:endParaRPr b="0" i="0" sz="2900" u="none" cap="none" strike="noStrike">
              <a:solidFill>
                <a:schemeClr val="lt1"/>
              </a:solidFill>
              <a:latin typeface="Consolas"/>
              <a:ea typeface="Consolas"/>
              <a:cs typeface="Consolas"/>
              <a:sym typeface="Consolas"/>
            </a:endParaRPr>
          </a:p>
        </p:txBody>
      </p:sp>
      <p:sp>
        <p:nvSpPr>
          <p:cNvPr id="208" name="Google Shape;208;p6"/>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9" name="Google Shape;209;p6"/>
          <p:cNvSpPr txBox="1"/>
          <p:nvPr/>
        </p:nvSpPr>
        <p:spPr>
          <a:xfrm>
            <a:off x="374850" y="1105150"/>
            <a:ext cx="7674900" cy="337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The process of analysing systems and software to understand how it works, how it is structured, and reconstructing data from binary artifacts</a:t>
            </a:r>
            <a:endParaRPr b="0" i="0" sz="1600" u="none" cap="none" strike="noStrike">
              <a:solidFill>
                <a:schemeClr val="lt1"/>
              </a:solidFill>
              <a:latin typeface="Calibri"/>
              <a:ea typeface="Calibri"/>
              <a:cs typeface="Calibri"/>
              <a:sym typeface="Calibri"/>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C/C++ traditionally the focus programming languages, but the reverse engineering process applies to other languages (Go, Rust, OCaml etc).</a:t>
            </a:r>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Split into two main analysis types: Static and Dynamic</a:t>
            </a:r>
            <a:endParaRPr b="0" i="0" sz="1600" u="none" cap="none" strike="noStrike">
              <a:solidFill>
                <a:schemeClr val="lt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lt1"/>
                </a:solidFill>
                <a:latin typeface="Calibri"/>
                <a:ea typeface="Calibri"/>
                <a:cs typeface="Calibri"/>
                <a:sym typeface="Calibri"/>
              </a:rPr>
              <a:t> Use cases:</a:t>
            </a:r>
            <a:endParaRPr b="0" i="0" sz="1600" u="none" cap="none" strike="noStrike">
              <a:solidFill>
                <a:schemeClr val="lt1"/>
              </a:solidFill>
              <a:latin typeface="Calibri"/>
              <a:ea typeface="Calibri"/>
              <a:cs typeface="Calibri"/>
              <a:sym typeface="Calibri"/>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rgbClr val="00B050"/>
                </a:solidFill>
                <a:latin typeface="Calibri"/>
                <a:ea typeface="Calibri"/>
                <a:cs typeface="Calibri"/>
                <a:sym typeface="Calibri"/>
              </a:rPr>
              <a:t>Vulnerability research </a:t>
            </a:r>
            <a:r>
              <a:rPr b="0" i="0" lang="en-GB" sz="1600" u="none" cap="none" strike="noStrike">
                <a:solidFill>
                  <a:schemeClr val="lt1"/>
                </a:solidFill>
                <a:latin typeface="Calibri"/>
                <a:ea typeface="Calibri"/>
                <a:cs typeface="Calibri"/>
                <a:sym typeface="Calibri"/>
              </a:rPr>
              <a:t>- finding zero days in software before release</a:t>
            </a:r>
            <a:endParaRPr b="0" i="0" sz="1600" u="none" cap="none" strike="noStrike">
              <a:solidFill>
                <a:schemeClr val="lt1"/>
              </a:solidFill>
              <a:latin typeface="Calibri"/>
              <a:ea typeface="Calibri"/>
              <a:cs typeface="Calibri"/>
              <a:sym typeface="Calibri"/>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rgbClr val="C00000"/>
                </a:solidFill>
                <a:latin typeface="Calibri"/>
                <a:ea typeface="Calibri"/>
                <a:cs typeface="Calibri"/>
                <a:sym typeface="Calibri"/>
              </a:rPr>
              <a:t>Malware analysis </a:t>
            </a:r>
            <a:r>
              <a:rPr b="0" i="0" lang="en-GB" sz="1600" u="none" cap="none" strike="noStrike">
                <a:solidFill>
                  <a:schemeClr val="lt1"/>
                </a:solidFill>
                <a:latin typeface="Calibri"/>
                <a:ea typeface="Calibri"/>
                <a:cs typeface="Calibri"/>
                <a:sym typeface="Calibri"/>
              </a:rPr>
              <a:t>- understanding and extracting indicators of compromise</a:t>
            </a:r>
            <a:endParaRPr b="0" i="0" sz="1600" u="none" cap="none" strike="noStrike">
              <a:solidFill>
                <a:schemeClr val="lt1"/>
              </a:solidFill>
              <a:latin typeface="Calibri"/>
              <a:ea typeface="Calibri"/>
              <a:cs typeface="Calibri"/>
              <a:sym typeface="Calibri"/>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rgbClr val="00B0F0"/>
                </a:solidFill>
                <a:latin typeface="Calibri"/>
                <a:ea typeface="Calibri"/>
                <a:cs typeface="Calibri"/>
                <a:sym typeface="Calibri"/>
              </a:rPr>
              <a:t>CTF competitions</a:t>
            </a:r>
            <a:endParaRPr b="0" i="0" sz="1600" u="none" cap="none" strike="noStrike">
              <a:solidFill>
                <a:srgbClr val="00B0F0"/>
              </a:solidFill>
              <a:latin typeface="Calibri"/>
              <a:ea typeface="Calibri"/>
              <a:cs typeface="Calibri"/>
              <a:sym typeface="Calibri"/>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rgbClr val="FFC000"/>
                </a:solidFill>
                <a:latin typeface="Calibri"/>
                <a:ea typeface="Calibri"/>
                <a:cs typeface="Calibri"/>
                <a:sym typeface="Calibri"/>
              </a:rPr>
              <a:t>Bug bounties </a:t>
            </a:r>
            <a:r>
              <a:rPr b="0" i="0" lang="en-GB" sz="1600" u="none" cap="none" strike="noStrike">
                <a:solidFill>
                  <a:schemeClr val="lt1"/>
                </a:solidFill>
                <a:latin typeface="Calibri"/>
                <a:ea typeface="Calibri"/>
                <a:cs typeface="Calibri"/>
                <a:sym typeface="Calibri"/>
              </a:rPr>
              <a:t>– finding logic flaws in compiled software</a:t>
            </a:r>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Software testing </a:t>
            </a:r>
            <a:endParaRPr b="0" i="0" sz="1600" u="none" cap="none" strike="noStrike">
              <a:solidFill>
                <a:schemeClr val="lt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pic>
        <p:nvPicPr>
          <p:cNvPr id="210" name="Google Shape;210;p6"/>
          <p:cNvPicPr preferRelativeResize="0"/>
          <p:nvPr/>
        </p:nvPicPr>
        <p:blipFill rotWithShape="1">
          <a:blip r:embed="rId5">
            <a:alphaModFix/>
          </a:blip>
          <a:srcRect b="3920" l="0" r="0" t="0"/>
          <a:stretch/>
        </p:blipFill>
        <p:spPr>
          <a:xfrm>
            <a:off x="9155600" y="0"/>
            <a:ext cx="9144000" cy="5143500"/>
          </a:xfrm>
          <a:prstGeom prst="rect">
            <a:avLst/>
          </a:prstGeom>
          <a:noFill/>
          <a:ln>
            <a:noFill/>
          </a:ln>
        </p:spPr>
      </p:pic>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6" name="Google Shape;216;p31"/>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17" name="Google Shape;217;p31"/>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n-GB" sz="2900" u="none" cap="none" strike="noStrike">
                <a:solidFill>
                  <a:schemeClr val="lt1"/>
                </a:solidFill>
                <a:latin typeface="Consolas"/>
                <a:ea typeface="Consolas"/>
                <a:cs typeface="Consolas"/>
                <a:sym typeface="Consolas"/>
              </a:rPr>
              <a:t>From source code to Binary</a:t>
            </a:r>
            <a:endParaRPr b="0" i="0" sz="2900" u="none" cap="none" strike="noStrike">
              <a:solidFill>
                <a:schemeClr val="lt1"/>
              </a:solidFill>
              <a:latin typeface="Consolas"/>
              <a:ea typeface="Consolas"/>
              <a:cs typeface="Consolas"/>
              <a:sym typeface="Consolas"/>
            </a:endParaRPr>
          </a:p>
        </p:txBody>
      </p:sp>
      <p:sp>
        <p:nvSpPr>
          <p:cNvPr id="218" name="Google Shape;218;p31"/>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p31"/>
          <p:cNvSpPr txBox="1"/>
          <p:nvPr/>
        </p:nvSpPr>
        <p:spPr>
          <a:xfrm>
            <a:off x="374650" y="939800"/>
            <a:ext cx="7721600" cy="31700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Compilers are used to transform human-readable code into machine code. Reverse engineering operates this pipeline backwards. </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Compilation pipeline for C programs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Preprocessing</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Compilation</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Assembly</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Linking</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What can get lost along the way:</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Variable and function names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Code comments, type info, and code structure</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Middle aged man wearing glasses" id="220" name="Google Shape;220;p31"/>
          <p:cNvPicPr preferRelativeResize="0"/>
          <p:nvPr/>
        </p:nvPicPr>
        <p:blipFill rotWithShape="1">
          <a:blip r:embed="rId5">
            <a:alphaModFix/>
          </a:blip>
          <a:srcRect b="0" l="0" r="0" t="0"/>
          <a:stretch/>
        </p:blipFill>
        <p:spPr>
          <a:xfrm>
            <a:off x="9334832" y="1864085"/>
            <a:ext cx="2927322" cy="19515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 name="Google Shape;226;p32"/>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27" name="Google Shape;227;p32"/>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n-GB" sz="2900" u="none" cap="none" strike="noStrike">
                <a:solidFill>
                  <a:schemeClr val="lt1"/>
                </a:solidFill>
                <a:latin typeface="Consolas"/>
                <a:ea typeface="Consolas"/>
                <a:cs typeface="Consolas"/>
                <a:sym typeface="Consolas"/>
              </a:rPr>
              <a:t>Preprocessing (.c -&gt; .i)</a:t>
            </a:r>
            <a:endParaRPr b="0" i="0" sz="2900" u="none" cap="none" strike="noStrike">
              <a:solidFill>
                <a:schemeClr val="lt1"/>
              </a:solidFill>
              <a:latin typeface="Consolas"/>
              <a:ea typeface="Consolas"/>
              <a:cs typeface="Consolas"/>
              <a:sym typeface="Consolas"/>
            </a:endParaRPr>
          </a:p>
        </p:txBody>
      </p:sp>
      <p:sp>
        <p:nvSpPr>
          <p:cNvPr id="228" name="Google Shape;228;p32"/>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32"/>
          <p:cNvSpPr txBox="1"/>
          <p:nvPr/>
        </p:nvSpPr>
        <p:spPr>
          <a:xfrm>
            <a:off x="374650" y="939800"/>
            <a:ext cx="7721600" cy="42473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The preprocessor runs first, think of this stage as a text-rewriter that prepares files before the compiler even sees it.</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Purpose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Strips out comments </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Substitutes object-like macros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Inlines function-like macros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Pastes the full text of every header file in place of each #include directive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Selects only one branch of conditional directives and discards the rest (#ifdef, #else) </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Outputs a single flat .i file</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From a RE perspective: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Macros and #defines are gone/ leave no trace in the binary</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Comments do not exist downstream</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Library types and constants now merge with regular code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Conditional branches that weren’t compiled are invisible </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p14:dur="100">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5" name="Google Shape;235;p33"/>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36" name="Google Shape;236;p33"/>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n-GB" sz="2900" u="none" cap="none" strike="noStrike">
                <a:solidFill>
                  <a:schemeClr val="lt1"/>
                </a:solidFill>
                <a:latin typeface="Consolas"/>
                <a:ea typeface="Consolas"/>
                <a:cs typeface="Consolas"/>
                <a:sym typeface="Consolas"/>
              </a:rPr>
              <a:t>Compilation (.i -&gt; .s)</a:t>
            </a:r>
            <a:endParaRPr b="0" i="0" sz="2900" u="none" cap="none" strike="noStrike">
              <a:solidFill>
                <a:schemeClr val="lt1"/>
              </a:solidFill>
              <a:latin typeface="Consolas"/>
              <a:ea typeface="Consolas"/>
              <a:cs typeface="Consolas"/>
              <a:sym typeface="Consolas"/>
            </a:endParaRPr>
          </a:p>
        </p:txBody>
      </p:sp>
      <p:sp>
        <p:nvSpPr>
          <p:cNvPr id="237" name="Google Shape;237;p33"/>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8" name="Google Shape;238;p33"/>
          <p:cNvSpPr txBox="1"/>
          <p:nvPr/>
        </p:nvSpPr>
        <p:spPr>
          <a:xfrm>
            <a:off x="374650" y="939800"/>
            <a:ext cx="7721600" cy="46782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The compiler turns preprocessed C into assembly. This is where most information is lost</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Purpose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Lexical analysis - splits source text into tokens (keywords, identifiers, literals, operators)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Syntax analysis – parses tokens into an abstract syntax tree (AST) </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Semantic analysis – catches undeclared variables, type checking</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Optimisation – register allocation, inlining, code elimination, etc</a:t>
            </a:r>
            <a:endParaRPr b="0" i="0" sz="1400" u="none" cap="none" strike="noStrike">
              <a:solidFill>
                <a:schemeClr val="lt1"/>
              </a:solidFill>
              <a:latin typeface="Consolas"/>
              <a:ea typeface="Consolas"/>
              <a:cs typeface="Consolas"/>
              <a:sym typeface="Consolas"/>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Intermediate Representation is emitted as a target-specific assembly text (.s file with x86 architecture /ARM etc)</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From a RE perspective: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This is where decompilers live – </a:t>
            </a:r>
            <a:r>
              <a:rPr b="0" i="0" lang="en-GB" sz="1400" u="none" cap="none" strike="noStrike">
                <a:solidFill>
                  <a:srgbClr val="FFC000"/>
                </a:solidFill>
                <a:latin typeface="Arial"/>
                <a:ea typeface="Arial"/>
                <a:cs typeface="Arial"/>
                <a:sym typeface="Arial"/>
              </a:rPr>
              <a:t>Ghidra, IDA Hex-Rays, retdec etc</a:t>
            </a:r>
            <a:endParaRPr b="0" i="0" sz="1400" u="none" cap="none" strike="noStrike">
              <a:solidFill>
                <a:srgbClr val="FFC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Macros and #defines are gone/ leave no trace in the binary</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Comments do not exist downstream</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Library types and constants now merge with regular code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Conditional branches that weren’t compiled are invisible </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The decompilation is a starting point, cross-check with disassembly as the output will vary </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4" name="Google Shape;244;p34"/>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45" name="Google Shape;245;p34"/>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n-GB" sz="2900" u="none" cap="none" strike="noStrike">
                <a:solidFill>
                  <a:schemeClr val="lt1"/>
                </a:solidFill>
                <a:latin typeface="Consolas"/>
                <a:ea typeface="Consolas"/>
                <a:cs typeface="Consolas"/>
                <a:sym typeface="Consolas"/>
              </a:rPr>
              <a:t>Assembly (.s -&gt; .o)</a:t>
            </a:r>
            <a:endParaRPr b="0" i="0" sz="2900" u="none" cap="none" strike="noStrike">
              <a:solidFill>
                <a:schemeClr val="lt1"/>
              </a:solidFill>
              <a:latin typeface="Consolas"/>
              <a:ea typeface="Consolas"/>
              <a:cs typeface="Consolas"/>
              <a:sym typeface="Consolas"/>
            </a:endParaRPr>
          </a:p>
        </p:txBody>
      </p:sp>
      <p:sp>
        <p:nvSpPr>
          <p:cNvPr id="246" name="Google Shape;246;p34"/>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7" name="Google Shape;247;p34"/>
          <p:cNvSpPr txBox="1"/>
          <p:nvPr/>
        </p:nvSpPr>
        <p:spPr>
          <a:xfrm>
            <a:off x="110275" y="939800"/>
            <a:ext cx="8716500" cy="424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The assembler converts human-readable assembly into machine code bytes, which produces a relocatable object file. </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Purpose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Translates each mnemonic </a:t>
            </a:r>
            <a:r>
              <a:rPr lang="en-GB">
                <a:solidFill>
                  <a:schemeClr val="lt1"/>
                </a:solidFill>
                <a:latin typeface="Consolas"/>
                <a:ea typeface="Consolas"/>
                <a:cs typeface="Consolas"/>
                <a:sym typeface="Consolas"/>
              </a:rPr>
              <a:t>back into its opcode (mov, eax, 0 becomes B8 00 00 00 00)</a:t>
            </a:r>
            <a:r>
              <a:rPr b="0" i="0" lang="en-GB" sz="1400" u="none" cap="none" strike="noStrike">
                <a:solidFill>
                  <a:schemeClr val="lt1"/>
                </a:solidFill>
                <a:latin typeface="Consolas"/>
                <a:ea typeface="Consolas"/>
                <a:cs typeface="Consolas"/>
                <a:sym typeface="Consolas"/>
              </a:rPr>
              <a:t> </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Resolves local labels and short jumps into relative byte offsets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Lays out sections - .text(code), .data(initialized globals), .bss(zeroed globals), .rodata(constants)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Leaves external calls unresolved such as printf()</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Output is a relocatable object file (.o,linux/ .obj, win) – cannot be run yet</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From a RE perspective: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The disassembler sits here – objdump –d, IDA, Ghidra, radare2</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Can be difficult to distinguish code from data, especially in stripped or obfuscated binaries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Object files are easier to analyse than full executables </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Symbols are often still present</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3" name="Google Shape;253;p35"/>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54" name="Google Shape;254;p35"/>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n-GB" sz="2900" u="none" cap="none" strike="noStrike">
                <a:solidFill>
                  <a:schemeClr val="lt1"/>
                </a:solidFill>
                <a:latin typeface="Consolas"/>
                <a:ea typeface="Consolas"/>
                <a:cs typeface="Consolas"/>
                <a:sym typeface="Consolas"/>
              </a:rPr>
              <a:t>Linking (executable)</a:t>
            </a:r>
            <a:endParaRPr b="0" i="0" sz="2900" u="none" cap="none" strike="noStrike">
              <a:solidFill>
                <a:schemeClr val="lt1"/>
              </a:solidFill>
              <a:latin typeface="Consolas"/>
              <a:ea typeface="Consolas"/>
              <a:cs typeface="Consolas"/>
              <a:sym typeface="Consolas"/>
            </a:endParaRPr>
          </a:p>
        </p:txBody>
      </p:sp>
      <p:sp>
        <p:nvSpPr>
          <p:cNvPr id="255" name="Google Shape;255;p35"/>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6" name="Google Shape;256;p35"/>
          <p:cNvSpPr txBox="1"/>
          <p:nvPr/>
        </p:nvSpPr>
        <p:spPr>
          <a:xfrm>
            <a:off x="374650" y="939800"/>
            <a:ext cx="8671814" cy="46782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The linker stiches object files together, resolves calls to library functions, and produces the final PE/ELF/Mach-O binary that you can run.</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Purpose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Takes one or more object files and merges their sections into a single output file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Patches up each relocation entry that the assembler leaves behind, which brings back final addresses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Static linking – copies the full library code into an executable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Dynamic linking – records the library name and symbol, which gets resolved by the OS at load time, only the names of the shared libraries are added to the code which is referred during execution</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Consolas"/>
                <a:ea typeface="Consolas"/>
                <a:cs typeface="Consolas"/>
                <a:sym typeface="Consolas"/>
              </a:rPr>
              <a:t>Writes out the final container format (PE/ELF/Mach-O) with section permissions and an entry-point address</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From a RE perspective: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Imports table (PE) / dynamic section (ELF) tells you which libraries are used</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Statically linked code is mixed in – FLIRT signatures from IDA or Lumina can be used to identify it</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Packers like UPX wrap everything in an extra unpacking stub at link time</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36"/>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63" name="Google Shape;263;p36"/>
          <p:cNvSpPr txBox="1"/>
          <p:nvPr/>
        </p:nvSpPr>
        <p:spPr>
          <a:xfrm>
            <a:off x="317141" y="270419"/>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n-GB" sz="2900" u="none" cap="none" strike="noStrike">
                <a:solidFill>
                  <a:schemeClr val="lt1"/>
                </a:solidFill>
                <a:latin typeface="Consolas"/>
                <a:ea typeface="Consolas"/>
                <a:cs typeface="Consolas"/>
                <a:sym typeface="Consolas"/>
              </a:rPr>
              <a:t>Compiling and linking a C program</a:t>
            </a:r>
            <a:endParaRPr b="0" i="0" sz="2900" u="none" cap="none" strike="noStrike">
              <a:solidFill>
                <a:schemeClr val="lt1"/>
              </a:solidFill>
              <a:latin typeface="Consolas"/>
              <a:ea typeface="Consolas"/>
              <a:cs typeface="Consolas"/>
              <a:sym typeface="Consolas"/>
            </a:endParaRPr>
          </a:p>
        </p:txBody>
      </p:sp>
      <p:sp>
        <p:nvSpPr>
          <p:cNvPr id="264" name="Google Shape;264;p36"/>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5" name="Google Shape;265;p36"/>
          <p:cNvSpPr txBox="1"/>
          <p:nvPr/>
        </p:nvSpPr>
        <p:spPr>
          <a:xfrm>
            <a:off x="317141" y="1171448"/>
            <a:ext cx="7721600"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B050"/>
                </a:solidFill>
                <a:latin typeface="Arial"/>
                <a:ea typeface="Arial"/>
                <a:cs typeface="Arial"/>
                <a:sym typeface="Arial"/>
              </a:rPr>
              <a:t># Compile source code into an object file</a:t>
            </a:r>
            <a:endParaRPr/>
          </a:p>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gcc -c example.c -o example.o</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400" u="none" cap="none" strike="noStrike">
                <a:solidFill>
                  <a:srgbClr val="00B050"/>
                </a:solidFill>
                <a:latin typeface="Arial"/>
                <a:ea typeface="Arial"/>
                <a:cs typeface="Arial"/>
                <a:sym typeface="Arial"/>
              </a:rPr>
              <a:t># Link the object file to create an executable</a:t>
            </a:r>
            <a:endParaRPr/>
          </a:p>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gcc example.o -o program</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400" u="none" cap="none" strike="noStrike">
                <a:solidFill>
                  <a:srgbClr val="00B050"/>
                </a:solidFill>
                <a:latin typeface="Arial"/>
                <a:ea typeface="Arial"/>
                <a:cs typeface="Arial"/>
                <a:sym typeface="Arial"/>
              </a:rPr>
              <a:t># Run the executable</a:t>
            </a:r>
            <a:endParaRPr/>
          </a:p>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/program</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400" u="none" cap="none" strike="noStrike">
                <a:solidFill>
                  <a:srgbClr val="00B050"/>
                </a:solidFill>
                <a:latin typeface="Arial"/>
                <a:ea typeface="Arial"/>
                <a:cs typeface="Arial"/>
                <a:sym typeface="Arial"/>
              </a:rPr>
              <a:t># All intermediate files will be saved in the same directory along with the executable </a:t>
            </a:r>
            <a:endParaRPr/>
          </a:p>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gcc –Wall -save-temps example.c –o example</a:t>
            </a:r>
            <a:endParaRPr/>
          </a:p>
        </p:txBody>
      </p:sp>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7"/>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37"/>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72" name="Google Shape;272;p37"/>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73" name="Google Shape;273;p37"/>
          <p:cNvPicPr preferRelativeResize="0"/>
          <p:nvPr/>
        </p:nvPicPr>
        <p:blipFill rotWithShape="1">
          <a:blip r:embed="rId5">
            <a:alphaModFix/>
          </a:blip>
          <a:srcRect b="0" l="0" r="0" t="0"/>
          <a:stretch/>
        </p:blipFill>
        <p:spPr>
          <a:xfrm>
            <a:off x="377536" y="1293653"/>
            <a:ext cx="8388928" cy="343528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8"/>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9" name="Google Shape;279;p38"/>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80" name="Google Shape;280;p38"/>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Binary File Formats</a:t>
            </a:r>
            <a:endParaRPr b="0" i="0" sz="2900" u="none" cap="none" strike="noStrike">
              <a:solidFill>
                <a:schemeClr val="lt1"/>
              </a:solidFill>
              <a:latin typeface="Consolas"/>
              <a:ea typeface="Consolas"/>
              <a:cs typeface="Consolas"/>
              <a:sym typeface="Consolas"/>
            </a:endParaRPr>
          </a:p>
        </p:txBody>
      </p:sp>
      <p:sp>
        <p:nvSpPr>
          <p:cNvPr id="281" name="Google Shape;281;p38"/>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2" name="Google Shape;282;p38"/>
          <p:cNvSpPr txBox="1"/>
          <p:nvPr/>
        </p:nvSpPr>
        <p:spPr>
          <a:xfrm>
            <a:off x="374650" y="939800"/>
            <a:ext cx="7721600" cy="38164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Every executable is wrapped in a container that tells the OS how it should be loaded and ran, knowing the file format is the first step.</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Formats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PE (Portable Executable) – Windows.exe,.dll, .sys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ELF (Executable and Linkable Format) – Linux binaries and shared objects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Mach-O – macOS and iOS executables </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What to look out for:</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Headers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Sections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Imports/Exports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Symbols, relocation (if not stripped)</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8" name="Google Shape;288;p3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en-GB">
                <a:solidFill>
                  <a:schemeClr val="lt1"/>
                </a:solidFill>
              </a:rPr>
              <a:t>Static vs Dynamic Analysis</a:t>
            </a:r>
            <a:endParaRPr>
              <a:solidFill>
                <a:schemeClr val="lt1"/>
              </a:solidFill>
            </a:endParaRPr>
          </a:p>
        </p:txBody>
      </p:sp>
      <p:sp>
        <p:nvSpPr>
          <p:cNvPr id="289" name="Google Shape;289;p39"/>
          <p:cNvSpPr txBox="1"/>
          <p:nvPr>
            <p:ph idx="1" type="body"/>
          </p:nvPr>
        </p:nvSpPr>
        <p:spPr>
          <a:xfrm>
            <a:off x="628650" y="1369218"/>
            <a:ext cx="3886200" cy="3399729"/>
          </a:xfrm>
          <a:prstGeom prst="rect">
            <a:avLst/>
          </a:prstGeom>
          <a:solidFill>
            <a:srgbClr val="3A3838"/>
          </a:solidFill>
          <a:ln>
            <a:noFill/>
          </a:ln>
        </p:spPr>
        <p:txBody>
          <a:bodyPr anchorCtr="0" anchor="t" bIns="34275" lIns="68575" spcFirstLastPara="1" rIns="68575" wrap="square" tIns="34275">
            <a:normAutofit/>
          </a:bodyPr>
          <a:lstStyle/>
          <a:p>
            <a:pPr indent="0" lvl="0" marL="139700" rtl="0" algn="l">
              <a:lnSpc>
                <a:spcPct val="90000"/>
              </a:lnSpc>
              <a:spcBef>
                <a:spcPts val="800"/>
              </a:spcBef>
              <a:spcAft>
                <a:spcPts val="0"/>
              </a:spcAft>
              <a:buSzPts val="1400"/>
              <a:buNone/>
            </a:pPr>
            <a:r>
              <a:rPr lang="en-GB" sz="2600">
                <a:solidFill>
                  <a:schemeClr val="lt1"/>
                </a:solidFill>
              </a:rPr>
              <a:t>STATIC ANALYSIS</a:t>
            </a:r>
            <a:endParaRPr/>
          </a:p>
          <a:p>
            <a:pPr indent="-317500" lvl="0" marL="457200" rtl="0" algn="l">
              <a:lnSpc>
                <a:spcPct val="90000"/>
              </a:lnSpc>
              <a:spcBef>
                <a:spcPts val="800"/>
              </a:spcBef>
              <a:spcAft>
                <a:spcPts val="0"/>
              </a:spcAft>
              <a:buClr>
                <a:schemeClr val="dk1"/>
              </a:buClr>
              <a:buSzPts val="1400"/>
              <a:buChar char="•"/>
            </a:pPr>
            <a:r>
              <a:rPr lang="en-GB" sz="2000">
                <a:solidFill>
                  <a:schemeClr val="lt1"/>
                </a:solidFill>
              </a:rPr>
              <a:t>Examining code without executing it</a:t>
            </a:r>
            <a:endParaRPr/>
          </a:p>
          <a:p>
            <a:pPr indent="-317500" lvl="0" marL="457200" rtl="0" algn="l">
              <a:lnSpc>
                <a:spcPct val="90000"/>
              </a:lnSpc>
              <a:spcBef>
                <a:spcPts val="800"/>
              </a:spcBef>
              <a:spcAft>
                <a:spcPts val="0"/>
              </a:spcAft>
              <a:buClr>
                <a:schemeClr val="dk1"/>
              </a:buClr>
              <a:buSzPts val="1400"/>
              <a:buChar char="•"/>
            </a:pPr>
            <a:r>
              <a:rPr lang="en-GB" sz="2000">
                <a:solidFill>
                  <a:schemeClr val="lt1"/>
                </a:solidFill>
              </a:rPr>
              <a:t>Disassembly</a:t>
            </a:r>
            <a:endParaRPr/>
          </a:p>
          <a:p>
            <a:pPr indent="-317500" lvl="0" marL="457200" rtl="0" algn="l">
              <a:lnSpc>
                <a:spcPct val="90000"/>
              </a:lnSpc>
              <a:spcBef>
                <a:spcPts val="800"/>
              </a:spcBef>
              <a:spcAft>
                <a:spcPts val="0"/>
              </a:spcAft>
              <a:buClr>
                <a:schemeClr val="dk1"/>
              </a:buClr>
              <a:buSzPts val="1400"/>
              <a:buChar char="•"/>
            </a:pPr>
            <a:r>
              <a:rPr lang="en-GB" sz="2000">
                <a:solidFill>
                  <a:schemeClr val="lt1"/>
                </a:solidFill>
              </a:rPr>
              <a:t>Decompilation</a:t>
            </a:r>
            <a:endParaRPr/>
          </a:p>
          <a:p>
            <a:pPr indent="-317500" lvl="0" marL="457200" rtl="0" algn="l">
              <a:lnSpc>
                <a:spcPct val="90000"/>
              </a:lnSpc>
              <a:spcBef>
                <a:spcPts val="800"/>
              </a:spcBef>
              <a:spcAft>
                <a:spcPts val="0"/>
              </a:spcAft>
              <a:buClr>
                <a:schemeClr val="dk1"/>
              </a:buClr>
              <a:buSzPts val="1400"/>
              <a:buChar char="•"/>
            </a:pPr>
            <a:r>
              <a:rPr lang="en-GB" sz="2000">
                <a:solidFill>
                  <a:schemeClr val="lt1"/>
                </a:solidFill>
              </a:rPr>
              <a:t>String analysis, imports and exports</a:t>
            </a:r>
            <a:endParaRPr/>
          </a:p>
          <a:p>
            <a:pPr indent="-317500" lvl="0" marL="457200" rtl="0" algn="l">
              <a:lnSpc>
                <a:spcPct val="90000"/>
              </a:lnSpc>
              <a:spcBef>
                <a:spcPts val="800"/>
              </a:spcBef>
              <a:spcAft>
                <a:spcPts val="0"/>
              </a:spcAft>
              <a:buClr>
                <a:schemeClr val="dk1"/>
              </a:buClr>
              <a:buSzPts val="1400"/>
              <a:buChar char="•"/>
            </a:pPr>
            <a:r>
              <a:rPr lang="en-GB">
                <a:solidFill>
                  <a:schemeClr val="lt1"/>
                </a:solidFill>
              </a:rPr>
              <a:t>	</a:t>
            </a:r>
            <a:endParaRPr>
              <a:solidFill>
                <a:schemeClr val="lt1"/>
              </a:solidFill>
            </a:endParaRPr>
          </a:p>
        </p:txBody>
      </p:sp>
      <p:sp>
        <p:nvSpPr>
          <p:cNvPr id="290" name="Google Shape;290;p39"/>
          <p:cNvSpPr txBox="1"/>
          <p:nvPr>
            <p:ph idx="2" type="body"/>
          </p:nvPr>
        </p:nvSpPr>
        <p:spPr>
          <a:xfrm>
            <a:off x="4629150" y="1369219"/>
            <a:ext cx="3886200" cy="3399728"/>
          </a:xfrm>
          <a:prstGeom prst="rect">
            <a:avLst/>
          </a:prstGeom>
          <a:solidFill>
            <a:srgbClr val="3A3838"/>
          </a:solidFill>
          <a:ln>
            <a:noFill/>
          </a:ln>
        </p:spPr>
        <p:txBody>
          <a:bodyPr anchorCtr="0" anchor="t" bIns="34275" lIns="68575" spcFirstLastPara="1" rIns="68575" wrap="square" tIns="34275">
            <a:normAutofit lnSpcReduction="10000"/>
          </a:bodyPr>
          <a:lstStyle/>
          <a:p>
            <a:pPr indent="0" lvl="0" marL="139700" rtl="0" algn="l">
              <a:lnSpc>
                <a:spcPct val="90000"/>
              </a:lnSpc>
              <a:spcBef>
                <a:spcPts val="800"/>
              </a:spcBef>
              <a:spcAft>
                <a:spcPts val="0"/>
              </a:spcAft>
              <a:buSzPts val="1400"/>
              <a:buNone/>
            </a:pPr>
            <a:r>
              <a:rPr lang="en-GB" sz="2600">
                <a:solidFill>
                  <a:schemeClr val="lt1"/>
                </a:solidFill>
              </a:rPr>
              <a:t>DYNAMIC ANALYSIS</a:t>
            </a:r>
            <a:endParaRPr/>
          </a:p>
          <a:p>
            <a:pPr indent="-317500" lvl="0" marL="457200" rtl="0" algn="l">
              <a:lnSpc>
                <a:spcPct val="90000"/>
              </a:lnSpc>
              <a:spcBef>
                <a:spcPts val="800"/>
              </a:spcBef>
              <a:spcAft>
                <a:spcPts val="0"/>
              </a:spcAft>
              <a:buClr>
                <a:schemeClr val="dk1"/>
              </a:buClr>
              <a:buSzPts val="1400"/>
              <a:buChar char="•"/>
            </a:pPr>
            <a:r>
              <a:rPr lang="en-GB" sz="2000">
                <a:solidFill>
                  <a:schemeClr val="lt1"/>
                </a:solidFill>
              </a:rPr>
              <a:t>Running and observing the program live</a:t>
            </a:r>
            <a:endParaRPr/>
          </a:p>
          <a:p>
            <a:pPr indent="-317500" lvl="0" marL="457200" rtl="0" algn="l">
              <a:lnSpc>
                <a:spcPct val="90000"/>
              </a:lnSpc>
              <a:spcBef>
                <a:spcPts val="800"/>
              </a:spcBef>
              <a:spcAft>
                <a:spcPts val="0"/>
              </a:spcAft>
              <a:buClr>
                <a:schemeClr val="dk1"/>
              </a:buClr>
              <a:buSzPts val="1400"/>
              <a:buChar char="•"/>
            </a:pPr>
            <a:r>
              <a:rPr lang="en-GB" sz="2000">
                <a:solidFill>
                  <a:schemeClr val="lt1"/>
                </a:solidFill>
              </a:rPr>
              <a:t>Setting breakpoints, stepping through code</a:t>
            </a:r>
            <a:endParaRPr/>
          </a:p>
          <a:p>
            <a:pPr indent="-317500" lvl="0" marL="457200" rtl="0" algn="l">
              <a:lnSpc>
                <a:spcPct val="90000"/>
              </a:lnSpc>
              <a:spcBef>
                <a:spcPts val="800"/>
              </a:spcBef>
              <a:spcAft>
                <a:spcPts val="0"/>
              </a:spcAft>
              <a:buClr>
                <a:schemeClr val="dk1"/>
              </a:buClr>
              <a:buSzPts val="1400"/>
              <a:buChar char="•"/>
            </a:pPr>
            <a:r>
              <a:rPr lang="en-GB" sz="2000">
                <a:solidFill>
                  <a:schemeClr val="lt1"/>
                </a:solidFill>
              </a:rPr>
              <a:t>Inspecting registers during runtime</a:t>
            </a:r>
            <a:endParaRPr/>
          </a:p>
          <a:p>
            <a:pPr indent="-317500" lvl="0" marL="457200" rtl="0" algn="l">
              <a:lnSpc>
                <a:spcPct val="90000"/>
              </a:lnSpc>
              <a:spcBef>
                <a:spcPts val="800"/>
              </a:spcBef>
              <a:spcAft>
                <a:spcPts val="0"/>
              </a:spcAft>
              <a:buClr>
                <a:schemeClr val="dk1"/>
              </a:buClr>
              <a:buSzPts val="1400"/>
              <a:buChar char="•"/>
            </a:pPr>
            <a:r>
              <a:rPr lang="en-GB" sz="2000">
                <a:solidFill>
                  <a:schemeClr val="lt1"/>
                </a:solidFill>
              </a:rPr>
              <a:t>Modifying values during execution</a:t>
            </a:r>
            <a:endParaRPr/>
          </a:p>
          <a:p>
            <a:pPr indent="-317500" lvl="0" marL="457200" rtl="0" algn="l">
              <a:lnSpc>
                <a:spcPct val="90000"/>
              </a:lnSpc>
              <a:spcBef>
                <a:spcPts val="800"/>
              </a:spcBef>
              <a:spcAft>
                <a:spcPts val="0"/>
              </a:spcAft>
              <a:buClr>
                <a:schemeClr val="dk1"/>
              </a:buClr>
              <a:buSzPts val="1400"/>
              <a:buChar char="•"/>
            </a:pPr>
            <a:r>
              <a:rPr lang="en-GB" sz="2000">
                <a:solidFill>
                  <a:schemeClr val="lt1"/>
                </a:solidFill>
              </a:rPr>
              <a:t>Patching memory instructions</a:t>
            </a:r>
            <a:endParaRPr sz="2000">
              <a:solidFill>
                <a:schemeClr val="lt1"/>
              </a:solidFill>
            </a:endParaRPr>
          </a:p>
        </p:txBody>
      </p:sp>
      <p:sp>
        <p:nvSpPr>
          <p:cNvPr id="291" name="Google Shape;291;p39"/>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0"/>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7" name="Google Shape;297;p40"/>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98" name="Google Shape;298;p40"/>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X86_64 Assembly Basics</a:t>
            </a:r>
            <a:endParaRPr b="0" i="0" sz="2900" u="none" cap="none" strike="noStrike">
              <a:solidFill>
                <a:schemeClr val="lt1"/>
              </a:solidFill>
              <a:latin typeface="Consolas"/>
              <a:ea typeface="Consolas"/>
              <a:cs typeface="Consolas"/>
              <a:sym typeface="Consolas"/>
            </a:endParaRPr>
          </a:p>
        </p:txBody>
      </p:sp>
      <p:sp>
        <p:nvSpPr>
          <p:cNvPr id="299" name="Google Shape;299;p40"/>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0" name="Google Shape;300;p40"/>
          <p:cNvSpPr txBox="1"/>
          <p:nvPr/>
        </p:nvSpPr>
        <p:spPr>
          <a:xfrm>
            <a:off x="374650" y="939800"/>
            <a:ext cx="7721600"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The key to disassembly is to understand how to follow the control flow and data movements itself. You do not need to know or memorise how everything works.</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Common registers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RAX – return value, scratch</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RDI, RSI, RDX, RCX, R8, R9 – first six function args (linux)</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RSP – stack pointer</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RBP – base pointer</a:t>
            </a:r>
            <a:endParaRPr/>
          </a:p>
          <a:p>
            <a:pPr indent="0" lvl="0" marL="0" marR="0" rtl="0" algn="l">
              <a:lnSpc>
                <a:spcPct val="100000"/>
              </a:lnSpc>
              <a:spcBef>
                <a:spcPts val="0"/>
              </a:spcBef>
              <a:spcAft>
                <a:spcPts val="0"/>
              </a:spcAft>
              <a:buNone/>
            </a:pPr>
            <a:r>
              <a:t/>
            </a:r>
            <a:endParaRPr b="0" i="0" sz="14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Common instructions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Mov / lea – move data / load effective address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Cmp + je / jne / jz / jg – compare and conditional jumps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Call / ret – function call and return</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Push / pop – stack operations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Xor reg, reg – common for zeroing registers </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Businessman writing on wall" id="301" name="Google Shape;301;p40"/>
          <p:cNvPicPr preferRelativeResize="0"/>
          <p:nvPr/>
        </p:nvPicPr>
        <p:blipFill rotWithShape="1">
          <a:blip r:embed="rId5">
            <a:alphaModFix/>
          </a:blip>
          <a:srcRect b="0" l="0" r="0" t="0"/>
          <a:stretch/>
        </p:blipFill>
        <p:spPr>
          <a:xfrm>
            <a:off x="9858418" y="0"/>
            <a:ext cx="1894807"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5000" fill="hold"/>
                                        <p:tgtEl>
                                          <p:spTgt spid="30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1"/>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41"/>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08" name="Google Shape;308;p41"/>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Tips on where to start</a:t>
            </a:r>
            <a:endParaRPr/>
          </a:p>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 </a:t>
            </a:r>
            <a:endParaRPr b="0" i="0" sz="2900" u="none" cap="none" strike="noStrike">
              <a:solidFill>
                <a:schemeClr val="lt1"/>
              </a:solidFill>
              <a:latin typeface="Consolas"/>
              <a:ea typeface="Consolas"/>
              <a:cs typeface="Consolas"/>
              <a:sym typeface="Consolas"/>
            </a:endParaRPr>
          </a:p>
        </p:txBody>
      </p:sp>
      <p:sp>
        <p:nvSpPr>
          <p:cNvPr id="309" name="Google Shape;309;p41"/>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41"/>
          <p:cNvSpPr txBox="1"/>
          <p:nvPr/>
        </p:nvSpPr>
        <p:spPr>
          <a:xfrm>
            <a:off x="614050" y="1277575"/>
            <a:ext cx="7337254" cy="27699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1.Triage</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File, strings, hex view</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Check for packers (UPX) and signs of obfuscation</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2.Static Analysis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Use tools such as Ghidra/IDA, look specifically at imports, strings, and graph view</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Find main/entry point, look for function calls, XOR </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3.Dynamic Analysis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Run a debugger (gdb/x64dbg) </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Set breakpoints throughout certain functions the raise interest/suspicion </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Inspect registers and memory addresses</a:t>
            </a:r>
            <a:endParaRPr/>
          </a:p>
        </p:txBody>
      </p:sp>
    </p:spTree>
  </p:cSld>
  <p:clrMapOvr>
    <a:masterClrMapping/>
  </p:clrMapOvr>
  <p:transition spd="slow" p14:dur="800">
    <p:circl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2"/>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42"/>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17" name="Google Shape;317;p42"/>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Finding Information </a:t>
            </a:r>
            <a:endParaRPr b="0" i="0" sz="2900" u="none" cap="none" strike="noStrike">
              <a:solidFill>
                <a:schemeClr val="lt1"/>
              </a:solidFill>
              <a:latin typeface="Consolas"/>
              <a:ea typeface="Consolas"/>
              <a:cs typeface="Consolas"/>
              <a:sym typeface="Consolas"/>
            </a:endParaRPr>
          </a:p>
        </p:txBody>
      </p:sp>
      <p:sp>
        <p:nvSpPr>
          <p:cNvPr id="318" name="Google Shape;318;p42"/>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2"/>
          <p:cNvSpPr txBox="1"/>
          <p:nvPr/>
        </p:nvSpPr>
        <p:spPr>
          <a:xfrm>
            <a:off x="614050" y="1277575"/>
            <a:ext cx="7337254"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Strings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B0F0"/>
                </a:solidFill>
                <a:latin typeface="Arial"/>
                <a:ea typeface="Arial"/>
                <a:cs typeface="Arial"/>
                <a:sym typeface="Arial"/>
              </a:rPr>
              <a:t>Strings binary | less</a:t>
            </a:r>
            <a:r>
              <a:rPr b="0" i="0" lang="en-GB" sz="1400" u="none" cap="none" strike="noStrike">
                <a:solidFill>
                  <a:schemeClr val="lt1"/>
                </a:solidFill>
                <a:latin typeface="Arial"/>
                <a:ea typeface="Arial"/>
                <a:cs typeface="Arial"/>
                <a:sym typeface="Arial"/>
              </a:rPr>
              <a:t> – look for URLs, error messages, file paths, format strings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Often gives away program purpose</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Symbols and imports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FFC000"/>
                </a:solidFill>
                <a:latin typeface="Arial"/>
                <a:ea typeface="Arial"/>
                <a:cs typeface="Arial"/>
                <a:sym typeface="Arial"/>
              </a:rPr>
              <a:t>Objdump –d –M intel example </a:t>
            </a:r>
            <a:r>
              <a:rPr b="0" i="0" lang="en-GB" sz="1400" u="none" cap="none" strike="noStrike">
                <a:solidFill>
                  <a:schemeClr val="lt1"/>
                </a:solidFill>
                <a:latin typeface="Arial"/>
                <a:ea typeface="Arial"/>
                <a:cs typeface="Arial"/>
                <a:sym typeface="Arial"/>
              </a:rPr>
              <a:t>– disassemble executable sections, intl style mnemonics, show registers as numbers</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Hashes and IOCs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Md5sum / sha256sum – sample tracking</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VirusTotal – potentially known malware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d5c4a5a289_0_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g3d5c4a5a289_0_4"/>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26" name="Google Shape;326;g3d5c4a5a289_0_4"/>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Reverse Engineering Tools</a:t>
            </a:r>
            <a:endParaRPr b="0" i="0" sz="2900" u="none" cap="none" strike="noStrike">
              <a:solidFill>
                <a:schemeClr val="lt1"/>
              </a:solidFill>
              <a:latin typeface="Consolas"/>
              <a:ea typeface="Consolas"/>
              <a:cs typeface="Consolas"/>
              <a:sym typeface="Consolas"/>
            </a:endParaRPr>
          </a:p>
        </p:txBody>
      </p:sp>
      <p:sp>
        <p:nvSpPr>
          <p:cNvPr id="327" name="Google Shape;327;g3d5c4a5a289_0_4"/>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g3d5c4a5a289_0_4"/>
          <p:cNvSpPr txBox="1"/>
          <p:nvPr/>
        </p:nvSpPr>
        <p:spPr>
          <a:xfrm>
            <a:off x="614050" y="1146048"/>
            <a:ext cx="7615500" cy="252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800" u="none" cap="none" strike="noStrike">
                <a:solidFill>
                  <a:schemeClr val="lt1"/>
                </a:solidFill>
                <a:latin typeface="Arial"/>
                <a:ea typeface="Arial"/>
                <a:cs typeface="Arial"/>
                <a:sym typeface="Arial"/>
              </a:rPr>
              <a:t>IDA	</a:t>
            </a:r>
            <a:r>
              <a:rPr b="0" i="0" lang="en-GB" sz="1800" u="none" cap="none" strike="noStrike">
                <a:solidFill>
                  <a:srgbClr val="FFFF00"/>
                </a:solidFill>
                <a:latin typeface="Arial"/>
                <a:ea typeface="Arial"/>
                <a:cs typeface="Arial"/>
                <a:sym typeface="Arial"/>
              </a:rPr>
              <a:t>Static</a:t>
            </a:r>
            <a:r>
              <a:rPr b="0" i="0" lang="en-GB" sz="1800" u="none" cap="none" strike="noStrike">
                <a:solidFill>
                  <a:schemeClr val="lt1"/>
                </a:solidFill>
                <a:latin typeface="Arial"/>
                <a:ea typeface="Arial"/>
                <a:cs typeface="Arial"/>
                <a:sym typeface="Arial"/>
              </a:rPr>
              <a:t> Disassembler</a:t>
            </a:r>
            <a:endParaRPr/>
          </a:p>
          <a:p>
            <a:pPr indent="0" lvl="0" marL="0" marR="0" rtl="0" algn="l">
              <a:lnSpc>
                <a:spcPct val="100000"/>
              </a:lnSpc>
              <a:spcBef>
                <a:spcPts val="0"/>
              </a:spcBef>
              <a:spcAft>
                <a:spcPts val="0"/>
              </a:spcAft>
              <a:buNone/>
            </a:pPr>
            <a:r>
              <a:rPr b="0" i="0" lang="en-GB" sz="1800" u="none" cap="none" strike="noStrike">
                <a:solidFill>
                  <a:schemeClr val="lt1"/>
                </a:solidFill>
                <a:latin typeface="Arial"/>
                <a:ea typeface="Arial"/>
                <a:cs typeface="Arial"/>
                <a:sym typeface="Arial"/>
              </a:rPr>
              <a:t>Ghidra	</a:t>
            </a:r>
            <a:r>
              <a:rPr b="0" i="0" lang="en-GB" sz="1800" u="none" cap="none" strike="noStrike">
                <a:solidFill>
                  <a:srgbClr val="FFFF00"/>
                </a:solidFill>
                <a:latin typeface="Arial"/>
                <a:ea typeface="Arial"/>
                <a:cs typeface="Arial"/>
                <a:sym typeface="Arial"/>
              </a:rPr>
              <a:t>Static</a:t>
            </a:r>
            <a:r>
              <a:rPr b="0" i="0" lang="en-GB" sz="1800" u="none" cap="none" strike="noStrike">
                <a:solidFill>
                  <a:schemeClr val="lt1"/>
                </a:solidFill>
                <a:latin typeface="Arial"/>
                <a:ea typeface="Arial"/>
                <a:cs typeface="Arial"/>
                <a:sym typeface="Arial"/>
              </a:rPr>
              <a:t> Decompiler</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800" u="none" cap="none" strike="noStrike">
                <a:solidFill>
                  <a:schemeClr val="lt1"/>
                </a:solidFill>
                <a:latin typeface="Arial"/>
                <a:ea typeface="Arial"/>
                <a:cs typeface="Arial"/>
                <a:sym typeface="Arial"/>
              </a:rPr>
              <a:t>Radare2	</a:t>
            </a:r>
            <a:r>
              <a:rPr b="0" i="0" lang="en-GB" sz="1800" u="none" cap="none" strike="noStrike">
                <a:solidFill>
                  <a:srgbClr val="FFFF00"/>
                </a:solidFill>
                <a:latin typeface="Arial"/>
                <a:ea typeface="Arial"/>
                <a:cs typeface="Arial"/>
                <a:sym typeface="Arial"/>
              </a:rPr>
              <a:t>Static</a:t>
            </a:r>
            <a:r>
              <a:rPr b="0" i="0" lang="en-GB" sz="1800" u="none" cap="none" strike="noStrike">
                <a:solidFill>
                  <a:schemeClr val="lt1"/>
                </a:solidFill>
                <a:latin typeface="Arial"/>
                <a:ea typeface="Arial"/>
                <a:cs typeface="Arial"/>
                <a:sym typeface="Arial"/>
              </a:rPr>
              <a:t> Disassembler, Decompiler, Debugger</a:t>
            </a:r>
            <a:endParaRPr/>
          </a:p>
          <a:p>
            <a:pPr indent="0" lvl="0" marL="0" marR="0" rtl="0" algn="l">
              <a:lnSpc>
                <a:spcPct val="100000"/>
              </a:lnSpc>
              <a:spcBef>
                <a:spcPts val="0"/>
              </a:spcBef>
              <a:spcAft>
                <a:spcPts val="0"/>
              </a:spcAft>
              <a:buNone/>
            </a:pPr>
            <a:r>
              <a:rPr b="0" i="0" lang="en-GB" sz="1800" u="none" cap="none" strike="noStrike">
                <a:solidFill>
                  <a:schemeClr val="lt1"/>
                </a:solidFill>
                <a:latin typeface="Arial"/>
                <a:ea typeface="Arial"/>
                <a:cs typeface="Arial"/>
                <a:sym typeface="Arial"/>
              </a:rPr>
              <a:t>GDB	</a:t>
            </a:r>
            <a:r>
              <a:rPr b="0" i="0" lang="en-GB" sz="1800" u="none" cap="none" strike="noStrike">
                <a:solidFill>
                  <a:srgbClr val="00B050"/>
                </a:solidFill>
                <a:latin typeface="Arial"/>
                <a:ea typeface="Arial"/>
                <a:cs typeface="Arial"/>
                <a:sym typeface="Arial"/>
              </a:rPr>
              <a:t>Dynamic</a:t>
            </a:r>
            <a:r>
              <a:rPr b="0" i="0" lang="en-GB" sz="1800" u="none" cap="none" strike="noStrike">
                <a:solidFill>
                  <a:schemeClr val="lt1"/>
                </a:solidFill>
                <a:latin typeface="Arial"/>
                <a:ea typeface="Arial"/>
                <a:cs typeface="Arial"/>
                <a:sym typeface="Arial"/>
              </a:rPr>
              <a:t> Debugger</a:t>
            </a:r>
            <a:endParaRPr/>
          </a:p>
          <a:p>
            <a:pPr indent="0" lvl="0" marL="0" marR="0" rtl="0" algn="l">
              <a:lnSpc>
                <a:spcPct val="100000"/>
              </a:lnSpc>
              <a:spcBef>
                <a:spcPts val="0"/>
              </a:spcBef>
              <a:spcAft>
                <a:spcPts val="0"/>
              </a:spcAft>
              <a:buNone/>
            </a:pPr>
            <a:r>
              <a:rPr b="0" i="0" lang="en-GB" sz="1800" u="none" cap="none" strike="noStrike">
                <a:solidFill>
                  <a:schemeClr val="lt1"/>
                </a:solidFill>
                <a:latin typeface="Arial"/>
                <a:ea typeface="Arial"/>
                <a:cs typeface="Arial"/>
                <a:sym typeface="Arial"/>
              </a:rPr>
              <a:t>X64dg	</a:t>
            </a:r>
            <a:r>
              <a:rPr b="0" i="0" lang="en-GB" sz="1800" u="none" cap="none" strike="noStrike">
                <a:solidFill>
                  <a:srgbClr val="00B050"/>
                </a:solidFill>
                <a:latin typeface="Arial"/>
                <a:ea typeface="Arial"/>
                <a:cs typeface="Arial"/>
                <a:sym typeface="Arial"/>
              </a:rPr>
              <a:t>Dynamic </a:t>
            </a:r>
            <a:r>
              <a:rPr b="0" i="0" lang="en-GB" sz="1800" u="none" cap="none" strike="noStrike">
                <a:solidFill>
                  <a:schemeClr val="lt1"/>
                </a:solidFill>
                <a:latin typeface="Arial"/>
                <a:ea typeface="Arial"/>
                <a:cs typeface="Arial"/>
                <a:sym typeface="Arial"/>
              </a:rPr>
              <a:t>Debugger</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sz="1800">
              <a:solidFill>
                <a:schemeClr val="lt1"/>
              </a:solidFill>
            </a:endParaRPr>
          </a:p>
          <a:p>
            <a:pPr indent="0" lvl="0" marL="0" marR="0" rtl="0" algn="l">
              <a:lnSpc>
                <a:spcPct val="100000"/>
              </a:lnSpc>
              <a:spcBef>
                <a:spcPts val="0"/>
              </a:spcBef>
              <a:spcAft>
                <a:spcPts val="0"/>
              </a:spcAft>
              <a:buNone/>
            </a:pPr>
            <a:r>
              <a:rPr lang="en-GB" sz="1800">
                <a:solidFill>
                  <a:schemeClr val="lt1"/>
                </a:solidFill>
              </a:rPr>
              <a:t>PDFiD	</a:t>
            </a:r>
            <a:r>
              <a:rPr lang="en-GB" sz="1800">
                <a:solidFill>
                  <a:srgbClr val="FFFF00"/>
                </a:solidFill>
              </a:rPr>
              <a:t>static </a:t>
            </a:r>
            <a:r>
              <a:rPr lang="en-GB" sz="1800">
                <a:solidFill>
                  <a:schemeClr val="lt1"/>
                </a:solidFill>
              </a:rPr>
              <a:t>analysis tool</a:t>
            </a:r>
            <a:endParaRPr sz="1800">
              <a:solidFill>
                <a:schemeClr val="lt1"/>
              </a:solidFill>
            </a:endParaRPr>
          </a:p>
          <a:p>
            <a:pPr indent="0" lvl="0" marL="0" marR="0" rtl="0" algn="l">
              <a:lnSpc>
                <a:spcPct val="100000"/>
              </a:lnSpc>
              <a:spcBef>
                <a:spcPts val="0"/>
              </a:spcBef>
              <a:spcAft>
                <a:spcPts val="0"/>
              </a:spcAft>
              <a:buNone/>
            </a:pPr>
            <a:r>
              <a:rPr lang="en-GB" sz="1800">
                <a:solidFill>
                  <a:schemeClr val="lt1"/>
                </a:solidFill>
              </a:rPr>
              <a:t>Pdfparser </a:t>
            </a:r>
            <a:r>
              <a:rPr lang="en-GB" sz="1800">
                <a:solidFill>
                  <a:srgbClr val="FFFF00"/>
                </a:solidFill>
              </a:rPr>
              <a:t>static </a:t>
            </a:r>
            <a:r>
              <a:rPr lang="en-GB" sz="1800">
                <a:solidFill>
                  <a:schemeClr val="lt1"/>
                </a:solidFill>
              </a:rPr>
              <a:t>analysis tool</a:t>
            </a:r>
            <a:endParaRPr sz="1800">
              <a:solidFill>
                <a:schemeClr val="lt1"/>
              </a:solidFill>
            </a:endParaRPr>
          </a:p>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	</a:t>
            </a:r>
            <a:endParaRPr b="0" i="0" sz="1400" u="none" cap="none" strike="noStrike">
              <a:solidFill>
                <a:schemeClr val="lt1"/>
              </a:solidFill>
              <a:latin typeface="Arial"/>
              <a:ea typeface="Arial"/>
              <a:cs typeface="Arial"/>
              <a:sym typeface="Arial"/>
            </a:endParaRPr>
          </a:p>
        </p:txBody>
      </p:sp>
      <p:pic>
        <p:nvPicPr>
          <p:cNvPr descr="Businessman counting two" id="329" name="Google Shape;329;g3d5c4a5a289_0_4"/>
          <p:cNvPicPr preferRelativeResize="0"/>
          <p:nvPr/>
        </p:nvPicPr>
        <p:blipFill rotWithShape="1">
          <a:blip r:embed="rId5">
            <a:alphaModFix/>
          </a:blip>
          <a:srcRect b="0" l="0" r="0" t="0"/>
          <a:stretch/>
        </p:blipFill>
        <p:spPr>
          <a:xfrm>
            <a:off x="6270231" y="206734"/>
            <a:ext cx="1769529" cy="493676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9"/>
                                        </p:tgtEl>
                                        <p:attrNameLst>
                                          <p:attrName>style.visibility</p:attrName>
                                        </p:attrNameLst>
                                      </p:cBhvr>
                                      <p:to>
                                        <p:strVal val="visible"/>
                                      </p:to>
                                    </p:set>
                                    <p:anim calcmode="lin" valueType="num">
                                      <p:cBhvr additive="base">
                                        <p:cTn dur="5000"/>
                                        <p:tgtEl>
                                          <p:spTgt spid="329"/>
                                        </p:tgtEl>
                                        <p:attrNameLst>
                                          <p:attrName>ppt_w</p:attrName>
                                        </p:attrNameLst>
                                      </p:cBhvr>
                                      <p:tavLst>
                                        <p:tav fmla="" tm="0">
                                          <p:val>
                                            <p:strVal val="0"/>
                                          </p:val>
                                        </p:tav>
                                        <p:tav fmla="" tm="100000">
                                          <p:val>
                                            <p:strVal val="#ppt_w"/>
                                          </p:val>
                                        </p:tav>
                                      </p:tavLst>
                                    </p:anim>
                                    <p:anim calcmode="lin" valueType="num">
                                      <p:cBhvr additive="base">
                                        <p:cTn dur="5000"/>
                                        <p:tgtEl>
                                          <p:spTgt spid="32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d5c4a5a289_0_11"/>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g3d5c4a5a289_0_11"/>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36" name="Google Shape;336;g3d5c4a5a289_0_11"/>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IDA free/pro</a:t>
            </a:r>
            <a:endParaRPr b="0" i="0" sz="2900" u="none" cap="none" strike="noStrike">
              <a:solidFill>
                <a:schemeClr val="lt1"/>
              </a:solidFill>
              <a:latin typeface="Consolas"/>
              <a:ea typeface="Consolas"/>
              <a:cs typeface="Consolas"/>
              <a:sym typeface="Consolas"/>
            </a:endParaRPr>
          </a:p>
        </p:txBody>
      </p:sp>
      <p:sp>
        <p:nvSpPr>
          <p:cNvPr id="337" name="Google Shape;337;g3d5c4a5a289_0_11"/>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File:Mme de Maintenon.jpg - Wikimedia Commons" id="338" name="Google Shape;338;g3d5c4a5a289_0_11"/>
          <p:cNvPicPr preferRelativeResize="0"/>
          <p:nvPr/>
        </p:nvPicPr>
        <p:blipFill rotWithShape="1">
          <a:blip r:embed="rId5">
            <a:alphaModFix/>
          </a:blip>
          <a:srcRect b="0" l="0" r="0" t="0"/>
          <a:stretch/>
        </p:blipFill>
        <p:spPr>
          <a:xfrm>
            <a:off x="6163250" y="1169700"/>
            <a:ext cx="2269200" cy="2804100"/>
          </a:xfrm>
          <a:prstGeom prst="ellipse">
            <a:avLst/>
          </a:prstGeom>
          <a:noFill/>
          <a:ln>
            <a:noFill/>
          </a:ln>
        </p:spPr>
      </p:pic>
      <p:sp>
        <p:nvSpPr>
          <p:cNvPr id="339" name="Google Shape;339;g3d5c4a5a289_0_11"/>
          <p:cNvSpPr txBox="1"/>
          <p:nvPr/>
        </p:nvSpPr>
        <p:spPr>
          <a:xfrm>
            <a:off x="426720" y="1036320"/>
            <a:ext cx="4767072" cy="335476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Interactive Disassembler, Developed by Hex-Rays</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Basic Overview</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Hex-Rays Decompiler generates pseudocode from the disassembly</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Supports x86 (32-bit), x64, ARM, MIPS, PPC architecture</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Implements Cross-References (Xrefs) to track where functions and data are called/referenced from</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43"/>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46" name="Google Shape;346;p43"/>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IDA free/pro: Continued</a:t>
            </a:r>
            <a:endParaRPr b="0" i="0" sz="2900" u="none" cap="none" strike="noStrike">
              <a:solidFill>
                <a:schemeClr val="lt1"/>
              </a:solidFill>
              <a:latin typeface="Consolas"/>
              <a:ea typeface="Consolas"/>
              <a:cs typeface="Consolas"/>
              <a:sym typeface="Consolas"/>
            </a:endParaRPr>
          </a:p>
        </p:txBody>
      </p:sp>
      <p:sp>
        <p:nvSpPr>
          <p:cNvPr id="347" name="Google Shape;347;p43"/>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File:Mme de Maintenon.jpg - Wikimedia Commons" id="348" name="Google Shape;348;p43"/>
          <p:cNvPicPr preferRelativeResize="0"/>
          <p:nvPr/>
        </p:nvPicPr>
        <p:blipFill rotWithShape="1">
          <a:blip r:embed="rId5">
            <a:alphaModFix/>
          </a:blip>
          <a:srcRect b="0" l="0" r="0" t="0"/>
          <a:stretch/>
        </p:blipFill>
        <p:spPr>
          <a:xfrm>
            <a:off x="6163250" y="1169700"/>
            <a:ext cx="2269200" cy="2804100"/>
          </a:xfrm>
          <a:prstGeom prst="ellipse">
            <a:avLst/>
          </a:prstGeom>
          <a:noFill/>
          <a:ln>
            <a:noFill/>
          </a:ln>
        </p:spPr>
      </p:pic>
      <p:sp>
        <p:nvSpPr>
          <p:cNvPr id="349" name="Google Shape;349;p43"/>
          <p:cNvSpPr txBox="1"/>
          <p:nvPr/>
        </p:nvSpPr>
        <p:spPr>
          <a:xfrm>
            <a:off x="426720" y="1036320"/>
            <a:ext cx="5544710" cy="42473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600" u="none" cap="none" strike="noStrike">
                <a:solidFill>
                  <a:srgbClr val="D99593"/>
                </a:solidFill>
                <a:latin typeface="Cascadia Code"/>
                <a:ea typeface="Cascadia Code"/>
                <a:cs typeface="Cascadia Code"/>
                <a:sym typeface="Cascadia Code"/>
              </a:rPr>
              <a:t>Key Features</a:t>
            </a:r>
            <a:endParaRPr/>
          </a:p>
          <a:p>
            <a:pPr indent="0" lvl="0" marL="0" marR="0" rtl="0" algn="l">
              <a:lnSpc>
                <a:spcPct val="100000"/>
              </a:lnSpc>
              <a:spcBef>
                <a:spcPts val="0"/>
              </a:spcBef>
              <a:spcAft>
                <a:spcPts val="0"/>
              </a:spcAft>
              <a:buNone/>
            </a:pPr>
            <a:r>
              <a:t/>
            </a:r>
            <a:endParaRPr b="0" i="0" sz="1600" u="none" cap="none" strike="noStrike">
              <a:solidFill>
                <a:srgbClr val="D99593"/>
              </a:solidFill>
              <a:latin typeface="Cascadia Code"/>
              <a:ea typeface="Cascadia Code"/>
              <a:cs typeface="Cascadia Code"/>
              <a:sym typeface="Cascadia Code"/>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Graph view shows the control flow between blocks</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Look at functions, rename variables to better understand processes, add comments as you analyse</a:t>
            </a:r>
            <a:endParaRPr b="0" i="0" sz="1400" u="none" cap="none" strike="noStrike">
              <a:solidFill>
                <a:schemeClr val="lt1"/>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FLIRT signatures auto identify standard library functions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IDAPython scripting for automation</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IDA Pro unlocks more architectures and functionality, scripting, etc (it will cost you an arm, leg and mortgage to get though).</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44"/>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56" name="Google Shape;356;p44"/>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57" name="Google Shape;357;p44"/>
          <p:cNvPicPr preferRelativeResize="0"/>
          <p:nvPr/>
        </p:nvPicPr>
        <p:blipFill rotWithShape="1">
          <a:blip r:embed="rId5">
            <a:alphaModFix/>
          </a:blip>
          <a:srcRect b="0" l="0" r="0" t="0"/>
          <a:stretch/>
        </p:blipFill>
        <p:spPr>
          <a:xfrm>
            <a:off x="2147549" y="4404"/>
            <a:ext cx="4848902" cy="5134692"/>
          </a:xfrm>
          <a:prstGeom prst="rect">
            <a:avLst/>
          </a:prstGeom>
          <a:noFill/>
          <a:ln>
            <a:noFill/>
          </a:ln>
        </p:spPr>
      </p:pic>
    </p:spTree>
  </p:cSld>
  <p:clrMapOvr>
    <a:masterClrMapping/>
  </p:clrMapOvr>
  <mc:AlternateContent>
    <mc:Choice Requires="p14">
      <p:transition spd="slow" p14:dur="5000">
        <p:fade thruBlk="1"/>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45"/>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64" name="Google Shape;364;p45"/>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65" name="Google Shape;365;p45"/>
          <p:cNvPicPr preferRelativeResize="0"/>
          <p:nvPr/>
        </p:nvPicPr>
        <p:blipFill rotWithShape="1">
          <a:blip r:embed="rId5">
            <a:alphaModFix/>
          </a:blip>
          <a:srcRect b="0" l="0" r="0" t="0"/>
          <a:stretch/>
        </p:blipFill>
        <p:spPr>
          <a:xfrm>
            <a:off x="1857548" y="0"/>
            <a:ext cx="5360116"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d5c4a5a289_0_19"/>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g3d5c4a5a289_0_19"/>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72" name="Google Shape;372;g3d5c4a5a289_0_19"/>
          <p:cNvSpPr txBox="1"/>
          <p:nvPr/>
        </p:nvSpPr>
        <p:spPr>
          <a:xfrm>
            <a:off x="608250" y="253250"/>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Ghidra </a:t>
            </a:r>
            <a:endParaRPr b="0" i="0" sz="2900" u="none" cap="none" strike="noStrike">
              <a:solidFill>
                <a:schemeClr val="lt1"/>
              </a:solidFill>
              <a:latin typeface="Consolas"/>
              <a:ea typeface="Consolas"/>
              <a:cs typeface="Consolas"/>
              <a:sym typeface="Consolas"/>
            </a:endParaRPr>
          </a:p>
        </p:txBody>
      </p:sp>
      <p:sp>
        <p:nvSpPr>
          <p:cNvPr id="373" name="Google Shape;373;g3d5c4a5a289_0_19"/>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g3d5c4a5a289_0_19"/>
          <p:cNvSpPr txBox="1"/>
          <p:nvPr/>
        </p:nvSpPr>
        <p:spPr>
          <a:xfrm>
            <a:off x="530650" y="1017450"/>
            <a:ext cx="7148700" cy="36183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Open-source reverse engineering tool created by the NSA</a:t>
            </a:r>
            <a:endParaRPr b="0" i="0" sz="1600" u="none" cap="none" strike="noStrike">
              <a:solidFill>
                <a:schemeClr val="lt1"/>
              </a:solidFill>
              <a:latin typeface="Calibri"/>
              <a:ea typeface="Calibri"/>
              <a:cs typeface="Calibri"/>
              <a:sym typeface="Calibri"/>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Reverse engineers a binary into c code, which can be easier to analyse than assembly language</a:t>
            </a:r>
            <a:endParaRPr b="0" i="0" sz="1600" u="none" cap="none" strike="noStrike">
              <a:solidFill>
                <a:schemeClr val="lt1"/>
              </a:solidFill>
              <a:latin typeface="Calibri"/>
              <a:ea typeface="Calibri"/>
              <a:cs typeface="Calibri"/>
              <a:sym typeface="Calibri"/>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Often a good starting point before moving onto other tools  </a:t>
            </a:r>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‘Ugly’ to use but generally works quite well, at least you don’t have to sell your soul just to use it</a:t>
            </a:r>
            <a:endParaRPr b="0" i="0" sz="16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pic>
        <p:nvPicPr>
          <p:cNvPr id="375" name="Google Shape;375;g3d5c4a5a289_0_19"/>
          <p:cNvPicPr preferRelativeResize="0"/>
          <p:nvPr/>
        </p:nvPicPr>
        <p:blipFill rotWithShape="1">
          <a:blip r:embed="rId5">
            <a:alphaModFix/>
          </a:blip>
          <a:srcRect b="0" l="0" r="0" t="0"/>
          <a:stretch/>
        </p:blipFill>
        <p:spPr>
          <a:xfrm>
            <a:off x="6380110" y="2571750"/>
            <a:ext cx="2446749" cy="2446749"/>
          </a:xfrm>
          <a:prstGeom prst="rect">
            <a:avLst/>
          </a:prstGeom>
          <a:noFill/>
          <a:ln>
            <a:noFill/>
          </a:ln>
        </p:spPr>
      </p:pic>
    </p:spTree>
  </p:cSld>
  <p:clrMapOvr>
    <a:masterClrMapping/>
  </p:clrMapOvr>
  <mc:AlternateContent>
    <mc:Choice Requires="p14">
      <p:transition spd="slow" p14:dur="1250">
        <p14:flip dir="l"/>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d5c4a5a289_0_2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g3d5c4a5a289_0_26"/>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82" name="Google Shape;382;g3d5c4a5a289_0_26"/>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 GDB</a:t>
            </a:r>
            <a:endParaRPr b="0" i="0" sz="2900" u="none" cap="none" strike="noStrike">
              <a:solidFill>
                <a:schemeClr val="lt1"/>
              </a:solidFill>
              <a:latin typeface="Consolas"/>
              <a:ea typeface="Consolas"/>
              <a:cs typeface="Consolas"/>
              <a:sym typeface="Consolas"/>
            </a:endParaRPr>
          </a:p>
        </p:txBody>
      </p:sp>
      <p:sp>
        <p:nvSpPr>
          <p:cNvPr id="383" name="Google Shape;383;g3d5c4a5a289_0_26"/>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g3d5c4a5a289_0_26"/>
          <p:cNvSpPr txBox="1"/>
          <p:nvPr/>
        </p:nvSpPr>
        <p:spPr>
          <a:xfrm>
            <a:off x="614050" y="1097280"/>
            <a:ext cx="6908414" cy="39703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B050"/>
                </a:solidFill>
                <a:latin typeface="Arial"/>
                <a:ea typeface="Arial"/>
                <a:cs typeface="Arial"/>
                <a:sym typeface="Arial"/>
              </a:rPr>
              <a:t>GNU Debugger- </a:t>
            </a:r>
            <a:r>
              <a:rPr b="0" i="0" lang="en-GB" sz="1400" u="none" cap="none" strike="noStrike">
                <a:solidFill>
                  <a:schemeClr val="lt1"/>
                </a:solidFill>
                <a:latin typeface="Arial"/>
                <a:ea typeface="Arial"/>
                <a:cs typeface="Arial"/>
                <a:sym typeface="Arial"/>
              </a:rPr>
              <a:t>standard CLI debugger for Linux, portable across many Unix-like systems. Free</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Can be a bit daunting to use at first, but a powerful debugging tool.</a:t>
            </a:r>
            <a:endParaRPr/>
          </a:p>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Allows you to run programs step by step, and setting breakpoints at specific memory locations to understand how the code works and fix bugs efficiently.</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GB" sz="1400" u="none" cap="none" strike="noStrike">
                <a:solidFill>
                  <a:srgbClr val="C00000"/>
                </a:solidFill>
                <a:latin typeface="Arial"/>
                <a:ea typeface="Arial"/>
                <a:cs typeface="Arial"/>
                <a:sym typeface="Arial"/>
              </a:rPr>
              <a:t>Useful commands: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Break &lt;address/function&gt;</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Run, ni – run and step at next instruction level</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Info registers, disassemble – inspect state and memory</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Set $rax = 1 - patch values in run-time to bypass checks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x/nfu &lt;address&gt; - examine memory at specific address,</a:t>
            </a:r>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chemeClr val="lt1"/>
                </a:solidFill>
                <a:latin typeface="Arial"/>
                <a:ea typeface="Arial"/>
                <a:cs typeface="Arial"/>
                <a:sym typeface="Arial"/>
              </a:rPr>
              <a:t>list &lt;file&gt;, &lt;line&gt; - Display source code around a specific line</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85" name="Google Shape;385;g3d5c4a5a289_0_26"/>
          <p:cNvPicPr preferRelativeResize="0"/>
          <p:nvPr/>
        </p:nvPicPr>
        <p:blipFill rotWithShape="1">
          <a:blip r:embed="rId5">
            <a:alphaModFix/>
          </a:blip>
          <a:srcRect b="0" l="0" r="0" t="0"/>
          <a:stretch/>
        </p:blipFill>
        <p:spPr>
          <a:xfrm>
            <a:off x="6160300" y="2334726"/>
            <a:ext cx="2381250" cy="1495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3e1d0619a29_0_0"/>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g3e1d0619a29_0_0"/>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g3e1d0619a29_0_0"/>
          <p:cNvSpPr txBox="1"/>
          <p:nvPr/>
        </p:nvSpPr>
        <p:spPr>
          <a:xfrm>
            <a:off x="614050" y="1097280"/>
            <a:ext cx="6908400" cy="338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GB">
                <a:solidFill>
                  <a:schemeClr val="lt1"/>
                </a:solidFill>
              </a:rPr>
              <a:t>Static analysis tool that is used to triage potentially malicious or hidden information within PDF files</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rPr lang="en-GB" sz="1600">
                <a:solidFill>
                  <a:srgbClr val="F4CCCC"/>
                </a:solidFill>
                <a:latin typeface="Cascadia Code"/>
                <a:ea typeface="Cascadia Code"/>
                <a:cs typeface="Cascadia Code"/>
                <a:sym typeface="Cascadia Code"/>
              </a:rPr>
              <a:t>What it does</a:t>
            </a:r>
            <a:endParaRPr sz="1600">
              <a:solidFill>
                <a:srgbClr val="F4CCCC"/>
              </a:solidFill>
              <a:latin typeface="Cascadia Code"/>
              <a:ea typeface="Cascadia Code"/>
              <a:cs typeface="Cascadia Code"/>
              <a:sym typeface="Cascadia Code"/>
            </a:endParaRPr>
          </a:p>
          <a:p>
            <a:pPr indent="-317500" lvl="0" marL="457200" marR="0" rtl="0" algn="l">
              <a:lnSpc>
                <a:spcPct val="100000"/>
              </a:lnSpc>
              <a:spcBef>
                <a:spcPts val="0"/>
              </a:spcBef>
              <a:spcAft>
                <a:spcPts val="0"/>
              </a:spcAft>
              <a:buClr>
                <a:schemeClr val="lt1"/>
              </a:buClr>
              <a:buSzPts val="1400"/>
              <a:buChar char="●"/>
            </a:pPr>
            <a:r>
              <a:rPr lang="en-GB">
                <a:solidFill>
                  <a:schemeClr val="lt1"/>
                </a:solidFill>
              </a:rPr>
              <a:t>Scans raw PDF structure without opening or executing anything</a:t>
            </a:r>
            <a:endParaRPr>
              <a:solidFill>
                <a:schemeClr val="lt1"/>
              </a:solidFill>
            </a:endParaRPr>
          </a:p>
          <a:p>
            <a:pPr indent="-317500" lvl="0" marL="457200" marR="0" rtl="0" algn="l">
              <a:lnSpc>
                <a:spcPct val="100000"/>
              </a:lnSpc>
              <a:spcBef>
                <a:spcPts val="0"/>
              </a:spcBef>
              <a:spcAft>
                <a:spcPts val="0"/>
              </a:spcAft>
              <a:buClr>
                <a:schemeClr val="lt1"/>
              </a:buClr>
              <a:buSzPts val="1400"/>
              <a:buChar char="●"/>
            </a:pPr>
            <a:r>
              <a:rPr lang="en-GB">
                <a:solidFill>
                  <a:schemeClr val="lt1"/>
                </a:solidFill>
              </a:rPr>
              <a:t>Safe for first stage static analysis</a:t>
            </a:r>
            <a:endParaRPr>
              <a:solidFill>
                <a:schemeClr val="lt1"/>
              </a:solidFill>
            </a:endParaRPr>
          </a:p>
          <a:p>
            <a:pPr indent="-317500" lvl="0" marL="457200" marR="0" rtl="0" algn="l">
              <a:lnSpc>
                <a:spcPct val="100000"/>
              </a:lnSpc>
              <a:spcBef>
                <a:spcPts val="0"/>
              </a:spcBef>
              <a:spcAft>
                <a:spcPts val="0"/>
              </a:spcAft>
              <a:buClr>
                <a:schemeClr val="lt1"/>
              </a:buClr>
              <a:buSzPts val="1400"/>
              <a:buChar char="●"/>
            </a:pPr>
            <a:r>
              <a:rPr lang="en-GB">
                <a:solidFill>
                  <a:schemeClr val="lt1"/>
                </a:solidFill>
              </a:rPr>
              <a:t>Useful as it gives a fast indication of whether something is hidden within </a:t>
            </a:r>
            <a:endParaRPr>
              <a:solidFill>
                <a:schemeClr val="lt1"/>
              </a:solidFill>
            </a:endParaRPr>
          </a:p>
          <a:p>
            <a:pPr indent="-317500" lvl="0" marL="457200" marR="0" rtl="0" algn="l">
              <a:lnSpc>
                <a:spcPct val="100000"/>
              </a:lnSpc>
              <a:spcBef>
                <a:spcPts val="0"/>
              </a:spcBef>
              <a:spcAft>
                <a:spcPts val="0"/>
              </a:spcAft>
              <a:buClr>
                <a:schemeClr val="lt1"/>
              </a:buClr>
              <a:buSzPts val="1400"/>
              <a:buChar char="●"/>
            </a:pPr>
            <a:r>
              <a:rPr lang="en-GB">
                <a:solidFill>
                  <a:schemeClr val="lt1"/>
                </a:solidFill>
              </a:rPr>
              <a:t>Finds embedded scripts (JS) / Files</a:t>
            </a:r>
            <a:endParaRPr>
              <a:solidFill>
                <a:schemeClr val="lt1"/>
              </a:solidFill>
            </a:endParaRPr>
          </a:p>
          <a:p>
            <a:pPr indent="-317500" lvl="0" marL="457200" marR="0" rtl="0" algn="l">
              <a:lnSpc>
                <a:spcPct val="100000"/>
              </a:lnSpc>
              <a:spcBef>
                <a:spcPts val="0"/>
              </a:spcBef>
              <a:spcAft>
                <a:spcPts val="0"/>
              </a:spcAft>
              <a:buClr>
                <a:schemeClr val="lt1"/>
              </a:buClr>
              <a:buSzPts val="1400"/>
              <a:buChar char="●"/>
            </a:pPr>
            <a:r>
              <a:rPr lang="en-GB">
                <a:solidFill>
                  <a:schemeClr val="lt1"/>
                </a:solidFill>
              </a:rPr>
              <a:t>Nfinds encoded payloads, shellcode etc</a:t>
            </a:r>
            <a:endParaRPr>
              <a:solidFill>
                <a:schemeClr val="lt1"/>
              </a:solidFill>
            </a:endParaRPr>
          </a:p>
          <a:p>
            <a:pPr indent="0" lvl="0" marL="45720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rPr lang="en-GB" sz="1600">
                <a:solidFill>
                  <a:srgbClr val="F4CCCC"/>
                </a:solidFill>
                <a:latin typeface="Cascadia Code"/>
                <a:ea typeface="Cascadia Code"/>
                <a:cs typeface="Cascadia Code"/>
                <a:sym typeface="Cascadia Code"/>
              </a:rPr>
              <a:t>Next steps</a:t>
            </a:r>
            <a:endParaRPr sz="1600">
              <a:solidFill>
                <a:srgbClr val="F4CCCC"/>
              </a:solidFill>
              <a:latin typeface="Cascadia Code"/>
              <a:ea typeface="Cascadia Code"/>
              <a:cs typeface="Cascadia Code"/>
              <a:sym typeface="Cascadia Code"/>
            </a:endParaRPr>
          </a:p>
          <a:p>
            <a:pPr indent="-317500" lvl="0" marL="457200" marR="0" rtl="0" algn="l">
              <a:lnSpc>
                <a:spcPct val="100000"/>
              </a:lnSpc>
              <a:spcBef>
                <a:spcPts val="0"/>
              </a:spcBef>
              <a:spcAft>
                <a:spcPts val="0"/>
              </a:spcAft>
              <a:buClr>
                <a:schemeClr val="lt1"/>
              </a:buClr>
              <a:buSzPts val="1400"/>
              <a:buChar char="●"/>
            </a:pPr>
            <a:r>
              <a:rPr lang="en-GB">
                <a:solidFill>
                  <a:schemeClr val="lt1"/>
                </a:solidFill>
              </a:rPr>
              <a:t>Object-level inspection tool (pdfparser .py , peepdf) to extract information</a:t>
            </a:r>
            <a:endParaRPr>
              <a:solidFill>
                <a:schemeClr val="lt1"/>
              </a:solidFill>
            </a:endParaRPr>
          </a:p>
          <a:p>
            <a:pPr indent="-317500" lvl="0" marL="457200" marR="0" rtl="0" algn="l">
              <a:lnSpc>
                <a:spcPct val="100000"/>
              </a:lnSpc>
              <a:spcBef>
                <a:spcPts val="0"/>
              </a:spcBef>
              <a:spcAft>
                <a:spcPts val="0"/>
              </a:spcAft>
              <a:buClr>
                <a:schemeClr val="lt1"/>
              </a:buClr>
              <a:buSzPts val="1400"/>
              <a:buChar char="●"/>
            </a:pPr>
            <a:r>
              <a:rPr lang="en-GB">
                <a:solidFill>
                  <a:schemeClr val="lt1"/>
                </a:solidFill>
              </a:rPr>
              <a:t>Decode and deobfuscate extracted information, inspect flagged objects </a:t>
            </a:r>
            <a:endParaRPr>
              <a:solidFill>
                <a:schemeClr val="lt1"/>
              </a:solidFill>
            </a:endParaRPr>
          </a:p>
          <a:p>
            <a:pPr indent="-317500" lvl="0" marL="457200" marR="0" rtl="0" algn="l">
              <a:lnSpc>
                <a:spcPct val="100000"/>
              </a:lnSpc>
              <a:spcBef>
                <a:spcPts val="0"/>
              </a:spcBef>
              <a:spcAft>
                <a:spcPts val="0"/>
              </a:spcAft>
              <a:buClr>
                <a:schemeClr val="lt1"/>
              </a:buClr>
              <a:buSzPts val="1400"/>
              <a:buChar char="●"/>
            </a:pPr>
            <a:r>
              <a:rPr lang="en-GB">
                <a:solidFill>
                  <a:schemeClr val="lt1"/>
                </a:solidFill>
              </a:rPr>
              <a:t>Determine what is being targeted, what does the extracted information contain</a:t>
            </a:r>
            <a:endParaRPr>
              <a:solidFill>
                <a:schemeClr val="lt1"/>
              </a:solidFill>
            </a:endParaRPr>
          </a:p>
        </p:txBody>
      </p:sp>
      <p:sp>
        <p:nvSpPr>
          <p:cNvPr id="393" name="Google Shape;393;g3e1d0619a29_0_0"/>
          <p:cNvSpPr txBox="1"/>
          <p:nvPr/>
        </p:nvSpPr>
        <p:spPr>
          <a:xfrm>
            <a:off x="218750" y="166325"/>
            <a:ext cx="6499500" cy="63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lt1"/>
                </a:solidFill>
                <a:latin typeface="Consolas"/>
                <a:ea typeface="Consolas"/>
                <a:cs typeface="Consolas"/>
                <a:sym typeface="Consolas"/>
              </a:rPr>
              <a:t>PDFiD</a:t>
            </a:r>
            <a:endParaRPr sz="2600">
              <a:solidFill>
                <a:schemeClr val="lt1"/>
              </a:solidFill>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e1d0619a29_0_10"/>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99" name="Google Shape;399;g3e1d0619a29_0_10"/>
          <p:cNvPicPr preferRelativeResize="0"/>
          <p:nvPr/>
        </p:nvPicPr>
        <p:blipFill>
          <a:blip r:embed="rId4">
            <a:alphaModFix/>
          </a:blip>
          <a:stretch>
            <a:fillRect/>
          </a:stretch>
        </p:blipFill>
        <p:spPr>
          <a:xfrm>
            <a:off x="1077525" y="264225"/>
            <a:ext cx="7024501" cy="4738250"/>
          </a:xfrm>
          <a:prstGeom prst="rect">
            <a:avLst/>
          </a:prstGeom>
          <a:noFill/>
          <a:ln>
            <a:noFill/>
          </a:ln>
        </p:spPr>
      </p:pic>
      <p:sp>
        <p:nvSpPr>
          <p:cNvPr id="400" name="Google Shape;400;g3e1d0619a29_0_10"/>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a cartoon smiley face with a speech bubble saying holy . (provided by Tenor)" id="401" name="Google Shape;401;g3e1d0619a29_0_10"/>
          <p:cNvPicPr preferRelativeResize="0"/>
          <p:nvPr/>
        </p:nvPicPr>
        <p:blipFill>
          <a:blip r:embed="rId6">
            <a:alphaModFix/>
          </a:blip>
          <a:stretch>
            <a:fillRect/>
          </a:stretch>
        </p:blipFill>
        <p:spPr>
          <a:xfrm>
            <a:off x="2286000" y="342900"/>
            <a:ext cx="4572000" cy="4457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07" name="Google Shape;407;p46"/>
          <p:cNvPicPr preferRelativeResize="0"/>
          <p:nvPr/>
        </p:nvPicPr>
        <p:blipFill rotWithShape="1">
          <a:blip r:embed="rId4">
            <a:alphaModFix/>
          </a:blip>
          <a:srcRect b="0" l="0" r="0" t="0"/>
          <a:stretch/>
        </p:blipFill>
        <p:spPr>
          <a:xfrm>
            <a:off x="6486525" y="1722800"/>
            <a:ext cx="2143125" cy="2143125"/>
          </a:xfrm>
          <a:prstGeom prst="rect">
            <a:avLst/>
          </a:prstGeom>
          <a:noFill/>
          <a:ln>
            <a:noFill/>
          </a:ln>
        </p:spPr>
      </p:pic>
      <p:sp>
        <p:nvSpPr>
          <p:cNvPr id="408" name="Google Shape;408;p46"/>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09" name="Google Shape;409;p46"/>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x64dbg</a:t>
            </a:r>
            <a:endParaRPr b="0" i="0" sz="2900" u="none" cap="none" strike="noStrike">
              <a:solidFill>
                <a:schemeClr val="lt1"/>
              </a:solidFill>
              <a:latin typeface="Consolas"/>
              <a:ea typeface="Consolas"/>
              <a:cs typeface="Consolas"/>
              <a:sym typeface="Consolas"/>
            </a:endParaRPr>
          </a:p>
        </p:txBody>
      </p:sp>
      <p:sp>
        <p:nvSpPr>
          <p:cNvPr id="410" name="Google Shape;410;p46"/>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6"/>
          <p:cNvSpPr txBox="1"/>
          <p:nvPr/>
        </p:nvSpPr>
        <p:spPr>
          <a:xfrm>
            <a:off x="353125" y="1277575"/>
            <a:ext cx="7674900" cy="3376800"/>
          </a:xfrm>
          <a:prstGeom prst="rect">
            <a:avLst/>
          </a:prstGeom>
          <a:noFill/>
          <a:ln>
            <a:noFill/>
          </a:ln>
        </p:spPr>
        <p:txBody>
          <a:bodyPr anchorCtr="0" anchor="t" bIns="91425" lIns="91425" spcFirstLastPara="1" rIns="91425" wrap="square" tIns="91425">
            <a:noAutofit/>
          </a:bodyPr>
          <a:lstStyle/>
          <a:p>
            <a:pPr indent="0" lvl="0" marL="127000" marR="0" rtl="0" algn="l">
              <a:lnSpc>
                <a:spcPct val="100000"/>
              </a:lnSpc>
              <a:spcBef>
                <a:spcPts val="0"/>
              </a:spcBef>
              <a:spcAft>
                <a:spcPts val="0"/>
              </a:spcAft>
              <a:buNone/>
            </a:pPr>
            <a:r>
              <a:rPr b="0" i="0" lang="en-GB" sz="1600" u="none" cap="none" strike="noStrike">
                <a:solidFill>
                  <a:schemeClr val="lt1"/>
                </a:solidFill>
                <a:latin typeface="Calibri"/>
                <a:ea typeface="Calibri"/>
                <a:cs typeface="Calibri"/>
                <a:sym typeface="Calibri"/>
              </a:rPr>
              <a:t>Open-source dynamic debugger for Windows binaries – free alternative to OllyDbg</a:t>
            </a:r>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Beginner friendly</a:t>
            </a:r>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UI easy to use and follow</a:t>
            </a:r>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 ships with both 32-bit and 64-bit versions</a:t>
            </a:r>
            <a:endParaRPr/>
          </a:p>
          <a:p>
            <a:pPr indent="-330200" lvl="0" marL="457200" marR="0" rtl="0" algn="l">
              <a:lnSpc>
                <a:spcPct val="100000"/>
              </a:lnSpc>
              <a:spcBef>
                <a:spcPts val="0"/>
              </a:spcBef>
              <a:spcAft>
                <a:spcPts val="0"/>
              </a:spcAft>
              <a:buClr>
                <a:schemeClr val="lt1"/>
              </a:buClr>
              <a:buSzPts val="1600"/>
              <a:buFont typeface="Calibri"/>
              <a:buChar char="●"/>
            </a:pPr>
            <a:r>
              <a:rPr b="0" i="0" lang="en-GB" sz="1600" u="none" cap="none" strike="noStrike">
                <a:solidFill>
                  <a:schemeClr val="lt1"/>
                </a:solidFill>
                <a:latin typeface="Calibri"/>
                <a:ea typeface="Calibri"/>
                <a:cs typeface="Calibri"/>
                <a:sym typeface="Calibri"/>
              </a:rPr>
              <a:t>Has a plugin ecosystem which can be used to extend functionality </a:t>
            </a:r>
            <a:endParaRPr/>
          </a:p>
          <a:p>
            <a:pPr indent="0" lvl="0" marL="127000" marR="0" rtl="0" algn="l">
              <a:lnSpc>
                <a:spcPct val="100000"/>
              </a:lnSpc>
              <a:spcBef>
                <a:spcPts val="0"/>
              </a:spcBef>
              <a:spcAft>
                <a:spcPts val="0"/>
              </a:spcAft>
              <a:buNone/>
            </a:pPr>
            <a:r>
              <a:t/>
            </a:r>
            <a:endParaRPr b="0" i="0" sz="1600" u="none" cap="none" strike="noStrike">
              <a:solidFill>
                <a:schemeClr val="lt1"/>
              </a:solidFill>
              <a:latin typeface="Calibri"/>
              <a:ea typeface="Calibri"/>
              <a:cs typeface="Calibri"/>
              <a:sym typeface="Calibri"/>
            </a:endParaRPr>
          </a:p>
          <a:p>
            <a:pPr indent="0" lvl="0" marL="127000" marR="0" rtl="0" algn="l">
              <a:lnSpc>
                <a:spcPct val="100000"/>
              </a:lnSpc>
              <a:spcBef>
                <a:spcPts val="0"/>
              </a:spcBef>
              <a:spcAft>
                <a:spcPts val="0"/>
              </a:spcAft>
              <a:buNone/>
            </a:pPr>
            <a:r>
              <a:rPr b="0" i="0" lang="en-GB" sz="1600" u="none" cap="none" strike="noStrike">
                <a:solidFill>
                  <a:schemeClr val="accent6"/>
                </a:solidFill>
                <a:latin typeface="Calibri"/>
                <a:ea typeface="Calibri"/>
                <a:cs typeface="Calibri"/>
                <a:sym typeface="Calibri"/>
              </a:rPr>
              <a:t>Can be paired with other software such as Ghidra/IDA for static </a:t>
            </a:r>
            <a:endParaRPr/>
          </a:p>
          <a:p>
            <a:pPr indent="0" lvl="0" marL="127000" marR="0" rtl="0" algn="l">
              <a:lnSpc>
                <a:spcPct val="100000"/>
              </a:lnSpc>
              <a:spcBef>
                <a:spcPts val="0"/>
              </a:spcBef>
              <a:spcAft>
                <a:spcPts val="0"/>
              </a:spcAft>
              <a:buNone/>
            </a:pPr>
            <a:r>
              <a:rPr b="0" i="0" lang="en-GB" sz="1600" u="none" cap="none" strike="noStrike">
                <a:solidFill>
                  <a:schemeClr val="accent6"/>
                </a:solidFill>
                <a:latin typeface="Calibri"/>
                <a:ea typeface="Calibri"/>
                <a:cs typeface="Calibri"/>
                <a:sym typeface="Calibri"/>
              </a:rPr>
              <a:t>And dynamic analysis synchronisation</a:t>
            </a:r>
            <a:endParaRPr b="0" i="0" sz="1600" u="none" cap="none" strike="noStrike">
              <a:solidFill>
                <a:schemeClr val="accent6"/>
              </a:solidFill>
              <a:latin typeface="Calibri"/>
              <a:ea typeface="Calibri"/>
              <a:cs typeface="Calibri"/>
              <a:sym typeface="Calibri"/>
            </a:endParaRPr>
          </a:p>
          <a:p>
            <a:pPr indent="-228600" lvl="0" marL="457200" marR="0" rtl="0" algn="l">
              <a:lnSpc>
                <a:spcPct val="100000"/>
              </a:lnSpc>
              <a:spcBef>
                <a:spcPts val="0"/>
              </a:spcBef>
              <a:spcAft>
                <a:spcPts val="0"/>
              </a:spcAft>
              <a:buClr>
                <a:schemeClr val="lt1"/>
              </a:buClr>
              <a:buSzPts val="1600"/>
              <a:buFont typeface="Calibri"/>
              <a:buNone/>
            </a:pPr>
            <a:r>
              <a:t/>
            </a:r>
            <a:endParaRPr b="0" i="0" sz="1600" u="none" cap="none" strike="noStrike">
              <a:solidFill>
                <a:schemeClr val="lt1"/>
              </a:solidFill>
              <a:latin typeface="Calibri"/>
              <a:ea typeface="Calibri"/>
              <a:cs typeface="Calibri"/>
              <a:sym typeface="Calibri"/>
            </a:endParaRPr>
          </a:p>
          <a:p>
            <a:pPr indent="0" lvl="0" marL="127000" marR="0" rtl="0" algn="l">
              <a:lnSpc>
                <a:spcPct val="100000"/>
              </a:lnSpc>
              <a:spcBef>
                <a:spcPts val="0"/>
              </a:spcBef>
              <a:spcAft>
                <a:spcPts val="0"/>
              </a:spcAft>
              <a:buNone/>
            </a:pPr>
            <a:r>
              <a:t/>
            </a:r>
            <a:endParaRPr b="0" i="0" sz="1600" u="none" cap="none" strike="noStrike">
              <a:solidFill>
                <a:schemeClr val="lt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7"/>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txBox="1"/>
          <p:nvPr/>
        </p:nvSpPr>
        <p:spPr>
          <a:xfrm>
            <a:off x="742448" y="490538"/>
            <a:ext cx="11151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18" name="Google Shape;418;p47"/>
          <p:cNvSpPr txBox="1"/>
          <p:nvPr/>
        </p:nvSpPr>
        <p:spPr>
          <a:xfrm>
            <a:off x="614050" y="280375"/>
            <a:ext cx="7927500" cy="99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lt1"/>
                </a:solidFill>
                <a:latin typeface="Consolas"/>
                <a:ea typeface="Consolas"/>
                <a:cs typeface="Consolas"/>
                <a:sym typeface="Consolas"/>
              </a:rPr>
              <a:t>Anti-Reversing Techniques</a:t>
            </a:r>
            <a:endParaRPr b="0" i="0" sz="2900" u="none" cap="none" strike="noStrike">
              <a:solidFill>
                <a:schemeClr val="lt1"/>
              </a:solidFill>
              <a:latin typeface="Consolas"/>
              <a:ea typeface="Consolas"/>
              <a:cs typeface="Consolas"/>
              <a:sym typeface="Consolas"/>
            </a:endParaRPr>
          </a:p>
        </p:txBody>
      </p:sp>
      <p:sp>
        <p:nvSpPr>
          <p:cNvPr id="419" name="Google Shape;419;p47"/>
          <p:cNvSpPr/>
          <p:nvPr/>
        </p:nvSpPr>
        <p:spPr>
          <a:xfrm>
            <a:off x="8432442" y="343377"/>
            <a:ext cx="394417" cy="459738"/>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txBox="1"/>
          <p:nvPr/>
        </p:nvSpPr>
        <p:spPr>
          <a:xfrm>
            <a:off x="374850" y="1105150"/>
            <a:ext cx="7674900" cy="3376800"/>
          </a:xfrm>
          <a:prstGeom prst="rect">
            <a:avLst/>
          </a:prstGeom>
          <a:noFill/>
          <a:ln>
            <a:noFill/>
          </a:ln>
        </p:spPr>
        <p:txBody>
          <a:bodyPr anchorCtr="0" anchor="t" bIns="91425" lIns="91425" spcFirstLastPara="1" rIns="91425" wrap="square" tIns="91425">
            <a:noAutofit/>
          </a:bodyPr>
          <a:lstStyle/>
          <a:p>
            <a:pPr indent="0" lvl="0" marL="127000" marR="0" rtl="0" algn="l">
              <a:lnSpc>
                <a:spcPct val="100000"/>
              </a:lnSpc>
              <a:spcBef>
                <a:spcPts val="0"/>
              </a:spcBef>
              <a:spcAft>
                <a:spcPts val="0"/>
              </a:spcAft>
              <a:buNone/>
            </a:pPr>
            <a:r>
              <a:rPr b="0" i="0" lang="en-GB" sz="1600" u="none" cap="none" strike="noStrike">
                <a:solidFill>
                  <a:schemeClr val="lt1"/>
                </a:solidFill>
                <a:latin typeface="Calibri"/>
                <a:ea typeface="Calibri"/>
                <a:cs typeface="Calibri"/>
                <a:sym typeface="Calibri"/>
              </a:rPr>
              <a:t>In Real-world scenarios, malware, protected software and difficult CTF challenges may often fight back. Learn to recognise these tricks:</a:t>
            </a:r>
            <a:endParaRPr/>
          </a:p>
          <a:p>
            <a:pPr indent="0" lvl="0" marL="127000" marR="0" rtl="0" algn="l">
              <a:lnSpc>
                <a:spcPct val="100000"/>
              </a:lnSpc>
              <a:spcBef>
                <a:spcPts val="0"/>
              </a:spcBef>
              <a:spcAft>
                <a:spcPts val="0"/>
              </a:spcAft>
              <a:buNone/>
            </a:pPr>
            <a:r>
              <a:t/>
            </a:r>
            <a:endParaRPr b="0" i="0" sz="1600" u="none" cap="none" strike="noStrike">
              <a:solidFill>
                <a:schemeClr val="lt1"/>
              </a:solidFill>
              <a:latin typeface="Calibri"/>
              <a:ea typeface="Calibri"/>
              <a:cs typeface="Calibri"/>
              <a:sym typeface="Calibri"/>
            </a:endParaRPr>
          </a:p>
          <a:p>
            <a:pPr indent="0" lvl="0" marL="127000" marR="0" rtl="0" algn="l">
              <a:lnSpc>
                <a:spcPct val="100000"/>
              </a:lnSpc>
              <a:spcBef>
                <a:spcPts val="0"/>
              </a:spcBef>
              <a:spcAft>
                <a:spcPts val="0"/>
              </a:spcAft>
              <a:buNone/>
            </a:pPr>
            <a:r>
              <a:rPr b="0" i="0" lang="en-GB" sz="1600" u="none" cap="none" strike="noStrike">
                <a:solidFill>
                  <a:srgbClr val="C00000"/>
                </a:solidFill>
                <a:latin typeface="Calibri"/>
                <a:ea typeface="Calibri"/>
                <a:cs typeface="Calibri"/>
                <a:sym typeface="Calibri"/>
              </a:rPr>
              <a:t>Stripped Binaries</a:t>
            </a:r>
            <a:endParaRPr/>
          </a:p>
          <a:p>
            <a:pPr indent="-285750" lvl="0" marL="412750" marR="0" rtl="0" algn="l">
              <a:lnSpc>
                <a:spcPct val="100000"/>
              </a:lnSpc>
              <a:spcBef>
                <a:spcPts val="0"/>
              </a:spcBef>
              <a:spcAft>
                <a:spcPts val="0"/>
              </a:spcAft>
              <a:buClr>
                <a:schemeClr val="lt1"/>
              </a:buClr>
              <a:buSzPts val="1600"/>
              <a:buFont typeface="Arial"/>
              <a:buChar char="•"/>
            </a:pPr>
            <a:r>
              <a:rPr b="0" i="0" lang="en-GB" sz="1600" u="none" cap="none" strike="noStrike">
                <a:solidFill>
                  <a:schemeClr val="lt1"/>
                </a:solidFill>
                <a:latin typeface="Calibri"/>
                <a:ea typeface="Calibri"/>
                <a:cs typeface="Calibri"/>
                <a:sym typeface="Calibri"/>
              </a:rPr>
              <a:t>Symbols and debug information have been removed</a:t>
            </a:r>
            <a:endParaRPr/>
          </a:p>
          <a:p>
            <a:pPr indent="-285750" lvl="0" marL="412750" marR="0" rtl="0" algn="l">
              <a:lnSpc>
                <a:spcPct val="100000"/>
              </a:lnSpc>
              <a:spcBef>
                <a:spcPts val="0"/>
              </a:spcBef>
              <a:spcAft>
                <a:spcPts val="0"/>
              </a:spcAft>
              <a:buClr>
                <a:schemeClr val="lt1"/>
              </a:buClr>
              <a:buSzPts val="1600"/>
              <a:buFont typeface="Arial"/>
              <a:buChar char="•"/>
            </a:pPr>
            <a:r>
              <a:rPr b="0" i="0" lang="en-GB" sz="1600" u="none" cap="none" strike="noStrike">
                <a:solidFill>
                  <a:schemeClr val="lt1"/>
                </a:solidFill>
                <a:latin typeface="Calibri"/>
                <a:ea typeface="Calibri"/>
                <a:cs typeface="Calibri"/>
                <a:sym typeface="Calibri"/>
              </a:rPr>
              <a:t>Look towards strings and xrefs to try and piece the puzzle</a:t>
            </a:r>
            <a:endParaRPr/>
          </a:p>
          <a:p>
            <a:pPr indent="0" lvl="0" marL="127000" marR="0" rtl="0" algn="l">
              <a:lnSpc>
                <a:spcPct val="100000"/>
              </a:lnSpc>
              <a:spcBef>
                <a:spcPts val="0"/>
              </a:spcBef>
              <a:spcAft>
                <a:spcPts val="0"/>
              </a:spcAft>
              <a:buNone/>
            </a:pPr>
            <a:r>
              <a:t/>
            </a:r>
            <a:endParaRPr b="0" i="0" sz="1600" u="none" cap="none" strike="noStrike">
              <a:solidFill>
                <a:schemeClr val="lt1"/>
              </a:solidFill>
              <a:latin typeface="Calibri"/>
              <a:ea typeface="Calibri"/>
              <a:cs typeface="Calibri"/>
              <a:sym typeface="Calibri"/>
            </a:endParaRPr>
          </a:p>
          <a:p>
            <a:pPr indent="0" lvl="0" marL="127000" marR="0" rtl="0" algn="l">
              <a:lnSpc>
                <a:spcPct val="100000"/>
              </a:lnSpc>
              <a:spcBef>
                <a:spcPts val="0"/>
              </a:spcBef>
              <a:spcAft>
                <a:spcPts val="0"/>
              </a:spcAft>
              <a:buNone/>
            </a:pPr>
            <a:r>
              <a:rPr b="0" i="0" lang="en-GB" sz="1600" u="none" cap="none" strike="noStrike">
                <a:solidFill>
                  <a:srgbClr val="538CD5"/>
                </a:solidFill>
                <a:latin typeface="Calibri"/>
                <a:ea typeface="Calibri"/>
                <a:cs typeface="Calibri"/>
                <a:sym typeface="Calibri"/>
              </a:rPr>
              <a:t>Obfuscation, Packers</a:t>
            </a:r>
            <a:endParaRPr/>
          </a:p>
          <a:p>
            <a:pPr indent="-285750" lvl="0" marL="412750" marR="0" rtl="0" algn="l">
              <a:lnSpc>
                <a:spcPct val="100000"/>
              </a:lnSpc>
              <a:spcBef>
                <a:spcPts val="0"/>
              </a:spcBef>
              <a:spcAft>
                <a:spcPts val="0"/>
              </a:spcAft>
              <a:buClr>
                <a:schemeClr val="lt1"/>
              </a:buClr>
              <a:buSzPts val="1600"/>
              <a:buFont typeface="Arial"/>
              <a:buChar char="•"/>
            </a:pPr>
            <a:r>
              <a:rPr b="0" i="0" lang="en-GB" sz="1600" u="none" cap="none" strike="noStrike">
                <a:solidFill>
                  <a:schemeClr val="lt1"/>
                </a:solidFill>
                <a:latin typeface="Calibri"/>
                <a:ea typeface="Calibri"/>
                <a:cs typeface="Calibri"/>
                <a:sym typeface="Calibri"/>
              </a:rPr>
              <a:t>Original code is compressed or virtualised</a:t>
            </a:r>
            <a:endParaRPr b="0" i="0" sz="1600" u="none" cap="none" strike="noStrike">
              <a:solidFill>
                <a:schemeClr val="lt1"/>
              </a:solidFill>
              <a:latin typeface="Calibri"/>
              <a:ea typeface="Calibri"/>
              <a:cs typeface="Calibri"/>
              <a:sym typeface="Calibri"/>
            </a:endParaRPr>
          </a:p>
          <a:p>
            <a:pPr indent="-285750" lvl="0" marL="412750" marR="0" rtl="0" algn="l">
              <a:lnSpc>
                <a:spcPct val="100000"/>
              </a:lnSpc>
              <a:spcBef>
                <a:spcPts val="0"/>
              </a:spcBef>
              <a:spcAft>
                <a:spcPts val="0"/>
              </a:spcAft>
              <a:buClr>
                <a:schemeClr val="lt1"/>
              </a:buClr>
              <a:buSzPts val="1600"/>
              <a:buFont typeface="Arial"/>
              <a:buChar char="•"/>
            </a:pPr>
            <a:r>
              <a:rPr b="0" i="0" lang="en-GB" sz="1600" u="none" cap="none" strike="noStrike">
                <a:solidFill>
                  <a:schemeClr val="lt1"/>
                </a:solidFill>
                <a:latin typeface="Calibri"/>
                <a:ea typeface="Calibri"/>
                <a:cs typeface="Calibri"/>
                <a:sym typeface="Calibri"/>
              </a:rPr>
              <a:t>Unpack at runtime, dump memory after packing </a:t>
            </a:r>
            <a:endParaRPr/>
          </a:p>
          <a:p>
            <a:pPr indent="0" lvl="0" marL="127000" marR="0" rtl="0" algn="l">
              <a:lnSpc>
                <a:spcPct val="100000"/>
              </a:lnSpc>
              <a:spcBef>
                <a:spcPts val="0"/>
              </a:spcBef>
              <a:spcAft>
                <a:spcPts val="0"/>
              </a:spcAft>
              <a:buNone/>
            </a:pPr>
            <a:r>
              <a:t/>
            </a:r>
            <a:endParaRPr b="0" i="0" sz="1600" u="none" cap="none" strike="noStrike">
              <a:solidFill>
                <a:schemeClr val="lt1"/>
              </a:solidFill>
              <a:latin typeface="Calibri"/>
              <a:ea typeface="Calibri"/>
              <a:cs typeface="Calibri"/>
              <a:sym typeface="Calibri"/>
            </a:endParaRPr>
          </a:p>
          <a:p>
            <a:pPr indent="0" lvl="0" marL="127000" marR="0" rtl="0" algn="l">
              <a:lnSpc>
                <a:spcPct val="100000"/>
              </a:lnSpc>
              <a:spcBef>
                <a:spcPts val="0"/>
              </a:spcBef>
              <a:spcAft>
                <a:spcPts val="0"/>
              </a:spcAft>
              <a:buNone/>
            </a:pPr>
            <a:r>
              <a:rPr b="0" i="0" lang="en-GB" sz="1600" u="none" cap="none" strike="noStrike">
                <a:solidFill>
                  <a:srgbClr val="FFC000"/>
                </a:solidFill>
                <a:latin typeface="Calibri"/>
                <a:ea typeface="Calibri"/>
                <a:cs typeface="Calibri"/>
                <a:sym typeface="Calibri"/>
              </a:rPr>
              <a:t>Anti-Debugging, Anti-VM</a:t>
            </a:r>
            <a:endParaRPr/>
          </a:p>
          <a:p>
            <a:pPr indent="-285750" lvl="0" marL="412750" marR="0" rtl="0" algn="l">
              <a:lnSpc>
                <a:spcPct val="100000"/>
              </a:lnSpc>
              <a:spcBef>
                <a:spcPts val="0"/>
              </a:spcBef>
              <a:spcAft>
                <a:spcPts val="0"/>
              </a:spcAft>
              <a:buClr>
                <a:schemeClr val="lt1"/>
              </a:buClr>
              <a:buSzPts val="1600"/>
              <a:buFont typeface="Arial"/>
              <a:buChar char="•"/>
            </a:pPr>
            <a:r>
              <a:rPr b="0" i="0" lang="en-GB" sz="1600" u="none" cap="none" strike="noStrike">
                <a:solidFill>
                  <a:schemeClr val="lt1"/>
                </a:solidFill>
                <a:latin typeface="Calibri"/>
                <a:ea typeface="Calibri"/>
                <a:cs typeface="Calibri"/>
                <a:sym typeface="Calibri"/>
              </a:rPr>
              <a:t> timing checks, IsDebuggerPresent API function,  </a:t>
            </a:r>
            <a:endParaRPr/>
          </a:p>
          <a:p>
            <a:pPr indent="-285750" lvl="0" marL="412750" marR="0" rtl="0" algn="l">
              <a:lnSpc>
                <a:spcPct val="100000"/>
              </a:lnSpc>
              <a:spcBef>
                <a:spcPts val="0"/>
              </a:spcBef>
              <a:spcAft>
                <a:spcPts val="0"/>
              </a:spcAft>
              <a:buClr>
                <a:schemeClr val="lt1"/>
              </a:buClr>
              <a:buSzPts val="1600"/>
              <a:buFont typeface="Arial"/>
              <a:buChar char="•"/>
            </a:pPr>
            <a:r>
              <a:rPr b="0" i="0" lang="en-GB" sz="1600" u="none" cap="none" strike="noStrike">
                <a:solidFill>
                  <a:schemeClr val="lt1"/>
                </a:solidFill>
                <a:latin typeface="Calibri"/>
                <a:ea typeface="Calibri"/>
                <a:cs typeface="Calibri"/>
                <a:sym typeface="Calibri"/>
              </a:rPr>
              <a:t>VM detection using CPUID, MAC addresses, registry keys, etc </a:t>
            </a:r>
            <a:endParaRPr/>
          </a:p>
          <a:p>
            <a:pPr indent="-285750" lvl="0" marL="412750" marR="0" rtl="0" algn="l">
              <a:lnSpc>
                <a:spcPct val="100000"/>
              </a:lnSpc>
              <a:spcBef>
                <a:spcPts val="0"/>
              </a:spcBef>
              <a:spcAft>
                <a:spcPts val="0"/>
              </a:spcAft>
              <a:buClr>
                <a:schemeClr val="lt1"/>
              </a:buClr>
              <a:buSzPts val="1600"/>
              <a:buFont typeface="Arial"/>
              <a:buChar char="•"/>
            </a:pPr>
            <a:r>
              <a:rPr b="0" i="0" lang="en-GB" sz="1600" u="none" cap="none" strike="noStrike">
                <a:solidFill>
                  <a:schemeClr val="lt1"/>
                </a:solidFill>
                <a:latin typeface="Calibri"/>
                <a:ea typeface="Calibri"/>
                <a:cs typeface="Calibri"/>
                <a:sym typeface="Calibri"/>
              </a:rPr>
              <a:t>Bypass using plugins, or edit/remove the checks </a:t>
            </a:r>
            <a:endParaRPr b="0" i="0" sz="1600" u="none" cap="none" strike="noStrike">
              <a:solidFill>
                <a:schemeClr val="lt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5"/>
          <p:cNvSpPr/>
          <p:nvPr/>
        </p:nvSpPr>
        <p:spPr>
          <a:xfrm>
            <a:off x="4100266" y="3827288"/>
            <a:ext cx="943468" cy="1099720"/>
          </a:xfrm>
          <a:custGeom>
            <a:rect b="b" l="l" r="r" t="t"/>
            <a:pathLst>
              <a:path extrusionOk="0" h="2199439" w="1886935">
                <a:moveTo>
                  <a:pt x="0" y="0"/>
                </a:moveTo>
                <a:lnTo>
                  <a:pt x="1886936" y="0"/>
                </a:lnTo>
                <a:lnTo>
                  <a:pt x="1886936" y="2199438"/>
                </a:lnTo>
                <a:lnTo>
                  <a:pt x="0" y="219943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5"/>
          <p:cNvSpPr/>
          <p:nvPr/>
        </p:nvSpPr>
        <p:spPr>
          <a:xfrm>
            <a:off x="1441101" y="1052998"/>
            <a:ext cx="6261798" cy="2584415"/>
          </a:xfrm>
          <a:custGeom>
            <a:rect b="b" l="l" r="r" t="t"/>
            <a:pathLst>
              <a:path extrusionOk="0" h="5168830" w="12523597">
                <a:moveTo>
                  <a:pt x="0" y="0"/>
                </a:moveTo>
                <a:lnTo>
                  <a:pt x="12523596" y="0"/>
                </a:lnTo>
                <a:lnTo>
                  <a:pt x="12523596" y="5168830"/>
                </a:lnTo>
                <a:lnTo>
                  <a:pt x="0" y="516883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		</a:t>
            </a:r>
            <a:r>
              <a:rPr b="0" i="0" lang="en-GB" sz="1600" u="none" cap="none" strike="noStrike">
                <a:solidFill>
                  <a:srgbClr val="E5B8B7"/>
                </a:solidFill>
                <a:latin typeface="Arial"/>
                <a:ea typeface="Arial"/>
                <a:cs typeface="Arial"/>
                <a:sym typeface="Arial"/>
              </a:rPr>
              <a:t>There should be two RE samples on the Github</a:t>
            </a:r>
            <a:endParaRPr b="0" i="0" sz="1600" u="none" cap="none" strike="noStrike">
              <a:solidFill>
                <a:srgbClr val="E5B8B7"/>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GB" sz="1400" u="sng" cap="none" strike="noStrike">
                <a:solidFill>
                  <a:srgbClr val="E5B8B7"/>
                </a:solidFill>
                <a:latin typeface="Arial"/>
                <a:ea typeface="Arial"/>
                <a:cs typeface="Arial"/>
                <a:sym typeface="Arial"/>
                <a:hlinkClick r:id="rId6">
                  <a:extLst>
                    <a:ext uri="{A12FA001-AC4F-418D-AE19-62706E023703}">
                      <ahyp:hlinkClr val="tx"/>
                    </a:ext>
                  </a:extLst>
                </a:hlinkClick>
              </a:rPr>
              <a:t>DMU Hackers · GitHub</a:t>
            </a:r>
            <a:endParaRPr b="0" i="0" sz="1400" u="none" cap="none" strike="noStrike">
              <a:solidFill>
                <a:srgbClr val="E5B8B7"/>
              </a:solidFill>
              <a:latin typeface="Arial"/>
              <a:ea typeface="Arial"/>
              <a:cs typeface="Arial"/>
              <a:sym typeface="Arial"/>
            </a:endParaRPr>
          </a:p>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lang="en-GB"/>
              <a:t>		</a:t>
            </a:r>
            <a:r>
              <a:rPr lang="en-GB">
                <a:solidFill>
                  <a:srgbClr val="F4CCCC"/>
                </a:solidFill>
              </a:rPr>
              <a:t>Refer back to some of the information on the previous slides</a:t>
            </a:r>
            <a:endParaRPr>
              <a:solidFill>
                <a:srgbClr val="F4CCCC"/>
              </a:solidFill>
            </a:endParaRPr>
          </a:p>
        </p:txBody>
      </p:sp>
      <p:sp>
        <p:nvSpPr>
          <p:cNvPr id="428" name="Google Shape;428;p5"/>
          <p:cNvSpPr txBox="1"/>
          <p:nvPr/>
        </p:nvSpPr>
        <p:spPr>
          <a:xfrm>
            <a:off x="3256501" y="155125"/>
            <a:ext cx="2631000" cy="708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1" i="0" lang="en-GB" sz="4600" u="none" cap="none" strike="noStrike">
                <a:solidFill>
                  <a:srgbClr val="FFFFFF"/>
                </a:solidFill>
                <a:latin typeface="IBM Plex Sans"/>
                <a:ea typeface="IBM Plex Sans"/>
                <a:cs typeface="IBM Plex Sans"/>
                <a:sym typeface="IBM Plex Sans"/>
              </a:rPr>
              <a:t>Practical</a:t>
            </a:r>
            <a:endParaRPr b="0" i="0" sz="7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daryl burrows</dc:creator>
</cp:coreProperties>
</file>