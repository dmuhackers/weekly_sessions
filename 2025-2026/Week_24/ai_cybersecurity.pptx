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2.xml" ContentType="application/vnd.openxmlformats-officedocument.themeOverr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3.xml" ContentType="application/vnd.openxmlformats-officedocument.themeOverr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257" r:id="rId6"/>
    <p:sldId id="283" r:id="rId7"/>
    <p:sldId id="284" r:id="rId8"/>
    <p:sldId id="258" r:id="rId9"/>
    <p:sldId id="259" r:id="rId10"/>
    <p:sldId id="261" r:id="rId11"/>
    <p:sldId id="285" r:id="rId12"/>
    <p:sldId id="263" r:id="rId13"/>
    <p:sldId id="269" r:id="rId14"/>
    <p:sldId id="270" r:id="rId15"/>
    <p:sldId id="271" r:id="rId16"/>
    <p:sldId id="260" r:id="rId17"/>
    <p:sldId id="273" r:id="rId18"/>
    <p:sldId id="275" r:id="rId19"/>
    <p:sldId id="267" r:id="rId20"/>
    <p:sldId id="277" r:id="rId21"/>
    <p:sldId id="278" r:id="rId22"/>
    <p:sldId id="280" r:id="rId23"/>
    <p:sldId id="281" r:id="rId24"/>
    <p:sldId id="268" r:id="rId25"/>
    <p:sldId id="282" r:id="rId26"/>
  </p:sldIdLst>
  <p:sldSz cx="12192000" cy="6858000"/>
  <p:notesSz cx="6858000" cy="9144000"/>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25D145-31AF-B739-7AE4-B8230AF7E253}" v="1281" dt="2026-05-06T14:08:19.032"/>
    <p1510:client id="{3B1E6CE1-BDB8-00E6-1B59-DE847C4F53BB}" v="689" dt="2026-05-07T11:23:53.789"/>
    <p1510:client id="{478B4903-8AEF-429B-9986-E57D24770993}" v="443" dt="2026-05-06T19:11:06.918"/>
    <p1510:client id="{DF346247-0ED5-7E30-A9B2-7F8C7847A583}" v="13" dt="2026-05-07T02:35:36.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477" autoAdjust="0"/>
  </p:normalViewPr>
  <p:slideViewPr>
    <p:cSldViewPr snapToGrid="0">
      <p:cViewPr varScale="1">
        <p:scale>
          <a:sx n="90" d="100"/>
          <a:sy n="90" d="100"/>
        </p:scale>
        <p:origin x="46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ata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DD6EC2-C500-4C5D-A73A-FB11BE9E376A}" type="doc">
      <dgm:prSet loTypeId="urn:microsoft.com/office/officeart/2018/2/layout/IconVerticalSolidList" loCatId="icon" qsTypeId="urn:microsoft.com/office/officeart/2005/8/quickstyle/simple1" qsCatId="simple" csTypeId="urn:microsoft.com/office/officeart/2018/5/colors/Iconchunking_neutralicontext_accent3_2" csCatId="accent3" phldr="1"/>
      <dgm:spPr/>
      <dgm:t>
        <a:bodyPr/>
        <a:lstStyle/>
        <a:p>
          <a:endParaRPr lang="en-US"/>
        </a:p>
      </dgm:t>
    </dgm:pt>
    <dgm:pt modelId="{4E7BA622-C09E-475E-8D48-F153FBE7A74A}">
      <dgm:prSet/>
      <dgm:spPr/>
      <dgm:t>
        <a:bodyPr/>
        <a:lstStyle/>
        <a:p>
          <a:r>
            <a:rPr lang="en-150" dirty="0"/>
            <a:t>In 2025, CrowdStrike reported that AI-enabled adversaries increased attacks by 89% year over year</a:t>
          </a:r>
          <a:endParaRPr lang="en-US" dirty="0"/>
        </a:p>
      </dgm:t>
    </dgm:pt>
    <dgm:pt modelId="{1241DFB6-30EE-44BB-8808-0C3F4C00316F}" type="parTrans" cxnId="{D1DB8E48-FB27-4991-9708-ACDAB78AC6D2}">
      <dgm:prSet/>
      <dgm:spPr/>
      <dgm:t>
        <a:bodyPr/>
        <a:lstStyle/>
        <a:p>
          <a:endParaRPr lang="en-US"/>
        </a:p>
      </dgm:t>
    </dgm:pt>
    <dgm:pt modelId="{F2916851-2246-40C6-9688-36F6A85048EE}" type="sibTrans" cxnId="{D1DB8E48-FB27-4991-9708-ACDAB78AC6D2}">
      <dgm:prSet/>
      <dgm:spPr/>
      <dgm:t>
        <a:bodyPr/>
        <a:lstStyle/>
        <a:p>
          <a:endParaRPr lang="en-US"/>
        </a:p>
      </dgm:t>
    </dgm:pt>
    <dgm:pt modelId="{F2706A3D-9506-4C24-AEAC-3A25B9A69EDD}">
      <dgm:prSet/>
      <dgm:spPr/>
      <dgm:t>
        <a:bodyPr/>
        <a:lstStyle/>
        <a:p>
          <a:r>
            <a:rPr lang="en-150" dirty="0"/>
            <a:t>The average </a:t>
          </a:r>
          <a:r>
            <a:rPr lang="en-150" dirty="0" err="1"/>
            <a:t>eCrime</a:t>
          </a:r>
          <a:r>
            <a:rPr lang="en-150" dirty="0"/>
            <a:t> breakout time fell to 29 minutes, this was 48 minutes in 2024. </a:t>
          </a:r>
          <a:endParaRPr lang="en-US" dirty="0"/>
        </a:p>
      </dgm:t>
    </dgm:pt>
    <dgm:pt modelId="{80D41231-2E3E-4AE1-BA39-F3A994D2B23B}" type="parTrans" cxnId="{9D24778D-80A3-409A-BB05-5DB0DF2B398F}">
      <dgm:prSet/>
      <dgm:spPr/>
      <dgm:t>
        <a:bodyPr/>
        <a:lstStyle/>
        <a:p>
          <a:endParaRPr lang="en-US"/>
        </a:p>
      </dgm:t>
    </dgm:pt>
    <dgm:pt modelId="{096ED132-A77F-4978-BA87-D9F3A17B8D17}" type="sibTrans" cxnId="{9D24778D-80A3-409A-BB05-5DB0DF2B398F}">
      <dgm:prSet/>
      <dgm:spPr/>
      <dgm:t>
        <a:bodyPr/>
        <a:lstStyle/>
        <a:p>
          <a:endParaRPr lang="en-US"/>
        </a:p>
      </dgm:t>
    </dgm:pt>
    <dgm:pt modelId="{9A17CEEC-E0AB-4419-9E5B-BFAD514E35FE}">
      <dgm:prSet/>
      <dgm:spPr/>
      <dgm:t>
        <a:bodyPr/>
        <a:lstStyle/>
        <a:p>
          <a:r>
            <a:rPr lang="en-150" dirty="0"/>
            <a:t>Fastest observed breakout occurred in 27 seconds.</a:t>
          </a:r>
          <a:endParaRPr lang="en-US" dirty="0"/>
        </a:p>
      </dgm:t>
    </dgm:pt>
    <dgm:pt modelId="{CAECCEA1-1A82-41A4-A922-91A80FC25EEF}" type="parTrans" cxnId="{2B3935F9-056E-4966-B86E-729BB08BEA8F}">
      <dgm:prSet/>
      <dgm:spPr/>
      <dgm:t>
        <a:bodyPr/>
        <a:lstStyle/>
        <a:p>
          <a:endParaRPr lang="en-US"/>
        </a:p>
      </dgm:t>
    </dgm:pt>
    <dgm:pt modelId="{14BFD105-261E-4F8D-9ECA-347B42988C52}" type="sibTrans" cxnId="{2B3935F9-056E-4966-B86E-729BB08BEA8F}">
      <dgm:prSet/>
      <dgm:spPr/>
      <dgm:t>
        <a:bodyPr/>
        <a:lstStyle/>
        <a:p>
          <a:endParaRPr lang="en-US"/>
        </a:p>
      </dgm:t>
    </dgm:pt>
    <dgm:pt modelId="{55572534-140B-44A5-BE5C-86BB81866876}">
      <dgm:prSet/>
      <dgm:spPr/>
      <dgm:t>
        <a:bodyPr/>
        <a:lstStyle/>
        <a:p>
          <a:r>
            <a:rPr lang="en-150" dirty="0"/>
            <a:t>In one intrusion, data exfiltration began within 4 minutes of initial access</a:t>
          </a:r>
          <a:endParaRPr lang="en-US" dirty="0"/>
        </a:p>
      </dgm:t>
    </dgm:pt>
    <dgm:pt modelId="{F45FF42F-CBEA-4832-B5C4-F55A74AB8D09}" type="parTrans" cxnId="{A84D6A06-561A-4B25-840F-A2BDBE731DB0}">
      <dgm:prSet/>
      <dgm:spPr/>
      <dgm:t>
        <a:bodyPr/>
        <a:lstStyle/>
        <a:p>
          <a:endParaRPr lang="en-US"/>
        </a:p>
      </dgm:t>
    </dgm:pt>
    <dgm:pt modelId="{60C45A5A-85E7-4BC5-B9ED-C3C6E67E5E77}" type="sibTrans" cxnId="{A84D6A06-561A-4B25-840F-A2BDBE731DB0}">
      <dgm:prSet/>
      <dgm:spPr/>
      <dgm:t>
        <a:bodyPr/>
        <a:lstStyle/>
        <a:p>
          <a:endParaRPr lang="en-US"/>
        </a:p>
      </dgm:t>
    </dgm:pt>
    <dgm:pt modelId="{B0BA94CE-BDB9-41B6-A86A-8AB5E031F120}" type="pres">
      <dgm:prSet presAssocID="{A4DD6EC2-C500-4C5D-A73A-FB11BE9E376A}" presName="root" presStyleCnt="0">
        <dgm:presLayoutVars>
          <dgm:dir/>
          <dgm:resizeHandles val="exact"/>
        </dgm:presLayoutVars>
      </dgm:prSet>
      <dgm:spPr/>
    </dgm:pt>
    <dgm:pt modelId="{3AB6B4B4-8784-4E71-86B5-0D912D3B20DC}" type="pres">
      <dgm:prSet presAssocID="{4E7BA622-C09E-475E-8D48-F153FBE7A74A}" presName="compNode" presStyleCnt="0"/>
      <dgm:spPr/>
    </dgm:pt>
    <dgm:pt modelId="{491DF435-78EA-4151-A71D-159880A63068}" type="pres">
      <dgm:prSet presAssocID="{4E7BA622-C09E-475E-8D48-F153FBE7A74A}" presName="bgRect" presStyleLbl="bgShp" presStyleIdx="0" presStyleCnt="4"/>
      <dgm:spPr>
        <a:solidFill>
          <a:srgbClr val="C00000"/>
        </a:solidFill>
      </dgm:spPr>
    </dgm:pt>
    <dgm:pt modelId="{9D1C3F9B-725F-4B30-ACDE-3ED88A4877DB}" type="pres">
      <dgm:prSet presAssocID="{4E7BA622-C09E-475E-8D48-F153FBE7A74A}"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Upward trend with solid fill"/>
        </a:ext>
      </dgm:extLst>
    </dgm:pt>
    <dgm:pt modelId="{416394CF-1C7D-4839-BEC5-E8CE885D94C9}" type="pres">
      <dgm:prSet presAssocID="{4E7BA622-C09E-475E-8D48-F153FBE7A74A}" presName="spaceRect" presStyleCnt="0"/>
      <dgm:spPr/>
    </dgm:pt>
    <dgm:pt modelId="{6AD9FCBE-5C89-4DD3-B351-847D1378DE7B}" type="pres">
      <dgm:prSet presAssocID="{4E7BA622-C09E-475E-8D48-F153FBE7A74A}" presName="parTx" presStyleLbl="revTx" presStyleIdx="0" presStyleCnt="4">
        <dgm:presLayoutVars>
          <dgm:chMax val="0"/>
          <dgm:chPref val="0"/>
        </dgm:presLayoutVars>
      </dgm:prSet>
      <dgm:spPr/>
    </dgm:pt>
    <dgm:pt modelId="{EFF12E33-2A53-46C3-8107-1317DFC44D8A}" type="pres">
      <dgm:prSet presAssocID="{F2916851-2246-40C6-9688-36F6A85048EE}" presName="sibTrans" presStyleCnt="0"/>
      <dgm:spPr/>
    </dgm:pt>
    <dgm:pt modelId="{CBA1CBC7-4C82-43B2-8CFF-94D1557395A4}" type="pres">
      <dgm:prSet presAssocID="{F2706A3D-9506-4C24-AEAC-3A25B9A69EDD}" presName="compNode" presStyleCnt="0"/>
      <dgm:spPr/>
    </dgm:pt>
    <dgm:pt modelId="{46C48D36-C793-40BB-8094-9336F938853D}" type="pres">
      <dgm:prSet presAssocID="{F2706A3D-9506-4C24-AEAC-3A25B9A69EDD}" presName="bgRect" presStyleLbl="bgShp" presStyleIdx="1" presStyleCnt="4"/>
      <dgm:spPr>
        <a:solidFill>
          <a:srgbClr val="C00000"/>
        </a:solidFill>
      </dgm:spPr>
    </dgm:pt>
    <dgm:pt modelId="{C850C175-AB4B-4125-B46E-C977AEF28A4A}" type="pres">
      <dgm:prSet presAssocID="{F2706A3D-9506-4C24-AEAC-3A25B9A69ED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BAD07BD9-6A99-42C7-BB17-C55C14BA184F}" type="pres">
      <dgm:prSet presAssocID="{F2706A3D-9506-4C24-AEAC-3A25B9A69EDD}" presName="spaceRect" presStyleCnt="0"/>
      <dgm:spPr/>
    </dgm:pt>
    <dgm:pt modelId="{D6F96CF0-9544-4A5E-BAA1-CB31D60232D5}" type="pres">
      <dgm:prSet presAssocID="{F2706A3D-9506-4C24-AEAC-3A25B9A69EDD}" presName="parTx" presStyleLbl="revTx" presStyleIdx="1" presStyleCnt="4">
        <dgm:presLayoutVars>
          <dgm:chMax val="0"/>
          <dgm:chPref val="0"/>
        </dgm:presLayoutVars>
      </dgm:prSet>
      <dgm:spPr/>
    </dgm:pt>
    <dgm:pt modelId="{8B97C993-9CC6-4B43-BBF6-6BC182D50757}" type="pres">
      <dgm:prSet presAssocID="{096ED132-A77F-4978-BA87-D9F3A17B8D17}" presName="sibTrans" presStyleCnt="0"/>
      <dgm:spPr/>
    </dgm:pt>
    <dgm:pt modelId="{68867AFC-82AB-4643-B632-CE4ABC4591E4}" type="pres">
      <dgm:prSet presAssocID="{9A17CEEC-E0AB-4419-9E5B-BFAD514E35FE}" presName="compNode" presStyleCnt="0"/>
      <dgm:spPr/>
    </dgm:pt>
    <dgm:pt modelId="{2CFCCDAF-9EED-4E5E-AEDA-1F76E87798A9}" type="pres">
      <dgm:prSet presAssocID="{9A17CEEC-E0AB-4419-9E5B-BFAD514E35FE}" presName="bgRect" presStyleLbl="bgShp" presStyleIdx="2" presStyleCnt="4"/>
      <dgm:spPr>
        <a:solidFill>
          <a:srgbClr val="C00000"/>
        </a:solidFill>
      </dgm:spPr>
    </dgm:pt>
    <dgm:pt modelId="{9F32C8F5-F685-47A5-94DF-D30707609A30}" type="pres">
      <dgm:prSet presAssocID="{9A17CEEC-E0AB-4419-9E5B-BFAD514E35F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ourglass Finished"/>
        </a:ext>
      </dgm:extLst>
    </dgm:pt>
    <dgm:pt modelId="{392C38CF-CA6B-459F-827F-EC20942DEF91}" type="pres">
      <dgm:prSet presAssocID="{9A17CEEC-E0AB-4419-9E5B-BFAD514E35FE}" presName="spaceRect" presStyleCnt="0"/>
      <dgm:spPr/>
    </dgm:pt>
    <dgm:pt modelId="{4F9C35D9-B644-4756-9FA5-1527B6D642D5}" type="pres">
      <dgm:prSet presAssocID="{9A17CEEC-E0AB-4419-9E5B-BFAD514E35FE}" presName="parTx" presStyleLbl="revTx" presStyleIdx="2" presStyleCnt="4">
        <dgm:presLayoutVars>
          <dgm:chMax val="0"/>
          <dgm:chPref val="0"/>
        </dgm:presLayoutVars>
      </dgm:prSet>
      <dgm:spPr/>
    </dgm:pt>
    <dgm:pt modelId="{1C8EABB5-617B-48DD-80B2-2A720B057B2C}" type="pres">
      <dgm:prSet presAssocID="{14BFD105-261E-4F8D-9ECA-347B42988C52}" presName="sibTrans" presStyleCnt="0"/>
      <dgm:spPr/>
    </dgm:pt>
    <dgm:pt modelId="{D77B4470-8563-4F6B-89F5-6D42783C143A}" type="pres">
      <dgm:prSet presAssocID="{55572534-140B-44A5-BE5C-86BB81866876}" presName="compNode" presStyleCnt="0"/>
      <dgm:spPr/>
    </dgm:pt>
    <dgm:pt modelId="{25053E85-3E29-40E2-B66E-46AED0E59187}" type="pres">
      <dgm:prSet presAssocID="{55572534-140B-44A5-BE5C-86BB81866876}" presName="bgRect" presStyleLbl="bgShp" presStyleIdx="3" presStyleCnt="4"/>
      <dgm:spPr>
        <a:solidFill>
          <a:srgbClr val="C00000"/>
        </a:solidFill>
      </dgm:spPr>
    </dgm:pt>
    <dgm:pt modelId="{AA04D7F0-924B-47F4-9AB2-BAF877E6D30B}" type="pres">
      <dgm:prSet presAssocID="{55572534-140B-44A5-BE5C-86BB81866876}"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Run with solid fill"/>
        </a:ext>
      </dgm:extLst>
    </dgm:pt>
    <dgm:pt modelId="{08B004DC-55B9-4FA3-8D62-83E7090D3C28}" type="pres">
      <dgm:prSet presAssocID="{55572534-140B-44A5-BE5C-86BB81866876}" presName="spaceRect" presStyleCnt="0"/>
      <dgm:spPr/>
    </dgm:pt>
    <dgm:pt modelId="{C5637CB8-A3A4-4C84-A989-1EE13931F3F9}" type="pres">
      <dgm:prSet presAssocID="{55572534-140B-44A5-BE5C-86BB81866876}" presName="parTx" presStyleLbl="revTx" presStyleIdx="3" presStyleCnt="4">
        <dgm:presLayoutVars>
          <dgm:chMax val="0"/>
          <dgm:chPref val="0"/>
        </dgm:presLayoutVars>
      </dgm:prSet>
      <dgm:spPr/>
    </dgm:pt>
  </dgm:ptLst>
  <dgm:cxnLst>
    <dgm:cxn modelId="{464F1C00-6EE4-4E3C-B338-3C4AFD367A51}" type="presOf" srcId="{9A17CEEC-E0AB-4419-9E5B-BFAD514E35FE}" destId="{4F9C35D9-B644-4756-9FA5-1527B6D642D5}" srcOrd="0" destOrd="0" presId="urn:microsoft.com/office/officeart/2018/2/layout/IconVerticalSolidList"/>
    <dgm:cxn modelId="{A84D6A06-561A-4B25-840F-A2BDBE731DB0}" srcId="{A4DD6EC2-C500-4C5D-A73A-FB11BE9E376A}" destId="{55572534-140B-44A5-BE5C-86BB81866876}" srcOrd="3" destOrd="0" parTransId="{F45FF42F-CBEA-4832-B5C4-F55A74AB8D09}" sibTransId="{60C45A5A-85E7-4BC5-B9ED-C3C6E67E5E77}"/>
    <dgm:cxn modelId="{D1DB8E48-FB27-4991-9708-ACDAB78AC6D2}" srcId="{A4DD6EC2-C500-4C5D-A73A-FB11BE9E376A}" destId="{4E7BA622-C09E-475E-8D48-F153FBE7A74A}" srcOrd="0" destOrd="0" parTransId="{1241DFB6-30EE-44BB-8808-0C3F4C00316F}" sibTransId="{F2916851-2246-40C6-9688-36F6A85048EE}"/>
    <dgm:cxn modelId="{1F3EF57D-FD70-470C-80EC-97432A46F0D9}" type="presOf" srcId="{A4DD6EC2-C500-4C5D-A73A-FB11BE9E376A}" destId="{B0BA94CE-BDB9-41B6-A86A-8AB5E031F120}" srcOrd="0" destOrd="0" presId="urn:microsoft.com/office/officeart/2018/2/layout/IconVerticalSolidList"/>
    <dgm:cxn modelId="{CC387F8A-FBC7-4E85-854D-B37AE9F2539B}" type="presOf" srcId="{4E7BA622-C09E-475E-8D48-F153FBE7A74A}" destId="{6AD9FCBE-5C89-4DD3-B351-847D1378DE7B}" srcOrd="0" destOrd="0" presId="urn:microsoft.com/office/officeart/2018/2/layout/IconVerticalSolidList"/>
    <dgm:cxn modelId="{9D24778D-80A3-409A-BB05-5DB0DF2B398F}" srcId="{A4DD6EC2-C500-4C5D-A73A-FB11BE9E376A}" destId="{F2706A3D-9506-4C24-AEAC-3A25B9A69EDD}" srcOrd="1" destOrd="0" parTransId="{80D41231-2E3E-4AE1-BA39-F3A994D2B23B}" sibTransId="{096ED132-A77F-4978-BA87-D9F3A17B8D17}"/>
    <dgm:cxn modelId="{7318F1E8-5542-4A91-B588-5EC085B0288D}" type="presOf" srcId="{55572534-140B-44A5-BE5C-86BB81866876}" destId="{C5637CB8-A3A4-4C84-A989-1EE13931F3F9}" srcOrd="0" destOrd="0" presId="urn:microsoft.com/office/officeart/2018/2/layout/IconVerticalSolidList"/>
    <dgm:cxn modelId="{2B3935F9-056E-4966-B86E-729BB08BEA8F}" srcId="{A4DD6EC2-C500-4C5D-A73A-FB11BE9E376A}" destId="{9A17CEEC-E0AB-4419-9E5B-BFAD514E35FE}" srcOrd="2" destOrd="0" parTransId="{CAECCEA1-1A82-41A4-A922-91A80FC25EEF}" sibTransId="{14BFD105-261E-4F8D-9ECA-347B42988C52}"/>
    <dgm:cxn modelId="{993C4FF9-B8E6-49FD-9E38-6145C3A91A04}" type="presOf" srcId="{F2706A3D-9506-4C24-AEAC-3A25B9A69EDD}" destId="{D6F96CF0-9544-4A5E-BAA1-CB31D60232D5}" srcOrd="0" destOrd="0" presId="urn:microsoft.com/office/officeart/2018/2/layout/IconVerticalSolidList"/>
    <dgm:cxn modelId="{94FCF18A-4942-46AF-9143-A81BB71A8D2D}" type="presParOf" srcId="{B0BA94CE-BDB9-41B6-A86A-8AB5E031F120}" destId="{3AB6B4B4-8784-4E71-86B5-0D912D3B20DC}" srcOrd="0" destOrd="0" presId="urn:microsoft.com/office/officeart/2018/2/layout/IconVerticalSolidList"/>
    <dgm:cxn modelId="{6AB77506-9A12-4B8D-BFB5-B16C202A8730}" type="presParOf" srcId="{3AB6B4B4-8784-4E71-86B5-0D912D3B20DC}" destId="{491DF435-78EA-4151-A71D-159880A63068}" srcOrd="0" destOrd="0" presId="urn:microsoft.com/office/officeart/2018/2/layout/IconVerticalSolidList"/>
    <dgm:cxn modelId="{67259F3F-C32E-4CDC-8350-292B8E082789}" type="presParOf" srcId="{3AB6B4B4-8784-4E71-86B5-0D912D3B20DC}" destId="{9D1C3F9B-725F-4B30-ACDE-3ED88A4877DB}" srcOrd="1" destOrd="0" presId="urn:microsoft.com/office/officeart/2018/2/layout/IconVerticalSolidList"/>
    <dgm:cxn modelId="{6C903385-5DF5-48AC-BD41-14276AE72458}" type="presParOf" srcId="{3AB6B4B4-8784-4E71-86B5-0D912D3B20DC}" destId="{416394CF-1C7D-4839-BEC5-E8CE885D94C9}" srcOrd="2" destOrd="0" presId="urn:microsoft.com/office/officeart/2018/2/layout/IconVerticalSolidList"/>
    <dgm:cxn modelId="{CD3C6DBA-762D-4EA8-BDF8-FE96F1B2E0DF}" type="presParOf" srcId="{3AB6B4B4-8784-4E71-86B5-0D912D3B20DC}" destId="{6AD9FCBE-5C89-4DD3-B351-847D1378DE7B}" srcOrd="3" destOrd="0" presId="urn:microsoft.com/office/officeart/2018/2/layout/IconVerticalSolidList"/>
    <dgm:cxn modelId="{24197FC6-ECCD-4AEC-961B-7AC40A09468D}" type="presParOf" srcId="{B0BA94CE-BDB9-41B6-A86A-8AB5E031F120}" destId="{EFF12E33-2A53-46C3-8107-1317DFC44D8A}" srcOrd="1" destOrd="0" presId="urn:microsoft.com/office/officeart/2018/2/layout/IconVerticalSolidList"/>
    <dgm:cxn modelId="{A92B477B-7CC3-4B7A-81E3-F9E922994332}" type="presParOf" srcId="{B0BA94CE-BDB9-41B6-A86A-8AB5E031F120}" destId="{CBA1CBC7-4C82-43B2-8CFF-94D1557395A4}" srcOrd="2" destOrd="0" presId="urn:microsoft.com/office/officeart/2018/2/layout/IconVerticalSolidList"/>
    <dgm:cxn modelId="{37F94490-EE84-4030-98E7-500816425D21}" type="presParOf" srcId="{CBA1CBC7-4C82-43B2-8CFF-94D1557395A4}" destId="{46C48D36-C793-40BB-8094-9336F938853D}" srcOrd="0" destOrd="0" presId="urn:microsoft.com/office/officeart/2018/2/layout/IconVerticalSolidList"/>
    <dgm:cxn modelId="{8888BB85-4404-41FB-82A8-6E644D913ED7}" type="presParOf" srcId="{CBA1CBC7-4C82-43B2-8CFF-94D1557395A4}" destId="{C850C175-AB4B-4125-B46E-C977AEF28A4A}" srcOrd="1" destOrd="0" presId="urn:microsoft.com/office/officeart/2018/2/layout/IconVerticalSolidList"/>
    <dgm:cxn modelId="{717BA0DB-D87D-479B-84AD-9FBDA67C937F}" type="presParOf" srcId="{CBA1CBC7-4C82-43B2-8CFF-94D1557395A4}" destId="{BAD07BD9-6A99-42C7-BB17-C55C14BA184F}" srcOrd="2" destOrd="0" presId="urn:microsoft.com/office/officeart/2018/2/layout/IconVerticalSolidList"/>
    <dgm:cxn modelId="{0C2C7344-FEA9-4087-9385-ECB39D609DE2}" type="presParOf" srcId="{CBA1CBC7-4C82-43B2-8CFF-94D1557395A4}" destId="{D6F96CF0-9544-4A5E-BAA1-CB31D60232D5}" srcOrd="3" destOrd="0" presId="urn:microsoft.com/office/officeart/2018/2/layout/IconVerticalSolidList"/>
    <dgm:cxn modelId="{5534792A-D7CD-4E89-84EF-9642A184094A}" type="presParOf" srcId="{B0BA94CE-BDB9-41B6-A86A-8AB5E031F120}" destId="{8B97C993-9CC6-4B43-BBF6-6BC182D50757}" srcOrd="3" destOrd="0" presId="urn:microsoft.com/office/officeart/2018/2/layout/IconVerticalSolidList"/>
    <dgm:cxn modelId="{DD0499BC-671D-46DC-BB77-8534C7BE9486}" type="presParOf" srcId="{B0BA94CE-BDB9-41B6-A86A-8AB5E031F120}" destId="{68867AFC-82AB-4643-B632-CE4ABC4591E4}" srcOrd="4" destOrd="0" presId="urn:microsoft.com/office/officeart/2018/2/layout/IconVerticalSolidList"/>
    <dgm:cxn modelId="{A11C8DBA-53BD-4956-95EA-CB3C07162059}" type="presParOf" srcId="{68867AFC-82AB-4643-B632-CE4ABC4591E4}" destId="{2CFCCDAF-9EED-4E5E-AEDA-1F76E87798A9}" srcOrd="0" destOrd="0" presId="urn:microsoft.com/office/officeart/2018/2/layout/IconVerticalSolidList"/>
    <dgm:cxn modelId="{3ED368A7-9640-4967-9AE6-1EAA34159303}" type="presParOf" srcId="{68867AFC-82AB-4643-B632-CE4ABC4591E4}" destId="{9F32C8F5-F685-47A5-94DF-D30707609A30}" srcOrd="1" destOrd="0" presId="urn:microsoft.com/office/officeart/2018/2/layout/IconVerticalSolidList"/>
    <dgm:cxn modelId="{187CFBBA-0CCA-42B9-9B84-BCD4201E724B}" type="presParOf" srcId="{68867AFC-82AB-4643-B632-CE4ABC4591E4}" destId="{392C38CF-CA6B-459F-827F-EC20942DEF91}" srcOrd="2" destOrd="0" presId="urn:microsoft.com/office/officeart/2018/2/layout/IconVerticalSolidList"/>
    <dgm:cxn modelId="{C657469E-8A69-40F7-AA0B-F0969330EED0}" type="presParOf" srcId="{68867AFC-82AB-4643-B632-CE4ABC4591E4}" destId="{4F9C35D9-B644-4756-9FA5-1527B6D642D5}" srcOrd="3" destOrd="0" presId="urn:microsoft.com/office/officeart/2018/2/layout/IconVerticalSolidList"/>
    <dgm:cxn modelId="{5ACE91B6-80C6-4CD3-861E-E4606CAB1CDD}" type="presParOf" srcId="{B0BA94CE-BDB9-41B6-A86A-8AB5E031F120}" destId="{1C8EABB5-617B-48DD-80B2-2A720B057B2C}" srcOrd="5" destOrd="0" presId="urn:microsoft.com/office/officeart/2018/2/layout/IconVerticalSolidList"/>
    <dgm:cxn modelId="{22FBDB98-3A18-4D58-8FD5-4F56C5E84A79}" type="presParOf" srcId="{B0BA94CE-BDB9-41B6-A86A-8AB5E031F120}" destId="{D77B4470-8563-4F6B-89F5-6D42783C143A}" srcOrd="6" destOrd="0" presId="urn:microsoft.com/office/officeart/2018/2/layout/IconVerticalSolidList"/>
    <dgm:cxn modelId="{91E9BF3A-1085-46BD-91C7-9001185429CE}" type="presParOf" srcId="{D77B4470-8563-4F6B-89F5-6D42783C143A}" destId="{25053E85-3E29-40E2-B66E-46AED0E59187}" srcOrd="0" destOrd="0" presId="urn:microsoft.com/office/officeart/2018/2/layout/IconVerticalSolidList"/>
    <dgm:cxn modelId="{90D21872-382A-408B-84E2-B36F462C2354}" type="presParOf" srcId="{D77B4470-8563-4F6B-89F5-6D42783C143A}" destId="{AA04D7F0-924B-47F4-9AB2-BAF877E6D30B}" srcOrd="1" destOrd="0" presId="urn:microsoft.com/office/officeart/2018/2/layout/IconVerticalSolidList"/>
    <dgm:cxn modelId="{9A04FE65-5EC9-47FF-BE7C-17755F79389E}" type="presParOf" srcId="{D77B4470-8563-4F6B-89F5-6D42783C143A}" destId="{08B004DC-55B9-4FA3-8D62-83E7090D3C28}" srcOrd="2" destOrd="0" presId="urn:microsoft.com/office/officeart/2018/2/layout/IconVerticalSolidList"/>
    <dgm:cxn modelId="{DD3A982C-DB9A-4075-9C39-81B0B2148332}" type="presParOf" srcId="{D77B4470-8563-4F6B-89F5-6D42783C143A}" destId="{C5637CB8-A3A4-4C84-A989-1EE13931F3F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DD6EC2-C500-4C5D-A73A-FB11BE9E376A}" type="doc">
      <dgm:prSet loTypeId="urn:microsoft.com/office/officeart/2018/2/layout/IconVerticalSolidList" loCatId="icon" qsTypeId="urn:microsoft.com/office/officeart/2005/8/quickstyle/simple1" qsCatId="simple" csTypeId="urn:microsoft.com/office/officeart/2018/5/colors/Iconchunking_neutralicontext_accent3_2" csCatId="accent3" phldr="1"/>
      <dgm:spPr/>
      <dgm:t>
        <a:bodyPr/>
        <a:lstStyle/>
        <a:p>
          <a:endParaRPr lang="en-US"/>
        </a:p>
      </dgm:t>
    </dgm:pt>
    <dgm:pt modelId="{4E7BA622-C09E-475E-8D48-F153FBE7A74A}">
      <dgm:prSet custT="1"/>
      <dgm:spPr/>
      <dgm:t>
        <a:bodyPr/>
        <a:lstStyle/>
        <a:p>
          <a:pPr>
            <a:lnSpc>
              <a:spcPct val="100000"/>
            </a:lnSpc>
          </a:pPr>
          <a:r>
            <a:rPr lang="en-150" sz="1500" dirty="0"/>
            <a:t>GenAI tools at more than 90 organisations exploited</a:t>
          </a:r>
          <a:endParaRPr lang="en-US" sz="1500" dirty="0"/>
        </a:p>
      </dgm:t>
    </dgm:pt>
    <dgm:pt modelId="{1241DFB6-30EE-44BB-8808-0C3F4C00316F}" type="parTrans" cxnId="{D1DB8E48-FB27-4991-9708-ACDAB78AC6D2}">
      <dgm:prSet/>
      <dgm:spPr/>
      <dgm:t>
        <a:bodyPr/>
        <a:lstStyle/>
        <a:p>
          <a:endParaRPr lang="en-US"/>
        </a:p>
      </dgm:t>
    </dgm:pt>
    <dgm:pt modelId="{F2916851-2246-40C6-9688-36F6A85048EE}" type="sibTrans" cxnId="{D1DB8E48-FB27-4991-9708-ACDAB78AC6D2}">
      <dgm:prSet/>
      <dgm:spPr/>
      <dgm:t>
        <a:bodyPr/>
        <a:lstStyle/>
        <a:p>
          <a:endParaRPr lang="en-US"/>
        </a:p>
      </dgm:t>
    </dgm:pt>
    <dgm:pt modelId="{F2706A3D-9506-4C24-AEAC-3A25B9A69EDD}">
      <dgm:prSet custT="1"/>
      <dgm:spPr/>
      <dgm:t>
        <a:bodyPr/>
        <a:lstStyle/>
        <a:p>
          <a:pPr>
            <a:lnSpc>
              <a:spcPct val="100000"/>
            </a:lnSpc>
          </a:pPr>
          <a:r>
            <a:rPr lang="en-150" sz="1500" dirty="0"/>
            <a:t>Exploitation of AI development platforms</a:t>
          </a:r>
          <a:endParaRPr lang="en-US" sz="1500" dirty="0"/>
        </a:p>
      </dgm:t>
    </dgm:pt>
    <dgm:pt modelId="{80D41231-2E3E-4AE1-BA39-F3A994D2B23B}" type="parTrans" cxnId="{9D24778D-80A3-409A-BB05-5DB0DF2B398F}">
      <dgm:prSet/>
      <dgm:spPr/>
      <dgm:t>
        <a:bodyPr/>
        <a:lstStyle/>
        <a:p>
          <a:endParaRPr lang="en-US"/>
        </a:p>
      </dgm:t>
    </dgm:pt>
    <dgm:pt modelId="{096ED132-A77F-4978-BA87-D9F3A17B8D17}" type="sibTrans" cxnId="{9D24778D-80A3-409A-BB05-5DB0DF2B398F}">
      <dgm:prSet/>
      <dgm:spPr/>
      <dgm:t>
        <a:bodyPr/>
        <a:lstStyle/>
        <a:p>
          <a:endParaRPr lang="en-US"/>
        </a:p>
      </dgm:t>
    </dgm:pt>
    <dgm:pt modelId="{5947791B-F45F-4ADE-85D1-D28E68584853}">
      <dgm:prSet custT="1"/>
      <dgm:spPr/>
      <dgm:t>
        <a:bodyPr/>
        <a:lstStyle/>
        <a:p>
          <a:pPr>
            <a:lnSpc>
              <a:spcPct val="100000"/>
            </a:lnSpc>
          </a:pPr>
          <a:r>
            <a:rPr lang="en-150" sz="1500" dirty="0"/>
            <a:t>Zero day and cloud exploitation grows</a:t>
          </a:r>
        </a:p>
      </dgm:t>
    </dgm:pt>
    <dgm:pt modelId="{18B58865-9419-42C2-912E-9854E25C50F3}" type="parTrans" cxnId="{9CDEE657-E0B9-426B-9836-681B9AFC95DF}">
      <dgm:prSet/>
      <dgm:spPr/>
      <dgm:t>
        <a:bodyPr/>
        <a:lstStyle/>
        <a:p>
          <a:endParaRPr lang="en-150"/>
        </a:p>
      </dgm:t>
    </dgm:pt>
    <dgm:pt modelId="{E0B21B6F-D77A-4488-92D8-039D8097FF1A}" type="sibTrans" cxnId="{9CDEE657-E0B9-426B-9836-681B9AFC95DF}">
      <dgm:prSet/>
      <dgm:spPr/>
      <dgm:t>
        <a:bodyPr/>
        <a:lstStyle/>
        <a:p>
          <a:endParaRPr lang="en-150"/>
        </a:p>
      </dgm:t>
    </dgm:pt>
    <dgm:pt modelId="{B0BA94CE-BDB9-41B6-A86A-8AB5E031F120}" type="pres">
      <dgm:prSet presAssocID="{A4DD6EC2-C500-4C5D-A73A-FB11BE9E376A}" presName="root" presStyleCnt="0">
        <dgm:presLayoutVars>
          <dgm:dir/>
          <dgm:resizeHandles val="exact"/>
        </dgm:presLayoutVars>
      </dgm:prSet>
      <dgm:spPr/>
    </dgm:pt>
    <dgm:pt modelId="{3AB6B4B4-8784-4E71-86B5-0D912D3B20DC}" type="pres">
      <dgm:prSet presAssocID="{4E7BA622-C09E-475E-8D48-F153FBE7A74A}" presName="compNode" presStyleCnt="0"/>
      <dgm:spPr/>
    </dgm:pt>
    <dgm:pt modelId="{491DF435-78EA-4151-A71D-159880A63068}" type="pres">
      <dgm:prSet presAssocID="{4E7BA622-C09E-475E-8D48-F153FBE7A74A}" presName="bgRect" presStyleLbl="bgShp" presStyleIdx="0" presStyleCnt="3"/>
      <dgm:spPr>
        <a:solidFill>
          <a:srgbClr val="C00000"/>
        </a:solidFill>
      </dgm:spPr>
    </dgm:pt>
    <dgm:pt modelId="{9D1C3F9B-725F-4B30-ACDE-3ED88A4877DB}" type="pres">
      <dgm:prSet presAssocID="{4E7BA622-C09E-475E-8D48-F153FBE7A74A}"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Artificial Intelligence with solid fill"/>
        </a:ext>
      </dgm:extLst>
    </dgm:pt>
    <dgm:pt modelId="{416394CF-1C7D-4839-BEC5-E8CE885D94C9}" type="pres">
      <dgm:prSet presAssocID="{4E7BA622-C09E-475E-8D48-F153FBE7A74A}" presName="spaceRect" presStyleCnt="0"/>
      <dgm:spPr/>
    </dgm:pt>
    <dgm:pt modelId="{6AD9FCBE-5C89-4DD3-B351-847D1378DE7B}" type="pres">
      <dgm:prSet presAssocID="{4E7BA622-C09E-475E-8D48-F153FBE7A74A}" presName="parTx" presStyleLbl="revTx" presStyleIdx="0" presStyleCnt="3">
        <dgm:presLayoutVars>
          <dgm:chMax val="0"/>
          <dgm:chPref val="0"/>
        </dgm:presLayoutVars>
      </dgm:prSet>
      <dgm:spPr/>
    </dgm:pt>
    <dgm:pt modelId="{EFF12E33-2A53-46C3-8107-1317DFC44D8A}" type="pres">
      <dgm:prSet presAssocID="{F2916851-2246-40C6-9688-36F6A85048EE}" presName="sibTrans" presStyleCnt="0"/>
      <dgm:spPr/>
    </dgm:pt>
    <dgm:pt modelId="{CBA1CBC7-4C82-43B2-8CFF-94D1557395A4}" type="pres">
      <dgm:prSet presAssocID="{F2706A3D-9506-4C24-AEAC-3A25B9A69EDD}" presName="compNode" presStyleCnt="0"/>
      <dgm:spPr/>
    </dgm:pt>
    <dgm:pt modelId="{46C48D36-C793-40BB-8094-9336F938853D}" type="pres">
      <dgm:prSet presAssocID="{F2706A3D-9506-4C24-AEAC-3A25B9A69EDD}" presName="bgRect" presStyleLbl="bgShp" presStyleIdx="1" presStyleCnt="3"/>
      <dgm:spPr>
        <a:solidFill>
          <a:srgbClr val="C00000"/>
        </a:solidFill>
      </dgm:spPr>
    </dgm:pt>
    <dgm:pt modelId="{C850C175-AB4B-4125-B46E-C977AEF28A4A}" type="pres">
      <dgm:prSet presAssocID="{F2706A3D-9506-4C24-AEAC-3A25B9A69EDD}"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grammer male with solid fill"/>
        </a:ext>
      </dgm:extLst>
    </dgm:pt>
    <dgm:pt modelId="{BAD07BD9-6A99-42C7-BB17-C55C14BA184F}" type="pres">
      <dgm:prSet presAssocID="{F2706A3D-9506-4C24-AEAC-3A25B9A69EDD}" presName="spaceRect" presStyleCnt="0"/>
      <dgm:spPr/>
    </dgm:pt>
    <dgm:pt modelId="{D6F96CF0-9544-4A5E-BAA1-CB31D60232D5}" type="pres">
      <dgm:prSet presAssocID="{F2706A3D-9506-4C24-AEAC-3A25B9A69EDD}" presName="parTx" presStyleLbl="revTx" presStyleIdx="1" presStyleCnt="3">
        <dgm:presLayoutVars>
          <dgm:chMax val="0"/>
          <dgm:chPref val="0"/>
        </dgm:presLayoutVars>
      </dgm:prSet>
      <dgm:spPr/>
    </dgm:pt>
    <dgm:pt modelId="{ED5B3D72-55EB-4E0B-9493-039B779FF5D1}" type="pres">
      <dgm:prSet presAssocID="{096ED132-A77F-4978-BA87-D9F3A17B8D17}" presName="sibTrans" presStyleCnt="0"/>
      <dgm:spPr/>
    </dgm:pt>
    <dgm:pt modelId="{2A16054E-65CB-49E8-9211-86ECB5E26970}" type="pres">
      <dgm:prSet presAssocID="{5947791B-F45F-4ADE-85D1-D28E68584853}" presName="compNode" presStyleCnt="0"/>
      <dgm:spPr/>
    </dgm:pt>
    <dgm:pt modelId="{49BF9733-2CDC-4CB5-B910-3B06921EE129}" type="pres">
      <dgm:prSet presAssocID="{5947791B-F45F-4ADE-85D1-D28E68584853}" presName="bgRect" presStyleLbl="bgShp" presStyleIdx="2" presStyleCnt="3"/>
      <dgm:spPr>
        <a:solidFill>
          <a:srgbClr val="C00000"/>
        </a:solidFill>
      </dgm:spPr>
    </dgm:pt>
    <dgm:pt modelId="{8028D749-3055-4560-880B-8F3D66C58A40}" type="pres">
      <dgm:prSet presAssocID="{5947791B-F45F-4ADE-85D1-D28E68584853}"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Exponential Graph with solid fill"/>
        </a:ext>
      </dgm:extLst>
    </dgm:pt>
    <dgm:pt modelId="{D2FE3607-426C-41F0-BB19-67A1CA55A07C}" type="pres">
      <dgm:prSet presAssocID="{5947791B-F45F-4ADE-85D1-D28E68584853}" presName="spaceRect" presStyleCnt="0"/>
      <dgm:spPr/>
    </dgm:pt>
    <dgm:pt modelId="{65C06D2E-0B2E-4894-852F-992D34DC2318}" type="pres">
      <dgm:prSet presAssocID="{5947791B-F45F-4ADE-85D1-D28E68584853}" presName="parTx" presStyleLbl="revTx" presStyleIdx="2" presStyleCnt="3">
        <dgm:presLayoutVars>
          <dgm:chMax val="0"/>
          <dgm:chPref val="0"/>
        </dgm:presLayoutVars>
      </dgm:prSet>
      <dgm:spPr/>
    </dgm:pt>
  </dgm:ptLst>
  <dgm:cxnLst>
    <dgm:cxn modelId="{D1DB8E48-FB27-4991-9708-ACDAB78AC6D2}" srcId="{A4DD6EC2-C500-4C5D-A73A-FB11BE9E376A}" destId="{4E7BA622-C09E-475E-8D48-F153FBE7A74A}" srcOrd="0" destOrd="0" parTransId="{1241DFB6-30EE-44BB-8808-0C3F4C00316F}" sibTransId="{F2916851-2246-40C6-9688-36F6A85048EE}"/>
    <dgm:cxn modelId="{2254C64B-AFAC-4810-B0D5-9C8C9AF32E88}" type="presOf" srcId="{5947791B-F45F-4ADE-85D1-D28E68584853}" destId="{65C06D2E-0B2E-4894-852F-992D34DC2318}" srcOrd="0" destOrd="0" presId="urn:microsoft.com/office/officeart/2018/2/layout/IconVerticalSolidList"/>
    <dgm:cxn modelId="{9CDEE657-E0B9-426B-9836-681B9AFC95DF}" srcId="{A4DD6EC2-C500-4C5D-A73A-FB11BE9E376A}" destId="{5947791B-F45F-4ADE-85D1-D28E68584853}" srcOrd="2" destOrd="0" parTransId="{18B58865-9419-42C2-912E-9854E25C50F3}" sibTransId="{E0B21B6F-D77A-4488-92D8-039D8097FF1A}"/>
    <dgm:cxn modelId="{1F3EF57D-FD70-470C-80EC-97432A46F0D9}" type="presOf" srcId="{A4DD6EC2-C500-4C5D-A73A-FB11BE9E376A}" destId="{B0BA94CE-BDB9-41B6-A86A-8AB5E031F120}" srcOrd="0" destOrd="0" presId="urn:microsoft.com/office/officeart/2018/2/layout/IconVerticalSolidList"/>
    <dgm:cxn modelId="{CC387F8A-FBC7-4E85-854D-B37AE9F2539B}" type="presOf" srcId="{4E7BA622-C09E-475E-8D48-F153FBE7A74A}" destId="{6AD9FCBE-5C89-4DD3-B351-847D1378DE7B}" srcOrd="0" destOrd="0" presId="urn:microsoft.com/office/officeart/2018/2/layout/IconVerticalSolidList"/>
    <dgm:cxn modelId="{9D24778D-80A3-409A-BB05-5DB0DF2B398F}" srcId="{A4DD6EC2-C500-4C5D-A73A-FB11BE9E376A}" destId="{F2706A3D-9506-4C24-AEAC-3A25B9A69EDD}" srcOrd="1" destOrd="0" parTransId="{80D41231-2E3E-4AE1-BA39-F3A994D2B23B}" sibTransId="{096ED132-A77F-4978-BA87-D9F3A17B8D17}"/>
    <dgm:cxn modelId="{993C4FF9-B8E6-49FD-9E38-6145C3A91A04}" type="presOf" srcId="{F2706A3D-9506-4C24-AEAC-3A25B9A69EDD}" destId="{D6F96CF0-9544-4A5E-BAA1-CB31D60232D5}" srcOrd="0" destOrd="0" presId="urn:microsoft.com/office/officeart/2018/2/layout/IconVerticalSolidList"/>
    <dgm:cxn modelId="{94FCF18A-4942-46AF-9143-A81BB71A8D2D}" type="presParOf" srcId="{B0BA94CE-BDB9-41B6-A86A-8AB5E031F120}" destId="{3AB6B4B4-8784-4E71-86B5-0D912D3B20DC}" srcOrd="0" destOrd="0" presId="urn:microsoft.com/office/officeart/2018/2/layout/IconVerticalSolidList"/>
    <dgm:cxn modelId="{6AB77506-9A12-4B8D-BFB5-B16C202A8730}" type="presParOf" srcId="{3AB6B4B4-8784-4E71-86B5-0D912D3B20DC}" destId="{491DF435-78EA-4151-A71D-159880A63068}" srcOrd="0" destOrd="0" presId="urn:microsoft.com/office/officeart/2018/2/layout/IconVerticalSolidList"/>
    <dgm:cxn modelId="{67259F3F-C32E-4CDC-8350-292B8E082789}" type="presParOf" srcId="{3AB6B4B4-8784-4E71-86B5-0D912D3B20DC}" destId="{9D1C3F9B-725F-4B30-ACDE-3ED88A4877DB}" srcOrd="1" destOrd="0" presId="urn:microsoft.com/office/officeart/2018/2/layout/IconVerticalSolidList"/>
    <dgm:cxn modelId="{6C903385-5DF5-48AC-BD41-14276AE72458}" type="presParOf" srcId="{3AB6B4B4-8784-4E71-86B5-0D912D3B20DC}" destId="{416394CF-1C7D-4839-BEC5-E8CE885D94C9}" srcOrd="2" destOrd="0" presId="urn:microsoft.com/office/officeart/2018/2/layout/IconVerticalSolidList"/>
    <dgm:cxn modelId="{CD3C6DBA-762D-4EA8-BDF8-FE96F1B2E0DF}" type="presParOf" srcId="{3AB6B4B4-8784-4E71-86B5-0D912D3B20DC}" destId="{6AD9FCBE-5C89-4DD3-B351-847D1378DE7B}" srcOrd="3" destOrd="0" presId="urn:microsoft.com/office/officeart/2018/2/layout/IconVerticalSolidList"/>
    <dgm:cxn modelId="{24197FC6-ECCD-4AEC-961B-7AC40A09468D}" type="presParOf" srcId="{B0BA94CE-BDB9-41B6-A86A-8AB5E031F120}" destId="{EFF12E33-2A53-46C3-8107-1317DFC44D8A}" srcOrd="1" destOrd="0" presId="urn:microsoft.com/office/officeart/2018/2/layout/IconVerticalSolidList"/>
    <dgm:cxn modelId="{A92B477B-7CC3-4B7A-81E3-F9E922994332}" type="presParOf" srcId="{B0BA94CE-BDB9-41B6-A86A-8AB5E031F120}" destId="{CBA1CBC7-4C82-43B2-8CFF-94D1557395A4}" srcOrd="2" destOrd="0" presId="urn:microsoft.com/office/officeart/2018/2/layout/IconVerticalSolidList"/>
    <dgm:cxn modelId="{37F94490-EE84-4030-98E7-500816425D21}" type="presParOf" srcId="{CBA1CBC7-4C82-43B2-8CFF-94D1557395A4}" destId="{46C48D36-C793-40BB-8094-9336F938853D}" srcOrd="0" destOrd="0" presId="urn:microsoft.com/office/officeart/2018/2/layout/IconVerticalSolidList"/>
    <dgm:cxn modelId="{8888BB85-4404-41FB-82A8-6E644D913ED7}" type="presParOf" srcId="{CBA1CBC7-4C82-43B2-8CFF-94D1557395A4}" destId="{C850C175-AB4B-4125-B46E-C977AEF28A4A}" srcOrd="1" destOrd="0" presId="urn:microsoft.com/office/officeart/2018/2/layout/IconVerticalSolidList"/>
    <dgm:cxn modelId="{717BA0DB-D87D-479B-84AD-9FBDA67C937F}" type="presParOf" srcId="{CBA1CBC7-4C82-43B2-8CFF-94D1557395A4}" destId="{BAD07BD9-6A99-42C7-BB17-C55C14BA184F}" srcOrd="2" destOrd="0" presId="urn:microsoft.com/office/officeart/2018/2/layout/IconVerticalSolidList"/>
    <dgm:cxn modelId="{0C2C7344-FEA9-4087-9385-ECB39D609DE2}" type="presParOf" srcId="{CBA1CBC7-4C82-43B2-8CFF-94D1557395A4}" destId="{D6F96CF0-9544-4A5E-BAA1-CB31D60232D5}" srcOrd="3" destOrd="0" presId="urn:microsoft.com/office/officeart/2018/2/layout/IconVerticalSolidList"/>
    <dgm:cxn modelId="{3BAAAB46-E020-4ADC-8049-C958ADF18104}" type="presParOf" srcId="{B0BA94CE-BDB9-41B6-A86A-8AB5E031F120}" destId="{ED5B3D72-55EB-4E0B-9493-039B779FF5D1}" srcOrd="3" destOrd="0" presId="urn:microsoft.com/office/officeart/2018/2/layout/IconVerticalSolidList"/>
    <dgm:cxn modelId="{5895F121-531C-48C4-B963-6B802088AF04}" type="presParOf" srcId="{B0BA94CE-BDB9-41B6-A86A-8AB5E031F120}" destId="{2A16054E-65CB-49E8-9211-86ECB5E26970}" srcOrd="4" destOrd="0" presId="urn:microsoft.com/office/officeart/2018/2/layout/IconVerticalSolidList"/>
    <dgm:cxn modelId="{5C4A279E-0E22-4393-A139-FAE0B283C03D}" type="presParOf" srcId="{2A16054E-65CB-49E8-9211-86ECB5E26970}" destId="{49BF9733-2CDC-4CB5-B910-3B06921EE129}" srcOrd="0" destOrd="0" presId="urn:microsoft.com/office/officeart/2018/2/layout/IconVerticalSolidList"/>
    <dgm:cxn modelId="{3DB4404D-8A6F-4951-95D0-ECD050E92BF4}" type="presParOf" srcId="{2A16054E-65CB-49E8-9211-86ECB5E26970}" destId="{8028D749-3055-4560-880B-8F3D66C58A40}" srcOrd="1" destOrd="0" presId="urn:microsoft.com/office/officeart/2018/2/layout/IconVerticalSolidList"/>
    <dgm:cxn modelId="{EBB6B3E4-517C-4CF8-8515-2054DFBE1B3D}" type="presParOf" srcId="{2A16054E-65CB-49E8-9211-86ECB5E26970}" destId="{D2FE3607-426C-41F0-BB19-67A1CA55A07C}" srcOrd="2" destOrd="0" presId="urn:microsoft.com/office/officeart/2018/2/layout/IconVerticalSolidList"/>
    <dgm:cxn modelId="{65324101-DA75-4E56-8B60-CE30D4E49D08}" type="presParOf" srcId="{2A16054E-65CB-49E8-9211-86ECB5E26970}" destId="{65C06D2E-0B2E-4894-852F-992D34DC2318}"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DD6EC2-C500-4C5D-A73A-FB11BE9E376A}" type="doc">
      <dgm:prSet loTypeId="urn:microsoft.com/office/officeart/2018/2/layout/IconVerticalSolidList" loCatId="icon" qsTypeId="urn:microsoft.com/office/officeart/2005/8/quickstyle/simple1" qsCatId="simple" csTypeId="urn:microsoft.com/office/officeart/2018/5/colors/Iconchunking_neutralicontext_accent3_2" csCatId="accent3" phldr="1"/>
      <dgm:spPr/>
      <dgm:t>
        <a:bodyPr/>
        <a:lstStyle/>
        <a:p>
          <a:endParaRPr lang="en-US"/>
        </a:p>
      </dgm:t>
    </dgm:pt>
    <dgm:pt modelId="{4E7BA622-C09E-475E-8D48-F153FBE7A74A}">
      <dgm:prSet custT="1"/>
      <dgm:spPr/>
      <dgm:t>
        <a:bodyPr/>
        <a:lstStyle/>
        <a:p>
          <a:pPr>
            <a:lnSpc>
              <a:spcPct val="100000"/>
            </a:lnSpc>
          </a:pPr>
          <a:r>
            <a:rPr lang="en-150" sz="1500" dirty="0"/>
            <a:t>China-nexus activity increased 38% in 2025 with 67% granting immediate system access, while 40% targeted internet facing edge devices</a:t>
          </a:r>
          <a:endParaRPr lang="en-US" sz="1500" dirty="0"/>
        </a:p>
      </dgm:t>
    </dgm:pt>
    <dgm:pt modelId="{1241DFB6-30EE-44BB-8808-0C3F4C00316F}" type="parTrans" cxnId="{D1DB8E48-FB27-4991-9708-ACDAB78AC6D2}">
      <dgm:prSet/>
      <dgm:spPr/>
      <dgm:t>
        <a:bodyPr/>
        <a:lstStyle/>
        <a:p>
          <a:endParaRPr lang="en-US"/>
        </a:p>
      </dgm:t>
    </dgm:pt>
    <dgm:pt modelId="{F2916851-2246-40C6-9688-36F6A85048EE}" type="sibTrans" cxnId="{D1DB8E48-FB27-4991-9708-ACDAB78AC6D2}">
      <dgm:prSet/>
      <dgm:spPr/>
      <dgm:t>
        <a:bodyPr/>
        <a:lstStyle/>
        <a:p>
          <a:endParaRPr lang="en-US"/>
        </a:p>
      </dgm:t>
    </dgm:pt>
    <dgm:pt modelId="{F2706A3D-9506-4C24-AEAC-3A25B9A69EDD}">
      <dgm:prSet custT="1"/>
      <dgm:spPr/>
      <dgm:t>
        <a:bodyPr/>
        <a:lstStyle/>
        <a:p>
          <a:pPr>
            <a:lnSpc>
              <a:spcPct val="100000"/>
            </a:lnSpc>
          </a:pPr>
          <a:r>
            <a:rPr lang="en-150" sz="1500" dirty="0"/>
            <a:t>DPRK related incidents rose more than 130%. Stole over $1.46B in cryptocurrency, largest single financial heist ever reported</a:t>
          </a:r>
          <a:endParaRPr lang="en-US" sz="1500" dirty="0"/>
        </a:p>
      </dgm:t>
    </dgm:pt>
    <dgm:pt modelId="{80D41231-2E3E-4AE1-BA39-F3A994D2B23B}" type="parTrans" cxnId="{9D24778D-80A3-409A-BB05-5DB0DF2B398F}">
      <dgm:prSet/>
      <dgm:spPr/>
      <dgm:t>
        <a:bodyPr/>
        <a:lstStyle/>
        <a:p>
          <a:endParaRPr lang="en-US"/>
        </a:p>
      </dgm:t>
    </dgm:pt>
    <dgm:pt modelId="{096ED132-A77F-4978-BA87-D9F3A17B8D17}" type="sibTrans" cxnId="{9D24778D-80A3-409A-BB05-5DB0DF2B398F}">
      <dgm:prSet/>
      <dgm:spPr/>
      <dgm:t>
        <a:bodyPr/>
        <a:lstStyle/>
        <a:p>
          <a:endParaRPr lang="en-US"/>
        </a:p>
      </dgm:t>
    </dgm:pt>
    <dgm:pt modelId="{5947791B-F45F-4ADE-85D1-D28E68584853}">
      <dgm:prSet custT="1"/>
      <dgm:spPr/>
      <dgm:t>
        <a:bodyPr/>
        <a:lstStyle/>
        <a:p>
          <a:pPr>
            <a:lnSpc>
              <a:spcPct val="100000"/>
            </a:lnSpc>
          </a:pPr>
          <a:r>
            <a:rPr lang="en-150" sz="1500" dirty="0"/>
            <a:t>Russia-nexus group deployed LLM-enabled malware (LAMEHUG) to automate recon and document collection</a:t>
          </a:r>
        </a:p>
      </dgm:t>
    </dgm:pt>
    <dgm:pt modelId="{18B58865-9419-42C2-912E-9854E25C50F3}" type="parTrans" cxnId="{9CDEE657-E0B9-426B-9836-681B9AFC95DF}">
      <dgm:prSet/>
      <dgm:spPr/>
      <dgm:t>
        <a:bodyPr/>
        <a:lstStyle/>
        <a:p>
          <a:endParaRPr lang="en-150"/>
        </a:p>
      </dgm:t>
    </dgm:pt>
    <dgm:pt modelId="{E0B21B6F-D77A-4488-92D8-039D8097FF1A}" type="sibTrans" cxnId="{9CDEE657-E0B9-426B-9836-681B9AFC95DF}">
      <dgm:prSet/>
      <dgm:spPr/>
      <dgm:t>
        <a:bodyPr/>
        <a:lstStyle/>
        <a:p>
          <a:endParaRPr lang="en-150"/>
        </a:p>
      </dgm:t>
    </dgm:pt>
    <dgm:pt modelId="{B0BA94CE-BDB9-41B6-A86A-8AB5E031F120}" type="pres">
      <dgm:prSet presAssocID="{A4DD6EC2-C500-4C5D-A73A-FB11BE9E376A}" presName="root" presStyleCnt="0">
        <dgm:presLayoutVars>
          <dgm:dir/>
          <dgm:resizeHandles val="exact"/>
        </dgm:presLayoutVars>
      </dgm:prSet>
      <dgm:spPr/>
    </dgm:pt>
    <dgm:pt modelId="{3AB6B4B4-8784-4E71-86B5-0D912D3B20DC}" type="pres">
      <dgm:prSet presAssocID="{4E7BA622-C09E-475E-8D48-F153FBE7A74A}" presName="compNode" presStyleCnt="0"/>
      <dgm:spPr/>
    </dgm:pt>
    <dgm:pt modelId="{491DF435-78EA-4151-A71D-159880A63068}" type="pres">
      <dgm:prSet presAssocID="{4E7BA622-C09E-475E-8D48-F153FBE7A74A}" presName="bgRect" presStyleLbl="bgShp" presStyleIdx="0" presStyleCnt="3"/>
      <dgm:spPr>
        <a:solidFill>
          <a:srgbClr val="C00000"/>
        </a:solidFill>
      </dgm:spPr>
    </dgm:pt>
    <dgm:pt modelId="{9D1C3F9B-725F-4B30-ACDE-3ED88A4877DB}" type="pres">
      <dgm:prSet presAssocID="{4E7BA622-C09E-475E-8D48-F153FBE7A74A}"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Dragon dance with solid fill"/>
        </a:ext>
      </dgm:extLst>
    </dgm:pt>
    <dgm:pt modelId="{416394CF-1C7D-4839-BEC5-E8CE885D94C9}" type="pres">
      <dgm:prSet presAssocID="{4E7BA622-C09E-475E-8D48-F153FBE7A74A}" presName="spaceRect" presStyleCnt="0"/>
      <dgm:spPr/>
    </dgm:pt>
    <dgm:pt modelId="{6AD9FCBE-5C89-4DD3-B351-847D1378DE7B}" type="pres">
      <dgm:prSet presAssocID="{4E7BA622-C09E-475E-8D48-F153FBE7A74A}" presName="parTx" presStyleLbl="revTx" presStyleIdx="0" presStyleCnt="3">
        <dgm:presLayoutVars>
          <dgm:chMax val="0"/>
          <dgm:chPref val="0"/>
        </dgm:presLayoutVars>
      </dgm:prSet>
      <dgm:spPr/>
    </dgm:pt>
    <dgm:pt modelId="{EFF12E33-2A53-46C3-8107-1317DFC44D8A}" type="pres">
      <dgm:prSet presAssocID="{F2916851-2246-40C6-9688-36F6A85048EE}" presName="sibTrans" presStyleCnt="0"/>
      <dgm:spPr/>
    </dgm:pt>
    <dgm:pt modelId="{CBA1CBC7-4C82-43B2-8CFF-94D1557395A4}" type="pres">
      <dgm:prSet presAssocID="{F2706A3D-9506-4C24-AEAC-3A25B9A69EDD}" presName="compNode" presStyleCnt="0"/>
      <dgm:spPr/>
    </dgm:pt>
    <dgm:pt modelId="{46C48D36-C793-40BB-8094-9336F938853D}" type="pres">
      <dgm:prSet presAssocID="{F2706A3D-9506-4C24-AEAC-3A25B9A69EDD}" presName="bgRect" presStyleLbl="bgShp" presStyleIdx="1" presStyleCnt="3"/>
      <dgm:spPr>
        <a:solidFill>
          <a:srgbClr val="C00000"/>
        </a:solidFill>
      </dgm:spPr>
    </dgm:pt>
    <dgm:pt modelId="{C850C175-AB4B-4125-B46E-C977AEF28A4A}" type="pres">
      <dgm:prSet presAssocID="{F2706A3D-9506-4C24-AEAC-3A25B9A69EDD}"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tar with solid fill"/>
        </a:ext>
      </dgm:extLst>
    </dgm:pt>
    <dgm:pt modelId="{BAD07BD9-6A99-42C7-BB17-C55C14BA184F}" type="pres">
      <dgm:prSet presAssocID="{F2706A3D-9506-4C24-AEAC-3A25B9A69EDD}" presName="spaceRect" presStyleCnt="0"/>
      <dgm:spPr/>
    </dgm:pt>
    <dgm:pt modelId="{D6F96CF0-9544-4A5E-BAA1-CB31D60232D5}" type="pres">
      <dgm:prSet presAssocID="{F2706A3D-9506-4C24-AEAC-3A25B9A69EDD}" presName="parTx" presStyleLbl="revTx" presStyleIdx="1" presStyleCnt="3">
        <dgm:presLayoutVars>
          <dgm:chMax val="0"/>
          <dgm:chPref val="0"/>
        </dgm:presLayoutVars>
      </dgm:prSet>
      <dgm:spPr/>
    </dgm:pt>
    <dgm:pt modelId="{ED5B3D72-55EB-4E0B-9493-039B779FF5D1}" type="pres">
      <dgm:prSet presAssocID="{096ED132-A77F-4978-BA87-D9F3A17B8D17}" presName="sibTrans" presStyleCnt="0"/>
      <dgm:spPr/>
    </dgm:pt>
    <dgm:pt modelId="{2A16054E-65CB-49E8-9211-86ECB5E26970}" type="pres">
      <dgm:prSet presAssocID="{5947791B-F45F-4ADE-85D1-D28E68584853}" presName="compNode" presStyleCnt="0"/>
      <dgm:spPr/>
    </dgm:pt>
    <dgm:pt modelId="{49BF9733-2CDC-4CB5-B910-3B06921EE129}" type="pres">
      <dgm:prSet presAssocID="{5947791B-F45F-4ADE-85D1-D28E68584853}" presName="bgRect" presStyleLbl="bgShp" presStyleIdx="2" presStyleCnt="3"/>
      <dgm:spPr>
        <a:solidFill>
          <a:srgbClr val="C00000"/>
        </a:solidFill>
      </dgm:spPr>
    </dgm:pt>
    <dgm:pt modelId="{8028D749-3055-4560-880B-8F3D66C58A40}" type="pres">
      <dgm:prSet presAssocID="{5947791B-F45F-4ADE-85D1-D28E68584853}"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Bear with solid fill"/>
        </a:ext>
      </dgm:extLst>
    </dgm:pt>
    <dgm:pt modelId="{D2FE3607-426C-41F0-BB19-67A1CA55A07C}" type="pres">
      <dgm:prSet presAssocID="{5947791B-F45F-4ADE-85D1-D28E68584853}" presName="spaceRect" presStyleCnt="0"/>
      <dgm:spPr/>
    </dgm:pt>
    <dgm:pt modelId="{65C06D2E-0B2E-4894-852F-992D34DC2318}" type="pres">
      <dgm:prSet presAssocID="{5947791B-F45F-4ADE-85D1-D28E68584853}" presName="parTx" presStyleLbl="revTx" presStyleIdx="2" presStyleCnt="3">
        <dgm:presLayoutVars>
          <dgm:chMax val="0"/>
          <dgm:chPref val="0"/>
        </dgm:presLayoutVars>
      </dgm:prSet>
      <dgm:spPr/>
    </dgm:pt>
  </dgm:ptLst>
  <dgm:cxnLst>
    <dgm:cxn modelId="{D1DB8E48-FB27-4991-9708-ACDAB78AC6D2}" srcId="{A4DD6EC2-C500-4C5D-A73A-FB11BE9E376A}" destId="{4E7BA622-C09E-475E-8D48-F153FBE7A74A}" srcOrd="0" destOrd="0" parTransId="{1241DFB6-30EE-44BB-8808-0C3F4C00316F}" sibTransId="{F2916851-2246-40C6-9688-36F6A85048EE}"/>
    <dgm:cxn modelId="{2254C64B-AFAC-4810-B0D5-9C8C9AF32E88}" type="presOf" srcId="{5947791B-F45F-4ADE-85D1-D28E68584853}" destId="{65C06D2E-0B2E-4894-852F-992D34DC2318}" srcOrd="0" destOrd="0" presId="urn:microsoft.com/office/officeart/2018/2/layout/IconVerticalSolidList"/>
    <dgm:cxn modelId="{9CDEE657-E0B9-426B-9836-681B9AFC95DF}" srcId="{A4DD6EC2-C500-4C5D-A73A-FB11BE9E376A}" destId="{5947791B-F45F-4ADE-85D1-D28E68584853}" srcOrd="2" destOrd="0" parTransId="{18B58865-9419-42C2-912E-9854E25C50F3}" sibTransId="{E0B21B6F-D77A-4488-92D8-039D8097FF1A}"/>
    <dgm:cxn modelId="{1F3EF57D-FD70-470C-80EC-97432A46F0D9}" type="presOf" srcId="{A4DD6EC2-C500-4C5D-A73A-FB11BE9E376A}" destId="{B0BA94CE-BDB9-41B6-A86A-8AB5E031F120}" srcOrd="0" destOrd="0" presId="urn:microsoft.com/office/officeart/2018/2/layout/IconVerticalSolidList"/>
    <dgm:cxn modelId="{CC387F8A-FBC7-4E85-854D-B37AE9F2539B}" type="presOf" srcId="{4E7BA622-C09E-475E-8D48-F153FBE7A74A}" destId="{6AD9FCBE-5C89-4DD3-B351-847D1378DE7B}" srcOrd="0" destOrd="0" presId="urn:microsoft.com/office/officeart/2018/2/layout/IconVerticalSolidList"/>
    <dgm:cxn modelId="{9D24778D-80A3-409A-BB05-5DB0DF2B398F}" srcId="{A4DD6EC2-C500-4C5D-A73A-FB11BE9E376A}" destId="{F2706A3D-9506-4C24-AEAC-3A25B9A69EDD}" srcOrd="1" destOrd="0" parTransId="{80D41231-2E3E-4AE1-BA39-F3A994D2B23B}" sibTransId="{096ED132-A77F-4978-BA87-D9F3A17B8D17}"/>
    <dgm:cxn modelId="{993C4FF9-B8E6-49FD-9E38-6145C3A91A04}" type="presOf" srcId="{F2706A3D-9506-4C24-AEAC-3A25B9A69EDD}" destId="{D6F96CF0-9544-4A5E-BAA1-CB31D60232D5}" srcOrd="0" destOrd="0" presId="urn:microsoft.com/office/officeart/2018/2/layout/IconVerticalSolidList"/>
    <dgm:cxn modelId="{94FCF18A-4942-46AF-9143-A81BB71A8D2D}" type="presParOf" srcId="{B0BA94CE-BDB9-41B6-A86A-8AB5E031F120}" destId="{3AB6B4B4-8784-4E71-86B5-0D912D3B20DC}" srcOrd="0" destOrd="0" presId="urn:microsoft.com/office/officeart/2018/2/layout/IconVerticalSolidList"/>
    <dgm:cxn modelId="{6AB77506-9A12-4B8D-BFB5-B16C202A8730}" type="presParOf" srcId="{3AB6B4B4-8784-4E71-86B5-0D912D3B20DC}" destId="{491DF435-78EA-4151-A71D-159880A63068}" srcOrd="0" destOrd="0" presId="urn:microsoft.com/office/officeart/2018/2/layout/IconVerticalSolidList"/>
    <dgm:cxn modelId="{67259F3F-C32E-4CDC-8350-292B8E082789}" type="presParOf" srcId="{3AB6B4B4-8784-4E71-86B5-0D912D3B20DC}" destId="{9D1C3F9B-725F-4B30-ACDE-3ED88A4877DB}" srcOrd="1" destOrd="0" presId="urn:microsoft.com/office/officeart/2018/2/layout/IconVerticalSolidList"/>
    <dgm:cxn modelId="{6C903385-5DF5-48AC-BD41-14276AE72458}" type="presParOf" srcId="{3AB6B4B4-8784-4E71-86B5-0D912D3B20DC}" destId="{416394CF-1C7D-4839-BEC5-E8CE885D94C9}" srcOrd="2" destOrd="0" presId="urn:microsoft.com/office/officeart/2018/2/layout/IconVerticalSolidList"/>
    <dgm:cxn modelId="{CD3C6DBA-762D-4EA8-BDF8-FE96F1B2E0DF}" type="presParOf" srcId="{3AB6B4B4-8784-4E71-86B5-0D912D3B20DC}" destId="{6AD9FCBE-5C89-4DD3-B351-847D1378DE7B}" srcOrd="3" destOrd="0" presId="urn:microsoft.com/office/officeart/2018/2/layout/IconVerticalSolidList"/>
    <dgm:cxn modelId="{24197FC6-ECCD-4AEC-961B-7AC40A09468D}" type="presParOf" srcId="{B0BA94CE-BDB9-41B6-A86A-8AB5E031F120}" destId="{EFF12E33-2A53-46C3-8107-1317DFC44D8A}" srcOrd="1" destOrd="0" presId="urn:microsoft.com/office/officeart/2018/2/layout/IconVerticalSolidList"/>
    <dgm:cxn modelId="{A92B477B-7CC3-4B7A-81E3-F9E922994332}" type="presParOf" srcId="{B0BA94CE-BDB9-41B6-A86A-8AB5E031F120}" destId="{CBA1CBC7-4C82-43B2-8CFF-94D1557395A4}" srcOrd="2" destOrd="0" presId="urn:microsoft.com/office/officeart/2018/2/layout/IconVerticalSolidList"/>
    <dgm:cxn modelId="{37F94490-EE84-4030-98E7-500816425D21}" type="presParOf" srcId="{CBA1CBC7-4C82-43B2-8CFF-94D1557395A4}" destId="{46C48D36-C793-40BB-8094-9336F938853D}" srcOrd="0" destOrd="0" presId="urn:microsoft.com/office/officeart/2018/2/layout/IconVerticalSolidList"/>
    <dgm:cxn modelId="{8888BB85-4404-41FB-82A8-6E644D913ED7}" type="presParOf" srcId="{CBA1CBC7-4C82-43B2-8CFF-94D1557395A4}" destId="{C850C175-AB4B-4125-B46E-C977AEF28A4A}" srcOrd="1" destOrd="0" presId="urn:microsoft.com/office/officeart/2018/2/layout/IconVerticalSolidList"/>
    <dgm:cxn modelId="{717BA0DB-D87D-479B-84AD-9FBDA67C937F}" type="presParOf" srcId="{CBA1CBC7-4C82-43B2-8CFF-94D1557395A4}" destId="{BAD07BD9-6A99-42C7-BB17-C55C14BA184F}" srcOrd="2" destOrd="0" presId="urn:microsoft.com/office/officeart/2018/2/layout/IconVerticalSolidList"/>
    <dgm:cxn modelId="{0C2C7344-FEA9-4087-9385-ECB39D609DE2}" type="presParOf" srcId="{CBA1CBC7-4C82-43B2-8CFF-94D1557395A4}" destId="{D6F96CF0-9544-4A5E-BAA1-CB31D60232D5}" srcOrd="3" destOrd="0" presId="urn:microsoft.com/office/officeart/2018/2/layout/IconVerticalSolidList"/>
    <dgm:cxn modelId="{3BAAAB46-E020-4ADC-8049-C958ADF18104}" type="presParOf" srcId="{B0BA94CE-BDB9-41B6-A86A-8AB5E031F120}" destId="{ED5B3D72-55EB-4E0B-9493-039B779FF5D1}" srcOrd="3" destOrd="0" presId="urn:microsoft.com/office/officeart/2018/2/layout/IconVerticalSolidList"/>
    <dgm:cxn modelId="{5895F121-531C-48C4-B963-6B802088AF04}" type="presParOf" srcId="{B0BA94CE-BDB9-41B6-A86A-8AB5E031F120}" destId="{2A16054E-65CB-49E8-9211-86ECB5E26970}" srcOrd="4" destOrd="0" presId="urn:microsoft.com/office/officeart/2018/2/layout/IconVerticalSolidList"/>
    <dgm:cxn modelId="{5C4A279E-0E22-4393-A139-FAE0B283C03D}" type="presParOf" srcId="{2A16054E-65CB-49E8-9211-86ECB5E26970}" destId="{49BF9733-2CDC-4CB5-B910-3B06921EE129}" srcOrd="0" destOrd="0" presId="urn:microsoft.com/office/officeart/2018/2/layout/IconVerticalSolidList"/>
    <dgm:cxn modelId="{3DB4404D-8A6F-4951-95D0-ECD050E92BF4}" type="presParOf" srcId="{2A16054E-65CB-49E8-9211-86ECB5E26970}" destId="{8028D749-3055-4560-880B-8F3D66C58A40}" srcOrd="1" destOrd="0" presId="urn:microsoft.com/office/officeart/2018/2/layout/IconVerticalSolidList"/>
    <dgm:cxn modelId="{EBB6B3E4-517C-4CF8-8515-2054DFBE1B3D}" type="presParOf" srcId="{2A16054E-65CB-49E8-9211-86ECB5E26970}" destId="{D2FE3607-426C-41F0-BB19-67A1CA55A07C}" srcOrd="2" destOrd="0" presId="urn:microsoft.com/office/officeart/2018/2/layout/IconVerticalSolidList"/>
    <dgm:cxn modelId="{65324101-DA75-4E56-8B60-CE30D4E49D08}" type="presParOf" srcId="{2A16054E-65CB-49E8-9211-86ECB5E26970}" destId="{65C06D2E-0B2E-4894-852F-992D34DC2318}"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787495D-BC17-45C6-A883-F90ACA0FBEDB}"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143043FD-8E2D-4069-9F68-05819618E664}">
      <dgm:prSet custT="1"/>
      <dgm:spPr>
        <a:solidFill>
          <a:srgbClr val="C00000"/>
        </a:solidFill>
      </dgm:spPr>
      <dgm:t>
        <a:bodyPr/>
        <a:lstStyle/>
        <a:p>
          <a:pPr>
            <a:defRPr b="1"/>
          </a:pPr>
          <a:r>
            <a:rPr lang="en-150" sz="1200" dirty="0"/>
            <a:t>LLM01:2025 Prompt Injection</a:t>
          </a:r>
          <a:endParaRPr lang="en-US" sz="1200" dirty="0"/>
        </a:p>
      </dgm:t>
    </dgm:pt>
    <dgm:pt modelId="{2EC538E7-AE6F-454E-9887-4C46C353E93D}" type="parTrans" cxnId="{16BD50AA-1A37-4719-A8F2-84F0DCD37921}">
      <dgm:prSet/>
      <dgm:spPr/>
      <dgm:t>
        <a:bodyPr/>
        <a:lstStyle/>
        <a:p>
          <a:endParaRPr lang="en-US"/>
        </a:p>
      </dgm:t>
    </dgm:pt>
    <dgm:pt modelId="{4FD575E3-04E4-42AE-A694-2B67453CAE3A}" type="sibTrans" cxnId="{16BD50AA-1A37-4719-A8F2-84F0DCD37921}">
      <dgm:prSet/>
      <dgm:spPr/>
      <dgm:t>
        <a:bodyPr/>
        <a:lstStyle/>
        <a:p>
          <a:endParaRPr lang="en-US"/>
        </a:p>
      </dgm:t>
    </dgm:pt>
    <dgm:pt modelId="{FA4BD2AA-F6BC-473B-BDA2-9A3C2650E508}">
      <dgm:prSet custT="1"/>
      <dgm:spPr>
        <a:ln>
          <a:solidFill>
            <a:srgbClr val="C00000"/>
          </a:solidFill>
        </a:ln>
      </dgm:spPr>
      <dgm:t>
        <a:bodyPr/>
        <a:lstStyle/>
        <a:p>
          <a:r>
            <a:rPr lang="en-150" sz="1200" dirty="0"/>
            <a:t>Prompt injection occurs when user prompts alter the LLM’s behaviour or output in unintended ways</a:t>
          </a:r>
          <a:endParaRPr lang="en-US" sz="1200" dirty="0"/>
        </a:p>
      </dgm:t>
    </dgm:pt>
    <dgm:pt modelId="{28415645-E151-4468-B280-9F2BCF65F80D}" type="parTrans" cxnId="{253CB237-46FB-4C2E-AA73-7BC5AC3D1BEF}">
      <dgm:prSet/>
      <dgm:spPr/>
      <dgm:t>
        <a:bodyPr/>
        <a:lstStyle/>
        <a:p>
          <a:endParaRPr lang="en-US"/>
        </a:p>
      </dgm:t>
    </dgm:pt>
    <dgm:pt modelId="{878E747C-6A98-4E97-9270-59A0492637BE}" type="sibTrans" cxnId="{253CB237-46FB-4C2E-AA73-7BC5AC3D1BEF}">
      <dgm:prSet/>
      <dgm:spPr/>
      <dgm:t>
        <a:bodyPr/>
        <a:lstStyle/>
        <a:p>
          <a:endParaRPr lang="en-US"/>
        </a:p>
      </dgm:t>
    </dgm:pt>
    <dgm:pt modelId="{C8331545-2273-4993-93DA-01611E095755}">
      <dgm:prSet custT="1"/>
      <dgm:spPr>
        <a:solidFill>
          <a:srgbClr val="C00000"/>
        </a:solidFill>
        <a:ln>
          <a:solidFill>
            <a:srgbClr val="C00000"/>
          </a:solidFill>
        </a:ln>
      </dgm:spPr>
      <dgm:t>
        <a:bodyPr/>
        <a:lstStyle/>
        <a:p>
          <a:pPr>
            <a:defRPr b="1"/>
          </a:pPr>
          <a:r>
            <a:rPr lang="en-150" sz="1200" dirty="0"/>
            <a:t>LLM02:2025 Sensitive Information Disclosure</a:t>
          </a:r>
          <a:endParaRPr lang="en-US" sz="1200" dirty="0"/>
        </a:p>
      </dgm:t>
    </dgm:pt>
    <dgm:pt modelId="{A92EDE66-22B4-4650-8B51-11E74085357C}" type="parTrans" cxnId="{8C2B8EBE-BF67-4A8B-B571-C623D749D5EE}">
      <dgm:prSet/>
      <dgm:spPr/>
      <dgm:t>
        <a:bodyPr/>
        <a:lstStyle/>
        <a:p>
          <a:endParaRPr lang="en-US"/>
        </a:p>
      </dgm:t>
    </dgm:pt>
    <dgm:pt modelId="{3A039046-155F-407C-8377-D5B3B947184E}" type="sibTrans" cxnId="{8C2B8EBE-BF67-4A8B-B571-C623D749D5EE}">
      <dgm:prSet/>
      <dgm:spPr/>
      <dgm:t>
        <a:bodyPr/>
        <a:lstStyle/>
        <a:p>
          <a:endParaRPr lang="en-US"/>
        </a:p>
      </dgm:t>
    </dgm:pt>
    <dgm:pt modelId="{7E5413A5-A474-4D68-9190-46422650C91A}">
      <dgm:prSet custT="1"/>
      <dgm:spPr>
        <a:ln>
          <a:solidFill>
            <a:srgbClr val="C00000"/>
          </a:solidFill>
        </a:ln>
      </dgm:spPr>
      <dgm:t>
        <a:bodyPr/>
        <a:lstStyle/>
        <a:p>
          <a:r>
            <a:rPr lang="en-150" sz="1200" dirty="0"/>
            <a:t>Exposure of personal identifiable information, financial details, health records, confidential business data, security details. There may be even more information depending on the company and how they train their proprietary models.</a:t>
          </a:r>
          <a:endParaRPr lang="en-US" sz="1200" dirty="0"/>
        </a:p>
      </dgm:t>
    </dgm:pt>
    <dgm:pt modelId="{29626E4E-E40C-4CCA-8752-1D08BEE064A1}" type="parTrans" cxnId="{B3CD2DAC-98CA-449D-BAC4-B63D06A0D2F1}">
      <dgm:prSet/>
      <dgm:spPr/>
      <dgm:t>
        <a:bodyPr/>
        <a:lstStyle/>
        <a:p>
          <a:endParaRPr lang="en-US"/>
        </a:p>
      </dgm:t>
    </dgm:pt>
    <dgm:pt modelId="{98415123-94A4-47F0-9B15-ECFA37BF7357}" type="sibTrans" cxnId="{B3CD2DAC-98CA-449D-BAC4-B63D06A0D2F1}">
      <dgm:prSet/>
      <dgm:spPr/>
      <dgm:t>
        <a:bodyPr/>
        <a:lstStyle/>
        <a:p>
          <a:endParaRPr lang="en-US"/>
        </a:p>
      </dgm:t>
    </dgm:pt>
    <dgm:pt modelId="{876CF77A-98C1-4C82-9EAA-5B685022478A}">
      <dgm:prSet custT="1"/>
      <dgm:spPr>
        <a:solidFill>
          <a:srgbClr val="C00000"/>
        </a:solidFill>
      </dgm:spPr>
      <dgm:t>
        <a:bodyPr/>
        <a:lstStyle/>
        <a:p>
          <a:pPr>
            <a:defRPr b="1"/>
          </a:pPr>
          <a:r>
            <a:rPr lang="en-150" sz="1200" dirty="0"/>
            <a:t>LLM03:2025 Supply Chain Vulnerabilities</a:t>
          </a:r>
          <a:endParaRPr lang="en-US" sz="1200" dirty="0"/>
        </a:p>
      </dgm:t>
    </dgm:pt>
    <dgm:pt modelId="{27B43DB4-36DF-460A-835F-6F6619C0DE44}" type="parTrans" cxnId="{E92E38CE-E14A-4B3F-8EA6-00720DB0E536}">
      <dgm:prSet/>
      <dgm:spPr/>
      <dgm:t>
        <a:bodyPr/>
        <a:lstStyle/>
        <a:p>
          <a:endParaRPr lang="en-US"/>
        </a:p>
      </dgm:t>
    </dgm:pt>
    <dgm:pt modelId="{7E4F37C0-07C1-4AB8-BF35-00F471B0D7F3}" type="sibTrans" cxnId="{E92E38CE-E14A-4B3F-8EA6-00720DB0E536}">
      <dgm:prSet/>
      <dgm:spPr/>
      <dgm:t>
        <a:bodyPr/>
        <a:lstStyle/>
        <a:p>
          <a:endParaRPr lang="en-US"/>
        </a:p>
      </dgm:t>
    </dgm:pt>
    <dgm:pt modelId="{20354127-A8E9-4D5F-B570-435020D83AD1}">
      <dgm:prSet custT="1"/>
      <dgm:spPr>
        <a:solidFill>
          <a:srgbClr val="C00000"/>
        </a:solidFill>
        <a:ln>
          <a:solidFill>
            <a:srgbClr val="C00000"/>
          </a:solidFill>
        </a:ln>
      </dgm:spPr>
      <dgm:t>
        <a:bodyPr/>
        <a:lstStyle/>
        <a:p>
          <a:r>
            <a:rPr lang="en-150" sz="1200" b="1" dirty="0"/>
            <a:t>LLM04:2025 Data and Model Poisoning</a:t>
          </a:r>
        </a:p>
      </dgm:t>
    </dgm:pt>
    <dgm:pt modelId="{A064B45B-3A10-435A-987E-8932CE2E5AE7}" type="parTrans" cxnId="{504FF0D7-4507-428F-99DB-FC42B00A2957}">
      <dgm:prSet/>
      <dgm:spPr/>
      <dgm:t>
        <a:bodyPr/>
        <a:lstStyle/>
        <a:p>
          <a:endParaRPr lang="en-150"/>
        </a:p>
      </dgm:t>
    </dgm:pt>
    <dgm:pt modelId="{D6DB35A8-B3C4-4D27-991E-38A6F8E294D8}" type="sibTrans" cxnId="{504FF0D7-4507-428F-99DB-FC42B00A2957}">
      <dgm:prSet/>
      <dgm:spPr/>
      <dgm:t>
        <a:bodyPr/>
        <a:lstStyle/>
        <a:p>
          <a:endParaRPr lang="en-150"/>
        </a:p>
      </dgm:t>
    </dgm:pt>
    <dgm:pt modelId="{EDC2587B-C6EE-4D4E-BDDB-BE5E8E9497F5}">
      <dgm:prSet/>
      <dgm:spPr>
        <a:ln>
          <a:solidFill>
            <a:srgbClr val="C00000"/>
          </a:solidFill>
        </a:ln>
      </dgm:spPr>
      <dgm:t>
        <a:bodyPr/>
        <a:lstStyle/>
        <a:p>
          <a:r>
            <a:rPr lang="en-150" dirty="0"/>
            <a:t>Risks from a 3rd party model datasets, plugins, etc. A compromised base model or poisoned training data can introduce backdoors</a:t>
          </a:r>
        </a:p>
      </dgm:t>
    </dgm:pt>
    <dgm:pt modelId="{74569101-647E-4AFD-9AD1-D57398E55978}" type="parTrans" cxnId="{F7130D24-0FBD-42FD-9D2B-EB29A998233F}">
      <dgm:prSet/>
      <dgm:spPr/>
      <dgm:t>
        <a:bodyPr/>
        <a:lstStyle/>
        <a:p>
          <a:endParaRPr lang="en-150"/>
        </a:p>
      </dgm:t>
    </dgm:pt>
    <dgm:pt modelId="{9A99B694-5B38-44B5-AE5E-C7F595E1701B}" type="sibTrans" cxnId="{F7130D24-0FBD-42FD-9D2B-EB29A998233F}">
      <dgm:prSet/>
      <dgm:spPr/>
      <dgm:t>
        <a:bodyPr/>
        <a:lstStyle/>
        <a:p>
          <a:endParaRPr lang="en-150"/>
        </a:p>
      </dgm:t>
    </dgm:pt>
    <dgm:pt modelId="{589ACCCC-BEEE-45E9-BF2D-946C778C2386}">
      <dgm:prSet/>
      <dgm:spPr>
        <a:ln>
          <a:solidFill>
            <a:srgbClr val="C00000"/>
          </a:solidFill>
        </a:ln>
      </dgm:spPr>
      <dgm:t>
        <a:bodyPr/>
        <a:lstStyle/>
        <a:p>
          <a:r>
            <a:rPr lang="en-150" dirty="0"/>
            <a:t>Manipulated data to introduce vulnerabilities, backdoors and biases. Compromises model security, performance, or ethical behaviour.</a:t>
          </a:r>
        </a:p>
      </dgm:t>
    </dgm:pt>
    <dgm:pt modelId="{23370ED4-2C6B-4412-83BD-B0D82BCB9641}" type="sibTrans" cxnId="{6BD07478-D019-4337-91FE-EE0220372BE1}">
      <dgm:prSet/>
      <dgm:spPr/>
      <dgm:t>
        <a:bodyPr/>
        <a:lstStyle/>
        <a:p>
          <a:endParaRPr lang="en-150"/>
        </a:p>
      </dgm:t>
    </dgm:pt>
    <dgm:pt modelId="{25CF6FF0-4515-49D9-A013-8E7BC2AFD007}" type="parTrans" cxnId="{6BD07478-D019-4337-91FE-EE0220372BE1}">
      <dgm:prSet/>
      <dgm:spPr/>
      <dgm:t>
        <a:bodyPr/>
        <a:lstStyle/>
        <a:p>
          <a:endParaRPr lang="en-150"/>
        </a:p>
      </dgm:t>
    </dgm:pt>
    <dgm:pt modelId="{FF23F610-A258-4612-82A0-052449EADDF5}" type="pres">
      <dgm:prSet presAssocID="{3787495D-BC17-45C6-A883-F90ACA0FBEDB}" presName="linear" presStyleCnt="0">
        <dgm:presLayoutVars>
          <dgm:dir/>
          <dgm:animLvl val="lvl"/>
          <dgm:resizeHandles val="exact"/>
        </dgm:presLayoutVars>
      </dgm:prSet>
      <dgm:spPr/>
    </dgm:pt>
    <dgm:pt modelId="{54422B8E-02BA-4EC1-8DF0-FD96E2A6AC57}" type="pres">
      <dgm:prSet presAssocID="{143043FD-8E2D-4069-9F68-05819618E664}" presName="parentLin" presStyleCnt="0"/>
      <dgm:spPr/>
    </dgm:pt>
    <dgm:pt modelId="{ED7852EB-5770-47FF-99D8-7848C9B9C5C5}" type="pres">
      <dgm:prSet presAssocID="{143043FD-8E2D-4069-9F68-05819618E664}" presName="parentLeftMargin" presStyleLbl="node1" presStyleIdx="0" presStyleCnt="4"/>
      <dgm:spPr/>
    </dgm:pt>
    <dgm:pt modelId="{087E43CF-7745-4B15-A525-4E184133AAE4}" type="pres">
      <dgm:prSet presAssocID="{143043FD-8E2D-4069-9F68-05819618E664}" presName="parentText" presStyleLbl="node1" presStyleIdx="0" presStyleCnt="4">
        <dgm:presLayoutVars>
          <dgm:chMax val="0"/>
          <dgm:bulletEnabled val="1"/>
        </dgm:presLayoutVars>
      </dgm:prSet>
      <dgm:spPr/>
    </dgm:pt>
    <dgm:pt modelId="{2575D34F-C66D-471D-8ED2-028EBA0DE435}" type="pres">
      <dgm:prSet presAssocID="{143043FD-8E2D-4069-9F68-05819618E664}" presName="negativeSpace" presStyleCnt="0"/>
      <dgm:spPr/>
    </dgm:pt>
    <dgm:pt modelId="{ABF48C25-3004-4CF5-AE58-0FA9867B4575}" type="pres">
      <dgm:prSet presAssocID="{143043FD-8E2D-4069-9F68-05819618E664}" presName="childText" presStyleLbl="conFgAcc1" presStyleIdx="0" presStyleCnt="4">
        <dgm:presLayoutVars>
          <dgm:bulletEnabled val="1"/>
        </dgm:presLayoutVars>
      </dgm:prSet>
      <dgm:spPr/>
    </dgm:pt>
    <dgm:pt modelId="{9BD2E4EF-D527-41DF-8EBF-08749EB5B617}" type="pres">
      <dgm:prSet presAssocID="{4FD575E3-04E4-42AE-A694-2B67453CAE3A}" presName="spaceBetweenRectangles" presStyleCnt="0"/>
      <dgm:spPr/>
    </dgm:pt>
    <dgm:pt modelId="{3EFC8376-F40B-4352-B742-E22A9F4D6445}" type="pres">
      <dgm:prSet presAssocID="{C8331545-2273-4993-93DA-01611E095755}" presName="parentLin" presStyleCnt="0"/>
      <dgm:spPr/>
    </dgm:pt>
    <dgm:pt modelId="{CC956AC5-6A10-4F2C-B56A-E98EA439F579}" type="pres">
      <dgm:prSet presAssocID="{C8331545-2273-4993-93DA-01611E095755}" presName="parentLeftMargin" presStyleLbl="node1" presStyleIdx="0" presStyleCnt="4"/>
      <dgm:spPr/>
    </dgm:pt>
    <dgm:pt modelId="{828A3EDB-2089-4A3B-A521-C30E484B24A2}" type="pres">
      <dgm:prSet presAssocID="{C8331545-2273-4993-93DA-01611E095755}" presName="parentText" presStyleLbl="node1" presStyleIdx="1" presStyleCnt="4">
        <dgm:presLayoutVars>
          <dgm:chMax val="0"/>
          <dgm:bulletEnabled val="1"/>
        </dgm:presLayoutVars>
      </dgm:prSet>
      <dgm:spPr/>
    </dgm:pt>
    <dgm:pt modelId="{2929DBD8-C822-441D-936F-87D9430A4E45}" type="pres">
      <dgm:prSet presAssocID="{C8331545-2273-4993-93DA-01611E095755}" presName="negativeSpace" presStyleCnt="0"/>
      <dgm:spPr/>
    </dgm:pt>
    <dgm:pt modelId="{25E50672-954D-477F-8D80-62B46B19BD1B}" type="pres">
      <dgm:prSet presAssocID="{C8331545-2273-4993-93DA-01611E095755}" presName="childText" presStyleLbl="conFgAcc1" presStyleIdx="1" presStyleCnt="4">
        <dgm:presLayoutVars>
          <dgm:bulletEnabled val="1"/>
        </dgm:presLayoutVars>
      </dgm:prSet>
      <dgm:spPr/>
    </dgm:pt>
    <dgm:pt modelId="{D4634713-A698-43C5-B2EC-DA0EE965214D}" type="pres">
      <dgm:prSet presAssocID="{3A039046-155F-407C-8377-D5B3B947184E}" presName="spaceBetweenRectangles" presStyleCnt="0"/>
      <dgm:spPr/>
    </dgm:pt>
    <dgm:pt modelId="{70FE30F8-D57C-4F91-A610-8170382C361A}" type="pres">
      <dgm:prSet presAssocID="{876CF77A-98C1-4C82-9EAA-5B685022478A}" presName="parentLin" presStyleCnt="0"/>
      <dgm:spPr/>
    </dgm:pt>
    <dgm:pt modelId="{07180FE7-BFAE-4EBF-B1D6-F7DA2B61C4B8}" type="pres">
      <dgm:prSet presAssocID="{876CF77A-98C1-4C82-9EAA-5B685022478A}" presName="parentLeftMargin" presStyleLbl="node1" presStyleIdx="1" presStyleCnt="4"/>
      <dgm:spPr/>
    </dgm:pt>
    <dgm:pt modelId="{1AAEFC20-1155-4CEF-89E0-D34DD19FF41F}" type="pres">
      <dgm:prSet presAssocID="{876CF77A-98C1-4C82-9EAA-5B685022478A}" presName="parentText" presStyleLbl="node1" presStyleIdx="2" presStyleCnt="4">
        <dgm:presLayoutVars>
          <dgm:chMax val="0"/>
          <dgm:bulletEnabled val="1"/>
        </dgm:presLayoutVars>
      </dgm:prSet>
      <dgm:spPr/>
    </dgm:pt>
    <dgm:pt modelId="{74C1DF15-3D0C-45FB-8B20-B838FE140034}" type="pres">
      <dgm:prSet presAssocID="{876CF77A-98C1-4C82-9EAA-5B685022478A}" presName="negativeSpace" presStyleCnt="0"/>
      <dgm:spPr/>
    </dgm:pt>
    <dgm:pt modelId="{6A3148F7-8062-4633-A890-747A550CFD43}" type="pres">
      <dgm:prSet presAssocID="{876CF77A-98C1-4C82-9EAA-5B685022478A}" presName="childText" presStyleLbl="conFgAcc1" presStyleIdx="2" presStyleCnt="4">
        <dgm:presLayoutVars>
          <dgm:bulletEnabled val="1"/>
        </dgm:presLayoutVars>
      </dgm:prSet>
      <dgm:spPr/>
    </dgm:pt>
    <dgm:pt modelId="{CFDF17ED-B194-4927-91D7-2B2A45AB9EDD}" type="pres">
      <dgm:prSet presAssocID="{7E4F37C0-07C1-4AB8-BF35-00F471B0D7F3}" presName="spaceBetweenRectangles" presStyleCnt="0"/>
      <dgm:spPr/>
    </dgm:pt>
    <dgm:pt modelId="{3ADBF126-C583-41B3-B064-56759D0F1E87}" type="pres">
      <dgm:prSet presAssocID="{20354127-A8E9-4D5F-B570-435020D83AD1}" presName="parentLin" presStyleCnt="0"/>
      <dgm:spPr/>
    </dgm:pt>
    <dgm:pt modelId="{C2FE4A1D-998F-466B-8B1E-12DFFBFAB227}" type="pres">
      <dgm:prSet presAssocID="{20354127-A8E9-4D5F-B570-435020D83AD1}" presName="parentLeftMargin" presStyleLbl="node1" presStyleIdx="2" presStyleCnt="4"/>
      <dgm:spPr/>
    </dgm:pt>
    <dgm:pt modelId="{7E4668A0-0069-46A4-88F0-DDE4D09D6F8F}" type="pres">
      <dgm:prSet presAssocID="{20354127-A8E9-4D5F-B570-435020D83AD1}" presName="parentText" presStyleLbl="node1" presStyleIdx="3" presStyleCnt="4">
        <dgm:presLayoutVars>
          <dgm:chMax val="0"/>
          <dgm:bulletEnabled val="1"/>
        </dgm:presLayoutVars>
      </dgm:prSet>
      <dgm:spPr/>
    </dgm:pt>
    <dgm:pt modelId="{A2156167-7A89-4E34-8FF7-AD8282505A56}" type="pres">
      <dgm:prSet presAssocID="{20354127-A8E9-4D5F-B570-435020D83AD1}" presName="negativeSpace" presStyleCnt="0"/>
      <dgm:spPr/>
    </dgm:pt>
    <dgm:pt modelId="{8A4329E8-94C1-4526-A7C4-B4FD778DE5B0}" type="pres">
      <dgm:prSet presAssocID="{20354127-A8E9-4D5F-B570-435020D83AD1}" presName="childText" presStyleLbl="conFgAcc1" presStyleIdx="3" presStyleCnt="4">
        <dgm:presLayoutVars>
          <dgm:bulletEnabled val="1"/>
        </dgm:presLayoutVars>
      </dgm:prSet>
      <dgm:spPr/>
    </dgm:pt>
  </dgm:ptLst>
  <dgm:cxnLst>
    <dgm:cxn modelId="{4D28C40C-5CE4-485A-8158-CBF9C88C6BF2}" type="presOf" srcId="{876CF77A-98C1-4C82-9EAA-5B685022478A}" destId="{07180FE7-BFAE-4EBF-B1D6-F7DA2B61C4B8}" srcOrd="0" destOrd="0" presId="urn:microsoft.com/office/officeart/2005/8/layout/list1"/>
    <dgm:cxn modelId="{20480E16-D886-4EF7-8DB6-EC2E8CDE380B}" type="presOf" srcId="{876CF77A-98C1-4C82-9EAA-5B685022478A}" destId="{1AAEFC20-1155-4CEF-89E0-D34DD19FF41F}" srcOrd="1" destOrd="0" presId="urn:microsoft.com/office/officeart/2005/8/layout/list1"/>
    <dgm:cxn modelId="{F7130D24-0FBD-42FD-9D2B-EB29A998233F}" srcId="{876CF77A-98C1-4C82-9EAA-5B685022478A}" destId="{EDC2587B-C6EE-4D4E-BDDB-BE5E8E9497F5}" srcOrd="0" destOrd="0" parTransId="{74569101-647E-4AFD-9AD1-D57398E55978}" sibTransId="{9A99B694-5B38-44B5-AE5E-C7F595E1701B}"/>
    <dgm:cxn modelId="{253CB237-46FB-4C2E-AA73-7BC5AC3D1BEF}" srcId="{143043FD-8E2D-4069-9F68-05819618E664}" destId="{FA4BD2AA-F6BC-473B-BDA2-9A3C2650E508}" srcOrd="0" destOrd="0" parTransId="{28415645-E151-4468-B280-9F2BCF65F80D}" sibTransId="{878E747C-6A98-4E97-9270-59A0492637BE}"/>
    <dgm:cxn modelId="{FBB3FC3A-1FF5-4994-9C35-AD691E46EE22}" type="presOf" srcId="{FA4BD2AA-F6BC-473B-BDA2-9A3C2650E508}" destId="{ABF48C25-3004-4CF5-AE58-0FA9867B4575}" srcOrd="0" destOrd="0" presId="urn:microsoft.com/office/officeart/2005/8/layout/list1"/>
    <dgm:cxn modelId="{6A40BB3F-5DF7-4930-BAF2-5028083323E4}" type="presOf" srcId="{20354127-A8E9-4D5F-B570-435020D83AD1}" destId="{7E4668A0-0069-46A4-88F0-DDE4D09D6F8F}" srcOrd="1" destOrd="0" presId="urn:microsoft.com/office/officeart/2005/8/layout/list1"/>
    <dgm:cxn modelId="{C6A4E740-8C35-40B5-B04B-F39DB964E44E}" type="presOf" srcId="{7E5413A5-A474-4D68-9190-46422650C91A}" destId="{25E50672-954D-477F-8D80-62B46B19BD1B}" srcOrd="0" destOrd="0" presId="urn:microsoft.com/office/officeart/2005/8/layout/list1"/>
    <dgm:cxn modelId="{B7039269-5265-4AE7-AA7A-652C0DA85A6A}" type="presOf" srcId="{589ACCCC-BEEE-45E9-BF2D-946C778C2386}" destId="{8A4329E8-94C1-4526-A7C4-B4FD778DE5B0}" srcOrd="0" destOrd="0" presId="urn:microsoft.com/office/officeart/2005/8/layout/list1"/>
    <dgm:cxn modelId="{2419DD6C-C43D-4B69-8559-B6A6D7352AFD}" type="presOf" srcId="{3787495D-BC17-45C6-A883-F90ACA0FBEDB}" destId="{FF23F610-A258-4612-82A0-052449EADDF5}" srcOrd="0" destOrd="0" presId="urn:microsoft.com/office/officeart/2005/8/layout/list1"/>
    <dgm:cxn modelId="{7557C170-A8B8-4012-81FA-8D81774626F5}" type="presOf" srcId="{143043FD-8E2D-4069-9F68-05819618E664}" destId="{ED7852EB-5770-47FF-99D8-7848C9B9C5C5}" srcOrd="0" destOrd="0" presId="urn:microsoft.com/office/officeart/2005/8/layout/list1"/>
    <dgm:cxn modelId="{6225D674-5A4D-415B-8D46-E7D51F75A3CC}" type="presOf" srcId="{20354127-A8E9-4D5F-B570-435020D83AD1}" destId="{C2FE4A1D-998F-466B-8B1E-12DFFBFAB227}" srcOrd="0" destOrd="0" presId="urn:microsoft.com/office/officeart/2005/8/layout/list1"/>
    <dgm:cxn modelId="{6BD07478-D019-4337-91FE-EE0220372BE1}" srcId="{20354127-A8E9-4D5F-B570-435020D83AD1}" destId="{589ACCCC-BEEE-45E9-BF2D-946C778C2386}" srcOrd="0" destOrd="0" parTransId="{25CF6FF0-4515-49D9-A013-8E7BC2AFD007}" sibTransId="{23370ED4-2C6B-4412-83BD-B0D82BCB9641}"/>
    <dgm:cxn modelId="{A31E1D92-FE8B-4D39-9FF7-067591AEFDC9}" type="presOf" srcId="{143043FD-8E2D-4069-9F68-05819618E664}" destId="{087E43CF-7745-4B15-A525-4E184133AAE4}" srcOrd="1" destOrd="0" presId="urn:microsoft.com/office/officeart/2005/8/layout/list1"/>
    <dgm:cxn modelId="{16BD50AA-1A37-4719-A8F2-84F0DCD37921}" srcId="{3787495D-BC17-45C6-A883-F90ACA0FBEDB}" destId="{143043FD-8E2D-4069-9F68-05819618E664}" srcOrd="0" destOrd="0" parTransId="{2EC538E7-AE6F-454E-9887-4C46C353E93D}" sibTransId="{4FD575E3-04E4-42AE-A694-2B67453CAE3A}"/>
    <dgm:cxn modelId="{B3CD2DAC-98CA-449D-BAC4-B63D06A0D2F1}" srcId="{C8331545-2273-4993-93DA-01611E095755}" destId="{7E5413A5-A474-4D68-9190-46422650C91A}" srcOrd="0" destOrd="0" parTransId="{29626E4E-E40C-4CCA-8752-1D08BEE064A1}" sibTransId="{98415123-94A4-47F0-9B15-ECFA37BF7357}"/>
    <dgm:cxn modelId="{9C2057B8-0A9F-4F82-A006-0B161016EA6A}" type="presOf" srcId="{EDC2587B-C6EE-4D4E-BDDB-BE5E8E9497F5}" destId="{6A3148F7-8062-4633-A890-747A550CFD43}" srcOrd="0" destOrd="0" presId="urn:microsoft.com/office/officeart/2005/8/layout/list1"/>
    <dgm:cxn modelId="{8C2B8EBE-BF67-4A8B-B571-C623D749D5EE}" srcId="{3787495D-BC17-45C6-A883-F90ACA0FBEDB}" destId="{C8331545-2273-4993-93DA-01611E095755}" srcOrd="1" destOrd="0" parTransId="{A92EDE66-22B4-4650-8B51-11E74085357C}" sibTransId="{3A039046-155F-407C-8377-D5B3B947184E}"/>
    <dgm:cxn modelId="{E92E38CE-E14A-4B3F-8EA6-00720DB0E536}" srcId="{3787495D-BC17-45C6-A883-F90ACA0FBEDB}" destId="{876CF77A-98C1-4C82-9EAA-5B685022478A}" srcOrd="2" destOrd="0" parTransId="{27B43DB4-36DF-460A-835F-6F6619C0DE44}" sibTransId="{7E4F37C0-07C1-4AB8-BF35-00F471B0D7F3}"/>
    <dgm:cxn modelId="{F997A3D0-0DCB-46B8-A674-1ABA6E1A0F01}" type="presOf" srcId="{C8331545-2273-4993-93DA-01611E095755}" destId="{CC956AC5-6A10-4F2C-B56A-E98EA439F579}" srcOrd="0" destOrd="0" presId="urn:microsoft.com/office/officeart/2005/8/layout/list1"/>
    <dgm:cxn modelId="{504FF0D7-4507-428F-99DB-FC42B00A2957}" srcId="{3787495D-BC17-45C6-A883-F90ACA0FBEDB}" destId="{20354127-A8E9-4D5F-B570-435020D83AD1}" srcOrd="3" destOrd="0" parTransId="{A064B45B-3A10-435A-987E-8932CE2E5AE7}" sibTransId="{D6DB35A8-B3C4-4D27-991E-38A6F8E294D8}"/>
    <dgm:cxn modelId="{C4D1CCF1-2135-4058-86B5-9F9F64C8F55B}" type="presOf" srcId="{C8331545-2273-4993-93DA-01611E095755}" destId="{828A3EDB-2089-4A3B-A521-C30E484B24A2}" srcOrd="1" destOrd="0" presId="urn:microsoft.com/office/officeart/2005/8/layout/list1"/>
    <dgm:cxn modelId="{92B3E358-5CCE-4ED8-8C03-C9A50B21188C}" type="presParOf" srcId="{FF23F610-A258-4612-82A0-052449EADDF5}" destId="{54422B8E-02BA-4EC1-8DF0-FD96E2A6AC57}" srcOrd="0" destOrd="0" presId="urn:microsoft.com/office/officeart/2005/8/layout/list1"/>
    <dgm:cxn modelId="{095BD5B5-D0DA-4440-9559-5CB646551FEC}" type="presParOf" srcId="{54422B8E-02BA-4EC1-8DF0-FD96E2A6AC57}" destId="{ED7852EB-5770-47FF-99D8-7848C9B9C5C5}" srcOrd="0" destOrd="0" presId="urn:microsoft.com/office/officeart/2005/8/layout/list1"/>
    <dgm:cxn modelId="{85C99DDF-BD67-4E09-944D-EDB688CA86B3}" type="presParOf" srcId="{54422B8E-02BA-4EC1-8DF0-FD96E2A6AC57}" destId="{087E43CF-7745-4B15-A525-4E184133AAE4}" srcOrd="1" destOrd="0" presId="urn:microsoft.com/office/officeart/2005/8/layout/list1"/>
    <dgm:cxn modelId="{9B09C91B-E598-4C93-B630-7BDD396E4156}" type="presParOf" srcId="{FF23F610-A258-4612-82A0-052449EADDF5}" destId="{2575D34F-C66D-471D-8ED2-028EBA0DE435}" srcOrd="1" destOrd="0" presId="urn:microsoft.com/office/officeart/2005/8/layout/list1"/>
    <dgm:cxn modelId="{CBD5380F-5F83-4686-B4D4-FE74B90A4A8B}" type="presParOf" srcId="{FF23F610-A258-4612-82A0-052449EADDF5}" destId="{ABF48C25-3004-4CF5-AE58-0FA9867B4575}" srcOrd="2" destOrd="0" presId="urn:microsoft.com/office/officeart/2005/8/layout/list1"/>
    <dgm:cxn modelId="{305E0050-E21B-41E8-BB27-EB514ED42265}" type="presParOf" srcId="{FF23F610-A258-4612-82A0-052449EADDF5}" destId="{9BD2E4EF-D527-41DF-8EBF-08749EB5B617}" srcOrd="3" destOrd="0" presId="urn:microsoft.com/office/officeart/2005/8/layout/list1"/>
    <dgm:cxn modelId="{C7FA64A0-8459-48B1-8BBC-8C9DCA8D43D8}" type="presParOf" srcId="{FF23F610-A258-4612-82A0-052449EADDF5}" destId="{3EFC8376-F40B-4352-B742-E22A9F4D6445}" srcOrd="4" destOrd="0" presId="urn:microsoft.com/office/officeart/2005/8/layout/list1"/>
    <dgm:cxn modelId="{450A4EEA-E91F-4AE4-BC99-0A0BE9AD46C7}" type="presParOf" srcId="{3EFC8376-F40B-4352-B742-E22A9F4D6445}" destId="{CC956AC5-6A10-4F2C-B56A-E98EA439F579}" srcOrd="0" destOrd="0" presId="urn:microsoft.com/office/officeart/2005/8/layout/list1"/>
    <dgm:cxn modelId="{1C91F6A8-5806-44E1-A8F5-F3EE5581A89F}" type="presParOf" srcId="{3EFC8376-F40B-4352-B742-E22A9F4D6445}" destId="{828A3EDB-2089-4A3B-A521-C30E484B24A2}" srcOrd="1" destOrd="0" presId="urn:microsoft.com/office/officeart/2005/8/layout/list1"/>
    <dgm:cxn modelId="{D6CA5591-A9A3-4CD1-B9AB-DF580B28FCB5}" type="presParOf" srcId="{FF23F610-A258-4612-82A0-052449EADDF5}" destId="{2929DBD8-C822-441D-936F-87D9430A4E45}" srcOrd="5" destOrd="0" presId="urn:microsoft.com/office/officeart/2005/8/layout/list1"/>
    <dgm:cxn modelId="{7996B008-F01A-46F9-B52C-A93196C99B1E}" type="presParOf" srcId="{FF23F610-A258-4612-82A0-052449EADDF5}" destId="{25E50672-954D-477F-8D80-62B46B19BD1B}" srcOrd="6" destOrd="0" presId="urn:microsoft.com/office/officeart/2005/8/layout/list1"/>
    <dgm:cxn modelId="{F62E3DB2-18B6-4234-B4BB-A41A3CE44F4C}" type="presParOf" srcId="{FF23F610-A258-4612-82A0-052449EADDF5}" destId="{D4634713-A698-43C5-B2EC-DA0EE965214D}" srcOrd="7" destOrd="0" presId="urn:microsoft.com/office/officeart/2005/8/layout/list1"/>
    <dgm:cxn modelId="{40E835DE-48BF-4C3A-9AD4-16945A9B697A}" type="presParOf" srcId="{FF23F610-A258-4612-82A0-052449EADDF5}" destId="{70FE30F8-D57C-4F91-A610-8170382C361A}" srcOrd="8" destOrd="0" presId="urn:microsoft.com/office/officeart/2005/8/layout/list1"/>
    <dgm:cxn modelId="{8354DFBE-D1AE-4A3E-9AAD-CB9EF64F3488}" type="presParOf" srcId="{70FE30F8-D57C-4F91-A610-8170382C361A}" destId="{07180FE7-BFAE-4EBF-B1D6-F7DA2B61C4B8}" srcOrd="0" destOrd="0" presId="urn:microsoft.com/office/officeart/2005/8/layout/list1"/>
    <dgm:cxn modelId="{B6709DB1-C748-48C4-90B5-6B0DB5E4520F}" type="presParOf" srcId="{70FE30F8-D57C-4F91-A610-8170382C361A}" destId="{1AAEFC20-1155-4CEF-89E0-D34DD19FF41F}" srcOrd="1" destOrd="0" presId="urn:microsoft.com/office/officeart/2005/8/layout/list1"/>
    <dgm:cxn modelId="{BD48352F-ABA1-48BB-81CB-38404F6521E6}" type="presParOf" srcId="{FF23F610-A258-4612-82A0-052449EADDF5}" destId="{74C1DF15-3D0C-45FB-8B20-B838FE140034}" srcOrd="9" destOrd="0" presId="urn:microsoft.com/office/officeart/2005/8/layout/list1"/>
    <dgm:cxn modelId="{25AADCD8-C9AC-4E79-AC31-6D453F09C230}" type="presParOf" srcId="{FF23F610-A258-4612-82A0-052449EADDF5}" destId="{6A3148F7-8062-4633-A890-747A550CFD43}" srcOrd="10" destOrd="0" presId="urn:microsoft.com/office/officeart/2005/8/layout/list1"/>
    <dgm:cxn modelId="{B06821C9-E7BC-4051-8A42-2AC8D964036E}" type="presParOf" srcId="{FF23F610-A258-4612-82A0-052449EADDF5}" destId="{CFDF17ED-B194-4927-91D7-2B2A45AB9EDD}" srcOrd="11" destOrd="0" presId="urn:microsoft.com/office/officeart/2005/8/layout/list1"/>
    <dgm:cxn modelId="{4A7792FB-F426-4D96-A168-1BB16B68A237}" type="presParOf" srcId="{FF23F610-A258-4612-82A0-052449EADDF5}" destId="{3ADBF126-C583-41B3-B064-56759D0F1E87}" srcOrd="12" destOrd="0" presId="urn:microsoft.com/office/officeart/2005/8/layout/list1"/>
    <dgm:cxn modelId="{3231880A-053A-4C42-9146-EDB5DCA7FA9E}" type="presParOf" srcId="{3ADBF126-C583-41B3-B064-56759D0F1E87}" destId="{C2FE4A1D-998F-466B-8B1E-12DFFBFAB227}" srcOrd="0" destOrd="0" presId="urn:microsoft.com/office/officeart/2005/8/layout/list1"/>
    <dgm:cxn modelId="{90E83780-A444-4317-8EFA-09698113F3D3}" type="presParOf" srcId="{3ADBF126-C583-41B3-B064-56759D0F1E87}" destId="{7E4668A0-0069-46A4-88F0-DDE4D09D6F8F}" srcOrd="1" destOrd="0" presId="urn:microsoft.com/office/officeart/2005/8/layout/list1"/>
    <dgm:cxn modelId="{65454427-83D3-4933-B46F-26A127A17B84}" type="presParOf" srcId="{FF23F610-A258-4612-82A0-052449EADDF5}" destId="{A2156167-7A89-4E34-8FF7-AD8282505A56}" srcOrd="13" destOrd="0" presId="urn:microsoft.com/office/officeart/2005/8/layout/list1"/>
    <dgm:cxn modelId="{7C907646-6109-4504-A4A1-F5E9F3EB7FB1}" type="presParOf" srcId="{FF23F610-A258-4612-82A0-052449EADDF5}" destId="{8A4329E8-94C1-4526-A7C4-B4FD778DE5B0}"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1DF435-78EA-4151-A71D-159880A63068}">
      <dsp:nvSpPr>
        <dsp:cNvPr id="0" name=""/>
        <dsp:cNvSpPr/>
      </dsp:nvSpPr>
      <dsp:spPr>
        <a:xfrm>
          <a:off x="0" y="1595"/>
          <a:ext cx="4619621" cy="808521"/>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9D1C3F9B-725F-4B30-ACDE-3ED88A4877DB}">
      <dsp:nvSpPr>
        <dsp:cNvPr id="0" name=""/>
        <dsp:cNvSpPr/>
      </dsp:nvSpPr>
      <dsp:spPr>
        <a:xfrm>
          <a:off x="244577" y="183512"/>
          <a:ext cx="444686" cy="44468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D9FCBE-5C89-4DD3-B351-847D1378DE7B}">
      <dsp:nvSpPr>
        <dsp:cNvPr id="0" name=""/>
        <dsp:cNvSpPr/>
      </dsp:nvSpPr>
      <dsp:spPr>
        <a:xfrm>
          <a:off x="933841" y="1595"/>
          <a:ext cx="3685779" cy="8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68" tIns="85568" rIns="85568" bIns="85568" numCol="1" spcCol="1270" anchor="ctr" anchorCtr="0">
          <a:noAutofit/>
        </a:bodyPr>
        <a:lstStyle/>
        <a:p>
          <a:pPr marL="0" lvl="0" indent="0" algn="l" defTabSz="666750">
            <a:lnSpc>
              <a:spcPct val="90000"/>
            </a:lnSpc>
            <a:spcBef>
              <a:spcPct val="0"/>
            </a:spcBef>
            <a:spcAft>
              <a:spcPct val="35000"/>
            </a:spcAft>
            <a:buNone/>
          </a:pPr>
          <a:r>
            <a:rPr lang="en-150" sz="1500" kern="1200" dirty="0"/>
            <a:t>In 2025, CrowdStrike reported that AI-enabled adversaries increased attacks by 89% year over year</a:t>
          </a:r>
          <a:endParaRPr lang="en-US" sz="1500" kern="1200" dirty="0"/>
        </a:p>
      </dsp:txBody>
      <dsp:txXfrm>
        <a:off x="933841" y="1595"/>
        <a:ext cx="3685779" cy="808521"/>
      </dsp:txXfrm>
    </dsp:sp>
    <dsp:sp modelId="{46C48D36-C793-40BB-8094-9336F938853D}">
      <dsp:nvSpPr>
        <dsp:cNvPr id="0" name=""/>
        <dsp:cNvSpPr/>
      </dsp:nvSpPr>
      <dsp:spPr>
        <a:xfrm>
          <a:off x="0" y="1012246"/>
          <a:ext cx="4619621" cy="808521"/>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C850C175-AB4B-4125-B46E-C977AEF28A4A}">
      <dsp:nvSpPr>
        <dsp:cNvPr id="0" name=""/>
        <dsp:cNvSpPr/>
      </dsp:nvSpPr>
      <dsp:spPr>
        <a:xfrm>
          <a:off x="244577" y="1194163"/>
          <a:ext cx="444686" cy="444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F96CF0-9544-4A5E-BAA1-CB31D60232D5}">
      <dsp:nvSpPr>
        <dsp:cNvPr id="0" name=""/>
        <dsp:cNvSpPr/>
      </dsp:nvSpPr>
      <dsp:spPr>
        <a:xfrm>
          <a:off x="933841" y="1012246"/>
          <a:ext cx="3685779" cy="8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68" tIns="85568" rIns="85568" bIns="85568" numCol="1" spcCol="1270" anchor="ctr" anchorCtr="0">
          <a:noAutofit/>
        </a:bodyPr>
        <a:lstStyle/>
        <a:p>
          <a:pPr marL="0" lvl="0" indent="0" algn="l" defTabSz="666750">
            <a:lnSpc>
              <a:spcPct val="90000"/>
            </a:lnSpc>
            <a:spcBef>
              <a:spcPct val="0"/>
            </a:spcBef>
            <a:spcAft>
              <a:spcPct val="35000"/>
            </a:spcAft>
            <a:buNone/>
          </a:pPr>
          <a:r>
            <a:rPr lang="en-150" sz="1500" kern="1200" dirty="0"/>
            <a:t>The average </a:t>
          </a:r>
          <a:r>
            <a:rPr lang="en-150" sz="1500" kern="1200" dirty="0" err="1"/>
            <a:t>eCrime</a:t>
          </a:r>
          <a:r>
            <a:rPr lang="en-150" sz="1500" kern="1200" dirty="0"/>
            <a:t> breakout time fell to 29 minutes, this was 48 minutes in 2024. </a:t>
          </a:r>
          <a:endParaRPr lang="en-US" sz="1500" kern="1200" dirty="0"/>
        </a:p>
      </dsp:txBody>
      <dsp:txXfrm>
        <a:off x="933841" y="1012246"/>
        <a:ext cx="3685779" cy="808521"/>
      </dsp:txXfrm>
    </dsp:sp>
    <dsp:sp modelId="{2CFCCDAF-9EED-4E5E-AEDA-1F76E87798A9}">
      <dsp:nvSpPr>
        <dsp:cNvPr id="0" name=""/>
        <dsp:cNvSpPr/>
      </dsp:nvSpPr>
      <dsp:spPr>
        <a:xfrm>
          <a:off x="0" y="2022898"/>
          <a:ext cx="4619621" cy="808521"/>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9F32C8F5-F685-47A5-94DF-D30707609A30}">
      <dsp:nvSpPr>
        <dsp:cNvPr id="0" name=""/>
        <dsp:cNvSpPr/>
      </dsp:nvSpPr>
      <dsp:spPr>
        <a:xfrm>
          <a:off x="244577" y="2204815"/>
          <a:ext cx="444686" cy="444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9C35D9-B644-4756-9FA5-1527B6D642D5}">
      <dsp:nvSpPr>
        <dsp:cNvPr id="0" name=""/>
        <dsp:cNvSpPr/>
      </dsp:nvSpPr>
      <dsp:spPr>
        <a:xfrm>
          <a:off x="933841" y="2022898"/>
          <a:ext cx="3685779" cy="8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68" tIns="85568" rIns="85568" bIns="85568" numCol="1" spcCol="1270" anchor="ctr" anchorCtr="0">
          <a:noAutofit/>
        </a:bodyPr>
        <a:lstStyle/>
        <a:p>
          <a:pPr marL="0" lvl="0" indent="0" algn="l" defTabSz="666750">
            <a:lnSpc>
              <a:spcPct val="90000"/>
            </a:lnSpc>
            <a:spcBef>
              <a:spcPct val="0"/>
            </a:spcBef>
            <a:spcAft>
              <a:spcPct val="35000"/>
            </a:spcAft>
            <a:buNone/>
          </a:pPr>
          <a:r>
            <a:rPr lang="en-150" sz="1500" kern="1200" dirty="0"/>
            <a:t>Fastest observed breakout occurred in 27 seconds.</a:t>
          </a:r>
          <a:endParaRPr lang="en-US" sz="1500" kern="1200" dirty="0"/>
        </a:p>
      </dsp:txBody>
      <dsp:txXfrm>
        <a:off x="933841" y="2022898"/>
        <a:ext cx="3685779" cy="808521"/>
      </dsp:txXfrm>
    </dsp:sp>
    <dsp:sp modelId="{25053E85-3E29-40E2-B66E-46AED0E59187}">
      <dsp:nvSpPr>
        <dsp:cNvPr id="0" name=""/>
        <dsp:cNvSpPr/>
      </dsp:nvSpPr>
      <dsp:spPr>
        <a:xfrm>
          <a:off x="0" y="3033549"/>
          <a:ext cx="4619621" cy="808521"/>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AA04D7F0-924B-47F4-9AB2-BAF877E6D30B}">
      <dsp:nvSpPr>
        <dsp:cNvPr id="0" name=""/>
        <dsp:cNvSpPr/>
      </dsp:nvSpPr>
      <dsp:spPr>
        <a:xfrm>
          <a:off x="244577" y="3215466"/>
          <a:ext cx="444686" cy="444686"/>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637CB8-A3A4-4C84-A989-1EE13931F3F9}">
      <dsp:nvSpPr>
        <dsp:cNvPr id="0" name=""/>
        <dsp:cNvSpPr/>
      </dsp:nvSpPr>
      <dsp:spPr>
        <a:xfrm>
          <a:off x="933841" y="3033549"/>
          <a:ext cx="3685779" cy="8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68" tIns="85568" rIns="85568" bIns="85568" numCol="1" spcCol="1270" anchor="ctr" anchorCtr="0">
          <a:noAutofit/>
        </a:bodyPr>
        <a:lstStyle/>
        <a:p>
          <a:pPr marL="0" lvl="0" indent="0" algn="l" defTabSz="666750">
            <a:lnSpc>
              <a:spcPct val="90000"/>
            </a:lnSpc>
            <a:spcBef>
              <a:spcPct val="0"/>
            </a:spcBef>
            <a:spcAft>
              <a:spcPct val="35000"/>
            </a:spcAft>
            <a:buNone/>
          </a:pPr>
          <a:r>
            <a:rPr lang="en-150" sz="1500" kern="1200" dirty="0"/>
            <a:t>In one intrusion, data exfiltration began within 4 minutes of initial access</a:t>
          </a:r>
          <a:endParaRPr lang="en-US" sz="1500" kern="1200" dirty="0"/>
        </a:p>
      </dsp:txBody>
      <dsp:txXfrm>
        <a:off x="933841" y="3033549"/>
        <a:ext cx="3685779" cy="8085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1DF435-78EA-4151-A71D-159880A63068}">
      <dsp:nvSpPr>
        <dsp:cNvPr id="0" name=""/>
        <dsp:cNvSpPr/>
      </dsp:nvSpPr>
      <dsp:spPr>
        <a:xfrm>
          <a:off x="0" y="467"/>
          <a:ext cx="4619621" cy="1095043"/>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9D1C3F9B-725F-4B30-ACDE-3ED88A4877DB}">
      <dsp:nvSpPr>
        <dsp:cNvPr id="0" name=""/>
        <dsp:cNvSpPr/>
      </dsp:nvSpPr>
      <dsp:spPr>
        <a:xfrm>
          <a:off x="331250" y="246852"/>
          <a:ext cx="602273" cy="60227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D9FCBE-5C89-4DD3-B351-847D1378DE7B}">
      <dsp:nvSpPr>
        <dsp:cNvPr id="0" name=""/>
        <dsp:cNvSpPr/>
      </dsp:nvSpPr>
      <dsp:spPr>
        <a:xfrm>
          <a:off x="1264774" y="467"/>
          <a:ext cx="3354846" cy="109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892" tIns="115892" rIns="115892" bIns="115892" numCol="1" spcCol="1270" anchor="ctr" anchorCtr="0">
          <a:noAutofit/>
        </a:bodyPr>
        <a:lstStyle/>
        <a:p>
          <a:pPr marL="0" lvl="0" indent="0" algn="l" defTabSz="666750">
            <a:lnSpc>
              <a:spcPct val="100000"/>
            </a:lnSpc>
            <a:spcBef>
              <a:spcPct val="0"/>
            </a:spcBef>
            <a:spcAft>
              <a:spcPct val="35000"/>
            </a:spcAft>
            <a:buNone/>
          </a:pPr>
          <a:r>
            <a:rPr lang="en-150" sz="1500" kern="1200" dirty="0"/>
            <a:t>GenAI tools at more than 90 organisations exploited</a:t>
          </a:r>
          <a:endParaRPr lang="en-US" sz="1500" kern="1200" dirty="0"/>
        </a:p>
      </dsp:txBody>
      <dsp:txXfrm>
        <a:off x="1264774" y="467"/>
        <a:ext cx="3354846" cy="1095043"/>
      </dsp:txXfrm>
    </dsp:sp>
    <dsp:sp modelId="{46C48D36-C793-40BB-8094-9336F938853D}">
      <dsp:nvSpPr>
        <dsp:cNvPr id="0" name=""/>
        <dsp:cNvSpPr/>
      </dsp:nvSpPr>
      <dsp:spPr>
        <a:xfrm>
          <a:off x="0" y="1369271"/>
          <a:ext cx="4619621" cy="1095043"/>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C850C175-AB4B-4125-B46E-C977AEF28A4A}">
      <dsp:nvSpPr>
        <dsp:cNvPr id="0" name=""/>
        <dsp:cNvSpPr/>
      </dsp:nvSpPr>
      <dsp:spPr>
        <a:xfrm>
          <a:off x="331250" y="1615656"/>
          <a:ext cx="602273" cy="602273"/>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F96CF0-9544-4A5E-BAA1-CB31D60232D5}">
      <dsp:nvSpPr>
        <dsp:cNvPr id="0" name=""/>
        <dsp:cNvSpPr/>
      </dsp:nvSpPr>
      <dsp:spPr>
        <a:xfrm>
          <a:off x="1264774" y="1369271"/>
          <a:ext cx="3354846" cy="109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892" tIns="115892" rIns="115892" bIns="115892" numCol="1" spcCol="1270" anchor="ctr" anchorCtr="0">
          <a:noAutofit/>
        </a:bodyPr>
        <a:lstStyle/>
        <a:p>
          <a:pPr marL="0" lvl="0" indent="0" algn="l" defTabSz="666750">
            <a:lnSpc>
              <a:spcPct val="100000"/>
            </a:lnSpc>
            <a:spcBef>
              <a:spcPct val="0"/>
            </a:spcBef>
            <a:spcAft>
              <a:spcPct val="35000"/>
            </a:spcAft>
            <a:buNone/>
          </a:pPr>
          <a:r>
            <a:rPr lang="en-150" sz="1500" kern="1200" dirty="0"/>
            <a:t>Exploitation of AI development platforms</a:t>
          </a:r>
          <a:endParaRPr lang="en-US" sz="1500" kern="1200" dirty="0"/>
        </a:p>
      </dsp:txBody>
      <dsp:txXfrm>
        <a:off x="1264774" y="1369271"/>
        <a:ext cx="3354846" cy="1095043"/>
      </dsp:txXfrm>
    </dsp:sp>
    <dsp:sp modelId="{49BF9733-2CDC-4CB5-B910-3B06921EE129}">
      <dsp:nvSpPr>
        <dsp:cNvPr id="0" name=""/>
        <dsp:cNvSpPr/>
      </dsp:nvSpPr>
      <dsp:spPr>
        <a:xfrm>
          <a:off x="0" y="2738075"/>
          <a:ext cx="4619621" cy="1095043"/>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8028D749-3055-4560-880B-8F3D66C58A40}">
      <dsp:nvSpPr>
        <dsp:cNvPr id="0" name=""/>
        <dsp:cNvSpPr/>
      </dsp:nvSpPr>
      <dsp:spPr>
        <a:xfrm>
          <a:off x="331250" y="2984460"/>
          <a:ext cx="602273" cy="602273"/>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C06D2E-0B2E-4894-852F-992D34DC2318}">
      <dsp:nvSpPr>
        <dsp:cNvPr id="0" name=""/>
        <dsp:cNvSpPr/>
      </dsp:nvSpPr>
      <dsp:spPr>
        <a:xfrm>
          <a:off x="1264774" y="2738075"/>
          <a:ext cx="3354846" cy="109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892" tIns="115892" rIns="115892" bIns="115892" numCol="1" spcCol="1270" anchor="ctr" anchorCtr="0">
          <a:noAutofit/>
        </a:bodyPr>
        <a:lstStyle/>
        <a:p>
          <a:pPr marL="0" lvl="0" indent="0" algn="l" defTabSz="666750">
            <a:lnSpc>
              <a:spcPct val="100000"/>
            </a:lnSpc>
            <a:spcBef>
              <a:spcPct val="0"/>
            </a:spcBef>
            <a:spcAft>
              <a:spcPct val="35000"/>
            </a:spcAft>
            <a:buNone/>
          </a:pPr>
          <a:r>
            <a:rPr lang="en-150" sz="1500" kern="1200" dirty="0"/>
            <a:t>Zero day and cloud exploitation grows</a:t>
          </a:r>
        </a:p>
      </dsp:txBody>
      <dsp:txXfrm>
        <a:off x="1264774" y="2738075"/>
        <a:ext cx="3354846" cy="10950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1DF435-78EA-4151-A71D-159880A63068}">
      <dsp:nvSpPr>
        <dsp:cNvPr id="0" name=""/>
        <dsp:cNvSpPr/>
      </dsp:nvSpPr>
      <dsp:spPr>
        <a:xfrm>
          <a:off x="0" y="2374"/>
          <a:ext cx="4619621" cy="1131367"/>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9D1C3F9B-725F-4B30-ACDE-3ED88A4877DB}">
      <dsp:nvSpPr>
        <dsp:cNvPr id="0" name=""/>
        <dsp:cNvSpPr/>
      </dsp:nvSpPr>
      <dsp:spPr>
        <a:xfrm>
          <a:off x="342238" y="256932"/>
          <a:ext cx="622860" cy="62225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D9FCBE-5C89-4DD3-B351-847D1378DE7B}">
      <dsp:nvSpPr>
        <dsp:cNvPr id="0" name=""/>
        <dsp:cNvSpPr/>
      </dsp:nvSpPr>
      <dsp:spPr>
        <a:xfrm>
          <a:off x="1307337" y="2374"/>
          <a:ext cx="3103593" cy="1132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853" tIns="119853" rIns="119853" bIns="119853" numCol="1" spcCol="1270" anchor="ctr" anchorCtr="0">
          <a:noAutofit/>
        </a:bodyPr>
        <a:lstStyle/>
        <a:p>
          <a:pPr marL="0" lvl="0" indent="0" algn="l" defTabSz="666750">
            <a:lnSpc>
              <a:spcPct val="100000"/>
            </a:lnSpc>
            <a:spcBef>
              <a:spcPct val="0"/>
            </a:spcBef>
            <a:spcAft>
              <a:spcPct val="35000"/>
            </a:spcAft>
            <a:buNone/>
          </a:pPr>
          <a:r>
            <a:rPr lang="en-150" sz="1500" kern="1200" dirty="0"/>
            <a:t>China-nexus activity increased 38% in 2025 with 67% granting immediate system access, while 40% targeted internet facing edge devices</a:t>
          </a:r>
          <a:endParaRPr lang="en-US" sz="1500" kern="1200" dirty="0"/>
        </a:p>
      </dsp:txBody>
      <dsp:txXfrm>
        <a:off x="1307337" y="2374"/>
        <a:ext cx="3103593" cy="1132473"/>
      </dsp:txXfrm>
    </dsp:sp>
    <dsp:sp modelId="{46C48D36-C793-40BB-8094-9336F938853D}">
      <dsp:nvSpPr>
        <dsp:cNvPr id="0" name=""/>
        <dsp:cNvSpPr/>
      </dsp:nvSpPr>
      <dsp:spPr>
        <a:xfrm>
          <a:off x="0" y="1350556"/>
          <a:ext cx="4619621" cy="1131367"/>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C850C175-AB4B-4125-B46E-C977AEF28A4A}">
      <dsp:nvSpPr>
        <dsp:cNvPr id="0" name=""/>
        <dsp:cNvSpPr/>
      </dsp:nvSpPr>
      <dsp:spPr>
        <a:xfrm>
          <a:off x="342238" y="1605114"/>
          <a:ext cx="622860" cy="62225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F96CF0-9544-4A5E-BAA1-CB31D60232D5}">
      <dsp:nvSpPr>
        <dsp:cNvPr id="0" name=""/>
        <dsp:cNvSpPr/>
      </dsp:nvSpPr>
      <dsp:spPr>
        <a:xfrm>
          <a:off x="1307337" y="1350556"/>
          <a:ext cx="3103593" cy="1132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853" tIns="119853" rIns="119853" bIns="119853" numCol="1" spcCol="1270" anchor="ctr" anchorCtr="0">
          <a:noAutofit/>
        </a:bodyPr>
        <a:lstStyle/>
        <a:p>
          <a:pPr marL="0" lvl="0" indent="0" algn="l" defTabSz="666750">
            <a:lnSpc>
              <a:spcPct val="100000"/>
            </a:lnSpc>
            <a:spcBef>
              <a:spcPct val="0"/>
            </a:spcBef>
            <a:spcAft>
              <a:spcPct val="35000"/>
            </a:spcAft>
            <a:buNone/>
          </a:pPr>
          <a:r>
            <a:rPr lang="en-150" sz="1500" kern="1200" dirty="0"/>
            <a:t>DPRK related incidents rose more than 130%. Stole over $1.46B in cryptocurrency, largest single financial heist ever reported</a:t>
          </a:r>
          <a:endParaRPr lang="en-US" sz="1500" kern="1200" dirty="0"/>
        </a:p>
      </dsp:txBody>
      <dsp:txXfrm>
        <a:off x="1307337" y="1350556"/>
        <a:ext cx="3103593" cy="1132473"/>
      </dsp:txXfrm>
    </dsp:sp>
    <dsp:sp modelId="{49BF9733-2CDC-4CB5-B910-3B06921EE129}">
      <dsp:nvSpPr>
        <dsp:cNvPr id="0" name=""/>
        <dsp:cNvSpPr/>
      </dsp:nvSpPr>
      <dsp:spPr>
        <a:xfrm>
          <a:off x="0" y="2698739"/>
          <a:ext cx="4619621" cy="1131367"/>
        </a:xfrm>
        <a:prstGeom prst="roundRect">
          <a:avLst>
            <a:gd name="adj" fmla="val 10000"/>
          </a:avLst>
        </a:prstGeom>
        <a:solidFill>
          <a:srgbClr val="C00000"/>
        </a:solidFill>
        <a:ln>
          <a:noFill/>
        </a:ln>
        <a:effectLst/>
      </dsp:spPr>
      <dsp:style>
        <a:lnRef idx="0">
          <a:scrgbClr r="0" g="0" b="0"/>
        </a:lnRef>
        <a:fillRef idx="1">
          <a:scrgbClr r="0" g="0" b="0"/>
        </a:fillRef>
        <a:effectRef idx="0">
          <a:scrgbClr r="0" g="0" b="0"/>
        </a:effectRef>
        <a:fontRef idx="minor"/>
      </dsp:style>
    </dsp:sp>
    <dsp:sp modelId="{8028D749-3055-4560-880B-8F3D66C58A40}">
      <dsp:nvSpPr>
        <dsp:cNvPr id="0" name=""/>
        <dsp:cNvSpPr/>
      </dsp:nvSpPr>
      <dsp:spPr>
        <a:xfrm>
          <a:off x="342238" y="2953296"/>
          <a:ext cx="622860" cy="62225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C06D2E-0B2E-4894-852F-992D34DC2318}">
      <dsp:nvSpPr>
        <dsp:cNvPr id="0" name=""/>
        <dsp:cNvSpPr/>
      </dsp:nvSpPr>
      <dsp:spPr>
        <a:xfrm>
          <a:off x="1307337" y="2698739"/>
          <a:ext cx="3103593" cy="1132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853" tIns="119853" rIns="119853" bIns="119853" numCol="1" spcCol="1270" anchor="ctr" anchorCtr="0">
          <a:noAutofit/>
        </a:bodyPr>
        <a:lstStyle/>
        <a:p>
          <a:pPr marL="0" lvl="0" indent="0" algn="l" defTabSz="666750">
            <a:lnSpc>
              <a:spcPct val="100000"/>
            </a:lnSpc>
            <a:spcBef>
              <a:spcPct val="0"/>
            </a:spcBef>
            <a:spcAft>
              <a:spcPct val="35000"/>
            </a:spcAft>
            <a:buNone/>
          </a:pPr>
          <a:r>
            <a:rPr lang="en-150" sz="1500" kern="1200" dirty="0"/>
            <a:t>Russia-nexus group deployed LLM-enabled malware (LAMEHUG) to automate recon and document collection</a:t>
          </a:r>
        </a:p>
      </dsp:txBody>
      <dsp:txXfrm>
        <a:off x="1307337" y="2698739"/>
        <a:ext cx="3103593" cy="11324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F48C25-3004-4CF5-AE58-0FA9867B4575}">
      <dsp:nvSpPr>
        <dsp:cNvPr id="0" name=""/>
        <dsp:cNvSpPr/>
      </dsp:nvSpPr>
      <dsp:spPr>
        <a:xfrm>
          <a:off x="0" y="214667"/>
          <a:ext cx="4765949" cy="680400"/>
        </a:xfrm>
        <a:prstGeom prst="rect">
          <a:avLst/>
        </a:prstGeom>
        <a:solidFill>
          <a:schemeClr val="lt1">
            <a:alpha val="90000"/>
            <a:hueOff val="0"/>
            <a:satOff val="0"/>
            <a:lumOff val="0"/>
            <a:alphaOff val="0"/>
          </a:schemeClr>
        </a:solidFill>
        <a:ln w="1905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9891" tIns="249936" rIns="369891" bIns="85344" numCol="1" spcCol="1270" anchor="t" anchorCtr="0">
          <a:noAutofit/>
        </a:bodyPr>
        <a:lstStyle/>
        <a:p>
          <a:pPr marL="114300" lvl="1" indent="-114300" algn="l" defTabSz="533400">
            <a:lnSpc>
              <a:spcPct val="90000"/>
            </a:lnSpc>
            <a:spcBef>
              <a:spcPct val="0"/>
            </a:spcBef>
            <a:spcAft>
              <a:spcPct val="15000"/>
            </a:spcAft>
            <a:buChar char="•"/>
          </a:pPr>
          <a:r>
            <a:rPr lang="en-150" sz="1200" kern="1200" dirty="0"/>
            <a:t>Prompt injection occurs when user prompts alter the LLM’s behaviour or output in unintended ways</a:t>
          </a:r>
          <a:endParaRPr lang="en-US" sz="1200" kern="1200" dirty="0"/>
        </a:p>
      </dsp:txBody>
      <dsp:txXfrm>
        <a:off x="0" y="214667"/>
        <a:ext cx="4765949" cy="680400"/>
      </dsp:txXfrm>
    </dsp:sp>
    <dsp:sp modelId="{087E43CF-7745-4B15-A525-4E184133AAE4}">
      <dsp:nvSpPr>
        <dsp:cNvPr id="0" name=""/>
        <dsp:cNvSpPr/>
      </dsp:nvSpPr>
      <dsp:spPr>
        <a:xfrm>
          <a:off x="238297" y="37547"/>
          <a:ext cx="3336164" cy="354240"/>
        </a:xfrm>
        <a:prstGeom prst="roundRect">
          <a:avLst/>
        </a:prstGeom>
        <a:solidFill>
          <a:srgbClr val="C00000"/>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099" tIns="0" rIns="126099" bIns="0" numCol="1" spcCol="1270" anchor="ctr" anchorCtr="0">
          <a:noAutofit/>
        </a:bodyPr>
        <a:lstStyle/>
        <a:p>
          <a:pPr marL="0" lvl="0" indent="0" algn="l" defTabSz="533400">
            <a:lnSpc>
              <a:spcPct val="90000"/>
            </a:lnSpc>
            <a:spcBef>
              <a:spcPct val="0"/>
            </a:spcBef>
            <a:spcAft>
              <a:spcPct val="35000"/>
            </a:spcAft>
            <a:buNone/>
            <a:defRPr b="1"/>
          </a:pPr>
          <a:r>
            <a:rPr lang="en-150" sz="1200" kern="1200" dirty="0"/>
            <a:t>LLM01:2025 Prompt Injection</a:t>
          </a:r>
          <a:endParaRPr lang="en-US" sz="1200" kern="1200" dirty="0"/>
        </a:p>
      </dsp:txBody>
      <dsp:txXfrm>
        <a:off x="255590" y="54840"/>
        <a:ext cx="3301578" cy="319654"/>
      </dsp:txXfrm>
    </dsp:sp>
    <dsp:sp modelId="{25E50672-954D-477F-8D80-62B46B19BD1B}">
      <dsp:nvSpPr>
        <dsp:cNvPr id="0" name=""/>
        <dsp:cNvSpPr/>
      </dsp:nvSpPr>
      <dsp:spPr>
        <a:xfrm>
          <a:off x="0" y="1136987"/>
          <a:ext cx="4765949" cy="1020600"/>
        </a:xfrm>
        <a:prstGeom prst="rect">
          <a:avLst/>
        </a:prstGeom>
        <a:solidFill>
          <a:schemeClr val="lt1">
            <a:alpha val="90000"/>
            <a:hueOff val="0"/>
            <a:satOff val="0"/>
            <a:lumOff val="0"/>
            <a:alphaOff val="0"/>
          </a:schemeClr>
        </a:solidFill>
        <a:ln w="1905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9891" tIns="249936" rIns="369891" bIns="85344" numCol="1" spcCol="1270" anchor="t" anchorCtr="0">
          <a:noAutofit/>
        </a:bodyPr>
        <a:lstStyle/>
        <a:p>
          <a:pPr marL="114300" lvl="1" indent="-114300" algn="l" defTabSz="533400">
            <a:lnSpc>
              <a:spcPct val="90000"/>
            </a:lnSpc>
            <a:spcBef>
              <a:spcPct val="0"/>
            </a:spcBef>
            <a:spcAft>
              <a:spcPct val="15000"/>
            </a:spcAft>
            <a:buChar char="•"/>
          </a:pPr>
          <a:r>
            <a:rPr lang="en-150" sz="1200" kern="1200" dirty="0"/>
            <a:t>Exposure of personal identifiable information, financial details, health records, confidential business data, security details. There may be even more information depending on the company and how they train their proprietary models.</a:t>
          </a:r>
          <a:endParaRPr lang="en-US" sz="1200" kern="1200" dirty="0"/>
        </a:p>
      </dsp:txBody>
      <dsp:txXfrm>
        <a:off x="0" y="1136987"/>
        <a:ext cx="4765949" cy="1020600"/>
      </dsp:txXfrm>
    </dsp:sp>
    <dsp:sp modelId="{828A3EDB-2089-4A3B-A521-C30E484B24A2}">
      <dsp:nvSpPr>
        <dsp:cNvPr id="0" name=""/>
        <dsp:cNvSpPr/>
      </dsp:nvSpPr>
      <dsp:spPr>
        <a:xfrm>
          <a:off x="238297" y="959867"/>
          <a:ext cx="3336164" cy="354240"/>
        </a:xfrm>
        <a:prstGeom prst="roundRect">
          <a:avLst/>
        </a:prstGeom>
        <a:solidFill>
          <a:srgbClr val="C00000"/>
        </a:solidFill>
        <a:ln w="25400" cap="flat" cmpd="sng" algn="ctr">
          <a:solidFill>
            <a:srgbClr val="C00000"/>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099" tIns="0" rIns="126099" bIns="0" numCol="1" spcCol="1270" anchor="ctr" anchorCtr="0">
          <a:noAutofit/>
        </a:bodyPr>
        <a:lstStyle/>
        <a:p>
          <a:pPr marL="0" lvl="0" indent="0" algn="l" defTabSz="533400">
            <a:lnSpc>
              <a:spcPct val="90000"/>
            </a:lnSpc>
            <a:spcBef>
              <a:spcPct val="0"/>
            </a:spcBef>
            <a:spcAft>
              <a:spcPct val="35000"/>
            </a:spcAft>
            <a:buNone/>
            <a:defRPr b="1"/>
          </a:pPr>
          <a:r>
            <a:rPr lang="en-150" sz="1200" kern="1200" dirty="0"/>
            <a:t>LLM02:2025 Sensitive Information Disclosure</a:t>
          </a:r>
          <a:endParaRPr lang="en-US" sz="1200" kern="1200" dirty="0"/>
        </a:p>
      </dsp:txBody>
      <dsp:txXfrm>
        <a:off x="255590" y="977160"/>
        <a:ext cx="3301578" cy="319654"/>
      </dsp:txXfrm>
    </dsp:sp>
    <dsp:sp modelId="{6A3148F7-8062-4633-A890-747A550CFD43}">
      <dsp:nvSpPr>
        <dsp:cNvPr id="0" name=""/>
        <dsp:cNvSpPr/>
      </dsp:nvSpPr>
      <dsp:spPr>
        <a:xfrm>
          <a:off x="0" y="2399507"/>
          <a:ext cx="4765949" cy="850500"/>
        </a:xfrm>
        <a:prstGeom prst="rect">
          <a:avLst/>
        </a:prstGeom>
        <a:solidFill>
          <a:schemeClr val="lt1">
            <a:alpha val="90000"/>
            <a:hueOff val="0"/>
            <a:satOff val="0"/>
            <a:lumOff val="0"/>
            <a:alphaOff val="0"/>
          </a:schemeClr>
        </a:solidFill>
        <a:ln w="1905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9891" tIns="249936" rIns="369891" bIns="85344" numCol="1" spcCol="1270" anchor="t" anchorCtr="0">
          <a:noAutofit/>
        </a:bodyPr>
        <a:lstStyle/>
        <a:p>
          <a:pPr marL="114300" lvl="1" indent="-114300" algn="l" defTabSz="533400">
            <a:lnSpc>
              <a:spcPct val="90000"/>
            </a:lnSpc>
            <a:spcBef>
              <a:spcPct val="0"/>
            </a:spcBef>
            <a:spcAft>
              <a:spcPct val="15000"/>
            </a:spcAft>
            <a:buChar char="•"/>
          </a:pPr>
          <a:r>
            <a:rPr lang="en-150" sz="1200" kern="1200" dirty="0"/>
            <a:t>Risks from a 3rd party model datasets, plugins, etc. A compromised base model or poisoned training data can introduce backdoors</a:t>
          </a:r>
        </a:p>
      </dsp:txBody>
      <dsp:txXfrm>
        <a:off x="0" y="2399507"/>
        <a:ext cx="4765949" cy="850500"/>
      </dsp:txXfrm>
    </dsp:sp>
    <dsp:sp modelId="{1AAEFC20-1155-4CEF-89E0-D34DD19FF41F}">
      <dsp:nvSpPr>
        <dsp:cNvPr id="0" name=""/>
        <dsp:cNvSpPr/>
      </dsp:nvSpPr>
      <dsp:spPr>
        <a:xfrm>
          <a:off x="238297" y="2222387"/>
          <a:ext cx="3336164" cy="354240"/>
        </a:xfrm>
        <a:prstGeom prst="roundRect">
          <a:avLst/>
        </a:prstGeom>
        <a:solidFill>
          <a:srgbClr val="C00000"/>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099" tIns="0" rIns="126099" bIns="0" numCol="1" spcCol="1270" anchor="ctr" anchorCtr="0">
          <a:noAutofit/>
        </a:bodyPr>
        <a:lstStyle/>
        <a:p>
          <a:pPr marL="0" lvl="0" indent="0" algn="l" defTabSz="533400">
            <a:lnSpc>
              <a:spcPct val="90000"/>
            </a:lnSpc>
            <a:spcBef>
              <a:spcPct val="0"/>
            </a:spcBef>
            <a:spcAft>
              <a:spcPct val="35000"/>
            </a:spcAft>
            <a:buNone/>
            <a:defRPr b="1"/>
          </a:pPr>
          <a:r>
            <a:rPr lang="en-150" sz="1200" kern="1200" dirty="0"/>
            <a:t>LLM03:2025 Supply Chain Vulnerabilities</a:t>
          </a:r>
          <a:endParaRPr lang="en-US" sz="1200" kern="1200" dirty="0"/>
        </a:p>
      </dsp:txBody>
      <dsp:txXfrm>
        <a:off x="255590" y="2239680"/>
        <a:ext cx="3301578" cy="319654"/>
      </dsp:txXfrm>
    </dsp:sp>
    <dsp:sp modelId="{8A4329E8-94C1-4526-A7C4-B4FD778DE5B0}">
      <dsp:nvSpPr>
        <dsp:cNvPr id="0" name=""/>
        <dsp:cNvSpPr/>
      </dsp:nvSpPr>
      <dsp:spPr>
        <a:xfrm>
          <a:off x="0" y="3491927"/>
          <a:ext cx="4765949" cy="850500"/>
        </a:xfrm>
        <a:prstGeom prst="rect">
          <a:avLst/>
        </a:prstGeom>
        <a:solidFill>
          <a:schemeClr val="lt1">
            <a:alpha val="90000"/>
            <a:hueOff val="0"/>
            <a:satOff val="0"/>
            <a:lumOff val="0"/>
            <a:alphaOff val="0"/>
          </a:schemeClr>
        </a:solidFill>
        <a:ln w="1905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9891" tIns="249936" rIns="369891" bIns="85344" numCol="1" spcCol="1270" anchor="t" anchorCtr="0">
          <a:noAutofit/>
        </a:bodyPr>
        <a:lstStyle/>
        <a:p>
          <a:pPr marL="114300" lvl="1" indent="-114300" algn="l" defTabSz="533400">
            <a:lnSpc>
              <a:spcPct val="90000"/>
            </a:lnSpc>
            <a:spcBef>
              <a:spcPct val="0"/>
            </a:spcBef>
            <a:spcAft>
              <a:spcPct val="15000"/>
            </a:spcAft>
            <a:buChar char="•"/>
          </a:pPr>
          <a:r>
            <a:rPr lang="en-150" sz="1200" kern="1200" dirty="0"/>
            <a:t>Manipulated data to introduce vulnerabilities, backdoors and biases. Compromises model security, performance, or ethical behaviour.</a:t>
          </a:r>
        </a:p>
      </dsp:txBody>
      <dsp:txXfrm>
        <a:off x="0" y="3491927"/>
        <a:ext cx="4765949" cy="850500"/>
      </dsp:txXfrm>
    </dsp:sp>
    <dsp:sp modelId="{7E4668A0-0069-46A4-88F0-DDE4D09D6F8F}">
      <dsp:nvSpPr>
        <dsp:cNvPr id="0" name=""/>
        <dsp:cNvSpPr/>
      </dsp:nvSpPr>
      <dsp:spPr>
        <a:xfrm>
          <a:off x="238297" y="3314807"/>
          <a:ext cx="3336164" cy="354240"/>
        </a:xfrm>
        <a:prstGeom prst="roundRect">
          <a:avLst/>
        </a:prstGeom>
        <a:solidFill>
          <a:srgbClr val="C00000"/>
        </a:solidFill>
        <a:ln w="25400" cap="flat" cmpd="sng" algn="ctr">
          <a:solidFill>
            <a:srgbClr val="C00000"/>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099" tIns="0" rIns="126099" bIns="0" numCol="1" spcCol="1270" anchor="ctr" anchorCtr="0">
          <a:noAutofit/>
        </a:bodyPr>
        <a:lstStyle/>
        <a:p>
          <a:pPr marL="0" lvl="0" indent="0" algn="l" defTabSz="533400">
            <a:lnSpc>
              <a:spcPct val="90000"/>
            </a:lnSpc>
            <a:spcBef>
              <a:spcPct val="0"/>
            </a:spcBef>
            <a:spcAft>
              <a:spcPct val="35000"/>
            </a:spcAft>
            <a:buNone/>
          </a:pPr>
          <a:r>
            <a:rPr lang="en-150" sz="1200" b="1" kern="1200" dirty="0"/>
            <a:t>LLM04:2025 Data and Model Poisoning</a:t>
          </a:r>
        </a:p>
      </dsp:txBody>
      <dsp:txXfrm>
        <a:off x="255590" y="3332100"/>
        <a:ext cx="3301578" cy="31965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1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C9EE0-DD16-492E-9069-706BAA19E58F}" type="datetimeFigureOut">
              <a:rPr lang="en-150" smtClean="0"/>
              <a:t>07/05/2026</a:t>
            </a:fld>
            <a:endParaRPr lang="en-1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15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1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4316CA-C6FA-4DE1-A81D-F733CC6DE761}" type="slidenum">
              <a:rPr lang="en-150" smtClean="0"/>
              <a:t>‹#›</a:t>
            </a:fld>
            <a:endParaRPr lang="en-150"/>
          </a:p>
        </p:txBody>
      </p:sp>
    </p:spTree>
    <p:extLst>
      <p:ext uri="{BB962C8B-B14F-4D97-AF65-F5344CB8AC3E}">
        <p14:creationId xmlns:p14="http://schemas.microsoft.com/office/powerpoint/2010/main" val="2678167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sz="1200" b="0" i="0" kern="1200" dirty="0">
                <a:solidFill>
                  <a:schemeClr val="tx1"/>
                </a:solidFill>
                <a:effectLst/>
                <a:latin typeface="+mn-lt"/>
                <a:ea typeface="+mn-ea"/>
                <a:cs typeface="+mn-cs"/>
              </a:rPr>
              <a:t>NIST: </a:t>
            </a:r>
            <a:r>
              <a:rPr lang="en-GB" sz="1200" b="0" i="0" kern="1200" dirty="0">
                <a:solidFill>
                  <a:schemeClr val="tx1"/>
                </a:solidFill>
                <a:effectLst/>
                <a:latin typeface="+mn-lt"/>
                <a:ea typeface="+mn-ea"/>
                <a:cs typeface="+mn-cs"/>
              </a:rPr>
              <a:t>attackers increasingly hijack AI agents by embedding malicious instructions directly into user inputs or external data sources.</a:t>
            </a:r>
            <a:endParaRPr lang="en-150" sz="1200" b="0" i="0" kern="1200" dirty="0">
              <a:solidFill>
                <a:schemeClr val="tx1"/>
              </a:solidFill>
              <a:effectLst/>
              <a:latin typeface="+mn-lt"/>
              <a:ea typeface="+mn-ea"/>
              <a:cs typeface="+mn-cs"/>
            </a:endParaRPr>
          </a:p>
          <a:p>
            <a:r>
              <a:rPr lang="en-150" sz="1200" b="0" i="0" kern="1200" dirty="0">
                <a:solidFill>
                  <a:schemeClr val="tx1"/>
                </a:solidFill>
                <a:effectLst/>
                <a:latin typeface="+mn-lt"/>
                <a:ea typeface="+mn-ea"/>
                <a:cs typeface="+mn-cs"/>
              </a:rPr>
              <a:t>OECD: showing us that there is a 10x increase in such incidents. Likely to increase as AI gets better at content generation</a:t>
            </a:r>
            <a:endParaRPr lang="en-150" dirty="0"/>
          </a:p>
        </p:txBody>
      </p:sp>
      <p:sp>
        <p:nvSpPr>
          <p:cNvPr id="4" name="Slide Number Placeholder 3"/>
          <p:cNvSpPr>
            <a:spLocks noGrp="1"/>
          </p:cNvSpPr>
          <p:nvPr>
            <p:ph type="sldNum" sz="quarter" idx="5"/>
          </p:nvPr>
        </p:nvSpPr>
        <p:spPr/>
        <p:txBody>
          <a:bodyPr/>
          <a:lstStyle/>
          <a:p>
            <a:fld id="{404316CA-C6FA-4DE1-A81D-F733CC6DE761}" type="slidenum">
              <a:rPr lang="en-150" smtClean="0"/>
              <a:t>16</a:t>
            </a:fld>
            <a:endParaRPr lang="en-150"/>
          </a:p>
        </p:txBody>
      </p:sp>
    </p:spTree>
    <p:extLst>
      <p:ext uri="{BB962C8B-B14F-4D97-AF65-F5344CB8AC3E}">
        <p14:creationId xmlns:p14="http://schemas.microsoft.com/office/powerpoint/2010/main" val="2537929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dirty="0"/>
              <a:t>AI </a:t>
            </a:r>
            <a:r>
              <a:rPr lang="en-GB" dirty="0"/>
              <a:t>has transitioned from a supporting tool to a primary driver of high-speed, autonomous cyberattacks</a:t>
            </a:r>
            <a:r>
              <a:rPr lang="en-150" dirty="0"/>
              <a:t>.</a:t>
            </a:r>
          </a:p>
          <a:p>
            <a:r>
              <a:rPr lang="en-150" dirty="0"/>
              <a:t>According to CrowdStrike, AI is acting as both an accelerant for traditional attacks but also as a new target to exploit</a:t>
            </a:r>
          </a:p>
          <a:p>
            <a:endParaRPr lang="en-150" dirty="0"/>
          </a:p>
        </p:txBody>
      </p:sp>
      <p:sp>
        <p:nvSpPr>
          <p:cNvPr id="4" name="Slide Number Placeholder 3"/>
          <p:cNvSpPr>
            <a:spLocks noGrp="1"/>
          </p:cNvSpPr>
          <p:nvPr>
            <p:ph type="sldNum" sz="quarter" idx="5"/>
          </p:nvPr>
        </p:nvSpPr>
        <p:spPr/>
        <p:txBody>
          <a:bodyPr/>
          <a:lstStyle/>
          <a:p>
            <a:fld id="{404316CA-C6FA-4DE1-A81D-F733CC6DE761}" type="slidenum">
              <a:rPr lang="en-150" smtClean="0"/>
              <a:t>17</a:t>
            </a:fld>
            <a:endParaRPr lang="en-150"/>
          </a:p>
        </p:txBody>
      </p:sp>
    </p:spTree>
    <p:extLst>
      <p:ext uri="{BB962C8B-B14F-4D97-AF65-F5344CB8AC3E}">
        <p14:creationId xmlns:p14="http://schemas.microsoft.com/office/powerpoint/2010/main" val="28395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1ST BULLETPOINT: AI is used to automate recon, phishing, and code development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2ND BULLETPOINT: </a:t>
            </a:r>
            <a:r>
              <a:rPr lang="en-150" dirty="0" err="1"/>
              <a:t>eCrime</a:t>
            </a:r>
            <a:r>
              <a:rPr lang="en-150" dirty="0"/>
              <a:t> breakout = how quickly hackers move from initial access to lateral movement</a:t>
            </a:r>
          </a:p>
          <a:p>
            <a:endParaRPr lang="en-150" dirty="0"/>
          </a:p>
        </p:txBody>
      </p:sp>
      <p:sp>
        <p:nvSpPr>
          <p:cNvPr id="4" name="Slide Number Placeholder 3"/>
          <p:cNvSpPr>
            <a:spLocks noGrp="1"/>
          </p:cNvSpPr>
          <p:nvPr>
            <p:ph type="sldNum" sz="quarter" idx="5"/>
          </p:nvPr>
        </p:nvSpPr>
        <p:spPr/>
        <p:txBody>
          <a:bodyPr/>
          <a:lstStyle/>
          <a:p>
            <a:fld id="{404316CA-C6FA-4DE1-A81D-F733CC6DE761}" type="slidenum">
              <a:rPr lang="en-150" smtClean="0"/>
              <a:t>18</a:t>
            </a:fld>
            <a:endParaRPr lang="en-150"/>
          </a:p>
        </p:txBody>
      </p:sp>
    </p:spTree>
    <p:extLst>
      <p:ext uri="{BB962C8B-B14F-4D97-AF65-F5344CB8AC3E}">
        <p14:creationId xmlns:p14="http://schemas.microsoft.com/office/powerpoint/2010/main" val="3309296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ED8EF-7011-3998-9842-A39BB8B97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0DF57-5A44-E804-6F4D-38F1871EF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B22D3-E28E-8DA6-EAFC-459A46802CE6}"/>
              </a:ext>
            </a:extLst>
          </p:cNvPr>
          <p:cNvSpPr>
            <a:spLocks noGrp="1"/>
          </p:cNvSpPr>
          <p:nvPr>
            <p:ph type="body" idx="1"/>
          </p:nvPr>
        </p:nvSpPr>
        <p:spPr/>
        <p:txBody>
          <a:bodyPr/>
          <a:lstStyle/>
          <a:p>
            <a:r>
              <a:rPr lang="en-150" dirty="0"/>
              <a:t>AI is not just a tool to be used, but also an infrastructure for hackers to attack.</a:t>
            </a:r>
          </a:p>
          <a:p>
            <a:r>
              <a:rPr lang="en-150" dirty="0"/>
              <a:t>As put by CrowdStrike: “</a:t>
            </a:r>
            <a:r>
              <a:rPr lang="en-GB" sz="1200" b="0" i="0" kern="1200" dirty="0">
                <a:solidFill>
                  <a:schemeClr val="tx1"/>
                </a:solidFill>
                <a:effectLst/>
                <a:latin typeface="+mn-lt"/>
                <a:ea typeface="+mn-ea"/>
                <a:cs typeface="+mn-cs"/>
              </a:rPr>
              <a:t>AI Is the New Attack Surface – Prompts are the New Malware</a:t>
            </a:r>
            <a:r>
              <a:rPr lang="en-150" sz="1200" b="0" i="0" kern="1200" dirty="0">
                <a:solidFill>
                  <a:schemeClr val="tx1"/>
                </a:solidFill>
                <a:effectLst/>
                <a:latin typeface="+mn-lt"/>
                <a:ea typeface="+mn-ea"/>
                <a:cs typeface="+mn-cs"/>
              </a:rPr>
              <a:t>”</a:t>
            </a:r>
          </a:p>
          <a:p>
            <a:endParaRPr lang="en-15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1ST BULLETPOINT: Hackers exploited legitimate GenAI tools at more than 90 organisations by injecting malicious prompts to generate commands to steal credentials and cryptocurrency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2ND BULLETPOINT: E</a:t>
            </a:r>
            <a:r>
              <a:rPr lang="en-GB" dirty="0"/>
              <a:t>stablish persistence</a:t>
            </a:r>
            <a:r>
              <a:rPr lang="en-150" dirty="0"/>
              <a:t>, </a:t>
            </a:r>
            <a:r>
              <a:rPr lang="en-GB" dirty="0"/>
              <a:t>deploy ransomware, and publish malicious AI servers impersonating trusted services to intercept sensitive data</a:t>
            </a:r>
            <a:endParaRPr lang="en-150" dirty="0"/>
          </a:p>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3RD BULLETPOINT: </a:t>
            </a:r>
            <a:r>
              <a:rPr lang="en-GB" sz="1200" b="0" i="0" kern="1200" dirty="0">
                <a:solidFill>
                  <a:schemeClr val="tx1"/>
                </a:solidFill>
                <a:effectLst/>
                <a:latin typeface="+mn-lt"/>
                <a:ea typeface="+mn-ea"/>
                <a:cs typeface="+mn-cs"/>
              </a:rPr>
              <a:t>42% of vulnerabilities were exploited before public disclosure as adversaries weaponized zero days for initial access, remote code execution, and privilege escalation. Cloud</a:t>
            </a:r>
            <a:r>
              <a:rPr lang="en-150" sz="1200" b="0" i="0"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intrusions rose by 37% overall, with a 266% increase from state-nexus threat actors targeting cloud environments for intelligence collection.</a:t>
            </a:r>
            <a:r>
              <a:rPr lang="en-150" sz="1200" b="0" i="0" kern="1200" dirty="0">
                <a:solidFill>
                  <a:schemeClr val="tx1"/>
                </a:solidFill>
                <a:effectLst/>
                <a:latin typeface="+mn-lt"/>
                <a:ea typeface="+mn-ea"/>
                <a:cs typeface="+mn-cs"/>
              </a:rPr>
              <a:t> </a:t>
            </a:r>
            <a:endParaRPr lang="en-150" dirty="0"/>
          </a:p>
        </p:txBody>
      </p:sp>
      <p:sp>
        <p:nvSpPr>
          <p:cNvPr id="4" name="Slide Number Placeholder 3">
            <a:extLst>
              <a:ext uri="{FF2B5EF4-FFF2-40B4-BE49-F238E27FC236}">
                <a16:creationId xmlns:a16="http://schemas.microsoft.com/office/drawing/2014/main" id="{48356BEE-C4A6-77DC-94F4-BBF092C7B3B3}"/>
              </a:ext>
            </a:extLst>
          </p:cNvPr>
          <p:cNvSpPr>
            <a:spLocks noGrp="1"/>
          </p:cNvSpPr>
          <p:nvPr>
            <p:ph type="sldNum" sz="quarter" idx="5"/>
          </p:nvPr>
        </p:nvSpPr>
        <p:spPr/>
        <p:txBody>
          <a:bodyPr/>
          <a:lstStyle/>
          <a:p>
            <a:fld id="{404316CA-C6FA-4DE1-A81D-F733CC6DE761}" type="slidenum">
              <a:rPr lang="en-150" smtClean="0"/>
              <a:t>19</a:t>
            </a:fld>
            <a:endParaRPr lang="en-150"/>
          </a:p>
        </p:txBody>
      </p:sp>
    </p:spTree>
    <p:extLst>
      <p:ext uri="{BB962C8B-B14F-4D97-AF65-F5344CB8AC3E}">
        <p14:creationId xmlns:p14="http://schemas.microsoft.com/office/powerpoint/2010/main" val="696812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27073-FB1E-7AA5-C3E6-A8D42CE50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BE08C-3AA8-1306-8631-881191918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FD56D-E551-4080-73C1-E1161CE3C8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In general nation-state </a:t>
            </a:r>
            <a:r>
              <a:rPr lang="en-150" dirty="0" err="1"/>
              <a:t>ecrime</a:t>
            </a:r>
            <a:r>
              <a:rPr lang="en-150" dirty="0"/>
              <a:t> activity increased significantly due to use of AI</a:t>
            </a:r>
            <a:br>
              <a:rPr lang="en-150" dirty="0"/>
            </a:br>
            <a:br>
              <a:rPr lang="en-150" dirty="0"/>
            </a:br>
            <a:r>
              <a:rPr lang="en-150" dirty="0"/>
              <a:t>1ST BULLETPOINT: </a:t>
            </a:r>
            <a:r>
              <a:rPr lang="en-GB" sz="1200" b="0" i="0" kern="1200" dirty="0">
                <a:solidFill>
                  <a:schemeClr val="tx1"/>
                </a:solidFill>
                <a:effectLst/>
                <a:latin typeface="+mn-lt"/>
                <a:ea typeface="+mn-ea"/>
                <a:cs typeface="+mn-cs"/>
              </a:rPr>
              <a:t>China-nexus activity increased 38% in 2025</a:t>
            </a:r>
            <a:r>
              <a:rPr lang="en-150" sz="1200" b="0" i="0"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67% of all exploited vulnerabilities </a:t>
            </a:r>
            <a:r>
              <a:rPr lang="en-150" sz="1200" b="0" i="0" kern="1200" dirty="0">
                <a:solidFill>
                  <a:schemeClr val="tx1"/>
                </a:solidFill>
                <a:effectLst/>
                <a:latin typeface="+mn-lt"/>
                <a:ea typeface="+mn-ea"/>
                <a:cs typeface="+mn-cs"/>
              </a:rPr>
              <a:t>resulted in</a:t>
            </a:r>
            <a:r>
              <a:rPr lang="en-GB" sz="1200" b="0" i="0" kern="1200" dirty="0">
                <a:solidFill>
                  <a:schemeClr val="tx1"/>
                </a:solidFill>
                <a:effectLst/>
                <a:latin typeface="+mn-lt"/>
                <a:ea typeface="+mn-ea"/>
                <a:cs typeface="+mn-cs"/>
              </a:rPr>
              <a:t> immediate system access, while 40% targeted internet-facing edge devices.</a:t>
            </a:r>
            <a:endParaRPr lang="en-150" dirty="0"/>
          </a:p>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2ND BULLETPOINT: </a:t>
            </a:r>
            <a:r>
              <a:rPr lang="en-GB" sz="1200" b="0" i="0" kern="1200" dirty="0">
                <a:solidFill>
                  <a:schemeClr val="tx1"/>
                </a:solidFill>
                <a:effectLst/>
                <a:latin typeface="+mn-lt"/>
                <a:ea typeface="+mn-ea"/>
                <a:cs typeface="+mn-cs"/>
              </a:rPr>
              <a:t>DPRK-linked incidents rose more than 130% as FAMOUS CHOLLIMA</a:t>
            </a:r>
            <a:r>
              <a:rPr lang="en-150" sz="1200" b="0" i="0" kern="1200" dirty="0">
                <a:solidFill>
                  <a:schemeClr val="tx1"/>
                </a:solidFill>
                <a:effectLst/>
                <a:latin typeface="+mn-lt"/>
                <a:ea typeface="+mn-ea"/>
                <a:cs typeface="+mn-cs"/>
              </a:rPr>
              <a:t> (state sponsored group)</a:t>
            </a:r>
            <a:r>
              <a:rPr lang="en-GB" sz="1200" b="0" i="0" kern="1200" dirty="0">
                <a:solidFill>
                  <a:schemeClr val="tx1"/>
                </a:solidFill>
                <a:effectLst/>
                <a:latin typeface="+mn-lt"/>
                <a:ea typeface="+mn-ea"/>
                <a:cs typeface="+mn-cs"/>
              </a:rPr>
              <a:t> activity more than doubled. </a:t>
            </a:r>
            <a:r>
              <a:rPr lang="en-GB" sz="1200" b="0" i="0" u="none" strike="noStrike" kern="1200" dirty="0">
                <a:solidFill>
                  <a:schemeClr val="tx1"/>
                </a:solidFill>
                <a:effectLst/>
                <a:latin typeface="+mn-lt"/>
                <a:ea typeface="+mn-ea"/>
                <a:cs typeface="+mn-cs"/>
              </a:rPr>
              <a:t>PRESSURE CHOLLIMA’s</a:t>
            </a:r>
            <a:r>
              <a:rPr lang="en-GB" sz="1200" b="0" i="0" kern="1200" dirty="0">
                <a:solidFill>
                  <a:schemeClr val="tx1"/>
                </a:solidFill>
                <a:effectLst/>
                <a:latin typeface="+mn-lt"/>
                <a:ea typeface="+mn-ea"/>
                <a:cs typeface="+mn-cs"/>
              </a:rPr>
              <a:t> $1.46B cryptocurrency theft was the largest single financial heist ever reported</a:t>
            </a:r>
            <a:endParaRPr lang="en-150" dirty="0"/>
          </a:p>
          <a:p>
            <a:pPr marL="0" marR="0" lvl="0" indent="0" algn="l" defTabSz="914400" rtl="0" eaLnBrk="1" fontAlgn="auto" latinLnBrk="0" hangingPunct="1">
              <a:lnSpc>
                <a:spcPct val="100000"/>
              </a:lnSpc>
              <a:spcBef>
                <a:spcPts val="0"/>
              </a:spcBef>
              <a:spcAft>
                <a:spcPts val="0"/>
              </a:spcAft>
              <a:buClrTx/>
              <a:buSzTx/>
              <a:buFontTx/>
              <a:buNone/>
              <a:tabLst/>
              <a:defRPr/>
            </a:pPr>
            <a:r>
              <a:rPr lang="en-150" dirty="0"/>
              <a:t>3RD BULLETPOINT: </a:t>
            </a:r>
            <a:r>
              <a:rPr lang="en-GB" sz="1200" b="0" i="0" kern="1200" dirty="0">
                <a:solidFill>
                  <a:schemeClr val="tx1"/>
                </a:solidFill>
                <a:effectLst/>
                <a:latin typeface="+mn-lt"/>
                <a:ea typeface="+mn-ea"/>
                <a:cs typeface="+mn-cs"/>
              </a:rPr>
              <a:t>Russia-nexus </a:t>
            </a:r>
            <a:r>
              <a:rPr lang="en-GB" sz="1200" b="0" i="0" u="none" strike="noStrike" kern="1200" dirty="0">
                <a:solidFill>
                  <a:schemeClr val="tx1"/>
                </a:solidFill>
                <a:effectLst/>
                <a:latin typeface="+mn-lt"/>
                <a:ea typeface="+mn-ea"/>
                <a:cs typeface="+mn-cs"/>
              </a:rPr>
              <a:t>FANCY BEAR</a:t>
            </a:r>
            <a:r>
              <a:rPr lang="en-GB" sz="1200" b="0" i="0" kern="1200" dirty="0">
                <a:solidFill>
                  <a:schemeClr val="tx1"/>
                </a:solidFill>
                <a:effectLst/>
                <a:latin typeface="+mn-lt"/>
                <a:ea typeface="+mn-ea"/>
                <a:cs typeface="+mn-cs"/>
              </a:rPr>
              <a:t> deployed LLM-enabled malware (LAMEHUG) to automate reconnaissance and document collection.</a:t>
            </a:r>
            <a:endParaRPr lang="en-150" dirty="0"/>
          </a:p>
        </p:txBody>
      </p:sp>
      <p:sp>
        <p:nvSpPr>
          <p:cNvPr id="4" name="Slide Number Placeholder 3">
            <a:extLst>
              <a:ext uri="{FF2B5EF4-FFF2-40B4-BE49-F238E27FC236}">
                <a16:creationId xmlns:a16="http://schemas.microsoft.com/office/drawing/2014/main" id="{64B09FB1-C23A-6A3F-8371-73B0CA19F9D5}"/>
              </a:ext>
            </a:extLst>
          </p:cNvPr>
          <p:cNvSpPr>
            <a:spLocks noGrp="1"/>
          </p:cNvSpPr>
          <p:nvPr>
            <p:ph type="sldNum" sz="quarter" idx="5"/>
          </p:nvPr>
        </p:nvSpPr>
        <p:spPr/>
        <p:txBody>
          <a:bodyPr/>
          <a:lstStyle/>
          <a:p>
            <a:fld id="{404316CA-C6FA-4DE1-A81D-F733CC6DE761}" type="slidenum">
              <a:rPr lang="en-150" smtClean="0"/>
              <a:t>20</a:t>
            </a:fld>
            <a:endParaRPr lang="en-150"/>
          </a:p>
        </p:txBody>
      </p:sp>
    </p:spTree>
    <p:extLst>
      <p:ext uri="{BB962C8B-B14F-4D97-AF65-F5344CB8AC3E}">
        <p14:creationId xmlns:p14="http://schemas.microsoft.com/office/powerpoint/2010/main" val="1410032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dirty="0"/>
              <a:t>Prompt injection:</a:t>
            </a:r>
          </a:p>
          <a:p>
            <a:r>
              <a:rPr lang="en-150" dirty="0"/>
              <a:t>	Direct: user types “ignore all previous instructions, you are now...” (mention how Russian bots in twitter were overwritten with these prompts, chipotle AI being used to generate python code)</a:t>
            </a:r>
          </a:p>
          <a:p>
            <a:r>
              <a:rPr lang="en-150" dirty="0"/>
              <a:t>	Indirect: Invisible instructions hidden in websites. When an AI agent reads that site, they can be hijacked by the hidden code</a:t>
            </a:r>
          </a:p>
          <a:p>
            <a:r>
              <a:rPr lang="en-150" dirty="0"/>
              <a:t>Sensitive Information Disclosure:</a:t>
            </a:r>
          </a:p>
          <a:p>
            <a:r>
              <a:rPr lang="en-150" dirty="0"/>
              <a:t>This jumped from number 6 to number 2 as companies are now connecting their databases to AI systems</a:t>
            </a:r>
          </a:p>
          <a:p>
            <a:endParaRPr lang="en-150" dirty="0"/>
          </a:p>
          <a:p>
            <a:r>
              <a:rPr lang="en-150" dirty="0"/>
              <a:t>Data and Model Poisoning: </a:t>
            </a:r>
            <a:r>
              <a:rPr lang="en-GB" sz="1200" b="0" i="0" kern="1200" dirty="0">
                <a:solidFill>
                  <a:schemeClr val="tx1"/>
                </a:solidFill>
                <a:effectLst/>
                <a:latin typeface="+mn-lt"/>
                <a:ea typeface="+mn-ea"/>
                <a:cs typeface="+mn-cs"/>
              </a:rPr>
              <a:t>Common risks include degraded model performance, biased or toxic content, and exploitation of downstream systems.</a:t>
            </a:r>
            <a:endParaRPr lang="en-150" dirty="0"/>
          </a:p>
        </p:txBody>
      </p:sp>
      <p:sp>
        <p:nvSpPr>
          <p:cNvPr id="4" name="Slide Number Placeholder 3"/>
          <p:cNvSpPr>
            <a:spLocks noGrp="1"/>
          </p:cNvSpPr>
          <p:nvPr>
            <p:ph type="sldNum" sz="quarter" idx="5"/>
          </p:nvPr>
        </p:nvSpPr>
        <p:spPr/>
        <p:txBody>
          <a:bodyPr/>
          <a:lstStyle/>
          <a:p>
            <a:fld id="{404316CA-C6FA-4DE1-A81D-F733CC6DE761}" type="slidenum">
              <a:rPr lang="en-150" smtClean="0"/>
              <a:t>21</a:t>
            </a:fld>
            <a:endParaRPr lang="en-150"/>
          </a:p>
        </p:txBody>
      </p:sp>
    </p:spTree>
    <p:extLst>
      <p:ext uri="{BB962C8B-B14F-4D97-AF65-F5344CB8AC3E}">
        <p14:creationId xmlns:p14="http://schemas.microsoft.com/office/powerpoint/2010/main" val="2489558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150" dirty="0"/>
          </a:p>
        </p:txBody>
      </p:sp>
      <p:sp>
        <p:nvSpPr>
          <p:cNvPr id="4" name="Slide Number Placeholder 3"/>
          <p:cNvSpPr>
            <a:spLocks noGrp="1"/>
          </p:cNvSpPr>
          <p:nvPr>
            <p:ph type="sldNum" sz="quarter" idx="5"/>
          </p:nvPr>
        </p:nvSpPr>
        <p:spPr/>
        <p:txBody>
          <a:bodyPr/>
          <a:lstStyle/>
          <a:p>
            <a:fld id="{404316CA-C6FA-4DE1-A81D-F733CC6DE761}" type="slidenum">
              <a:rPr lang="en-150" smtClean="0"/>
              <a:t>22</a:t>
            </a:fld>
            <a:endParaRPr lang="en-150"/>
          </a:p>
        </p:txBody>
      </p:sp>
    </p:spTree>
    <p:extLst>
      <p:ext uri="{BB962C8B-B14F-4D97-AF65-F5344CB8AC3E}">
        <p14:creationId xmlns:p14="http://schemas.microsoft.com/office/powerpoint/2010/main" val="501946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879F-71E5-86C0-63A4-DE36D6A233C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150"/>
          </a:p>
        </p:txBody>
      </p:sp>
      <p:sp>
        <p:nvSpPr>
          <p:cNvPr id="3" name="Subtitle 2">
            <a:extLst>
              <a:ext uri="{FF2B5EF4-FFF2-40B4-BE49-F238E27FC236}">
                <a16:creationId xmlns:a16="http://schemas.microsoft.com/office/drawing/2014/main" id="{250938D0-576B-98AE-5BD6-DCBB8E2F0C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150"/>
          </a:p>
        </p:txBody>
      </p:sp>
      <p:sp>
        <p:nvSpPr>
          <p:cNvPr id="4" name="Date Placeholder 3">
            <a:extLst>
              <a:ext uri="{FF2B5EF4-FFF2-40B4-BE49-F238E27FC236}">
                <a16:creationId xmlns:a16="http://schemas.microsoft.com/office/drawing/2014/main" id="{0C6E1A45-B773-A773-8308-C7CF695F0DF4}"/>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5" name="Footer Placeholder 4">
            <a:extLst>
              <a:ext uri="{FF2B5EF4-FFF2-40B4-BE49-F238E27FC236}">
                <a16:creationId xmlns:a16="http://schemas.microsoft.com/office/drawing/2014/main" id="{278CC760-6CF8-71C8-E9E8-70523E636B5B}"/>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23CC92E9-B1FC-E01E-1A18-7D36C02E7E78}"/>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1147239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B2DF6-580F-0C7C-0A5D-16110B5C04A7}"/>
              </a:ext>
            </a:extLst>
          </p:cNvPr>
          <p:cNvSpPr>
            <a:spLocks noGrp="1"/>
          </p:cNvSpPr>
          <p:nvPr>
            <p:ph type="title"/>
          </p:nvPr>
        </p:nvSpPr>
        <p:spPr/>
        <p:txBody>
          <a:bodyPr/>
          <a:lstStyle/>
          <a:p>
            <a:r>
              <a:rPr lang="en-GB"/>
              <a:t>Click to edit Master title style</a:t>
            </a:r>
            <a:endParaRPr lang="en-150"/>
          </a:p>
        </p:txBody>
      </p:sp>
      <p:sp>
        <p:nvSpPr>
          <p:cNvPr id="3" name="Content Placeholder 2">
            <a:extLst>
              <a:ext uri="{FF2B5EF4-FFF2-40B4-BE49-F238E27FC236}">
                <a16:creationId xmlns:a16="http://schemas.microsoft.com/office/drawing/2014/main" id="{6268F2EF-1EC8-3F06-EDA8-D42E900137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4" name="Date Placeholder 3">
            <a:extLst>
              <a:ext uri="{FF2B5EF4-FFF2-40B4-BE49-F238E27FC236}">
                <a16:creationId xmlns:a16="http://schemas.microsoft.com/office/drawing/2014/main" id="{31088D84-D627-0CDA-61FC-339622D399C7}"/>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5" name="Footer Placeholder 4">
            <a:extLst>
              <a:ext uri="{FF2B5EF4-FFF2-40B4-BE49-F238E27FC236}">
                <a16:creationId xmlns:a16="http://schemas.microsoft.com/office/drawing/2014/main" id="{7A19C61D-0F8C-369A-19CA-09D38F083F15}"/>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81F9B002-C6B2-7939-BEE1-1C4AA1CBA89C}"/>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64717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4875-32CB-C822-8555-3859F5F957F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150"/>
          </a:p>
        </p:txBody>
      </p:sp>
      <p:sp>
        <p:nvSpPr>
          <p:cNvPr id="3" name="Text Placeholder 2">
            <a:extLst>
              <a:ext uri="{FF2B5EF4-FFF2-40B4-BE49-F238E27FC236}">
                <a16:creationId xmlns:a16="http://schemas.microsoft.com/office/drawing/2014/main" id="{42ADC07C-DCD7-DAD7-9689-81DF461314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FE19DBB-CBFE-7491-22B1-F0E829EB2B7F}"/>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5" name="Footer Placeholder 4">
            <a:extLst>
              <a:ext uri="{FF2B5EF4-FFF2-40B4-BE49-F238E27FC236}">
                <a16:creationId xmlns:a16="http://schemas.microsoft.com/office/drawing/2014/main" id="{B696C307-9125-99D4-BCFC-68161393CDCD}"/>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1C9EAA3F-77E9-C56D-8333-536CEDDDDAEF}"/>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3535114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4B5D9-D5BB-0649-CA6F-34C30BDB1C77}"/>
              </a:ext>
            </a:extLst>
          </p:cNvPr>
          <p:cNvSpPr>
            <a:spLocks noGrp="1"/>
          </p:cNvSpPr>
          <p:nvPr>
            <p:ph type="title"/>
          </p:nvPr>
        </p:nvSpPr>
        <p:spPr/>
        <p:txBody>
          <a:bodyPr/>
          <a:lstStyle/>
          <a:p>
            <a:r>
              <a:rPr lang="en-GB"/>
              <a:t>Click to edit Master title style</a:t>
            </a:r>
            <a:endParaRPr lang="en-150"/>
          </a:p>
        </p:txBody>
      </p:sp>
      <p:sp>
        <p:nvSpPr>
          <p:cNvPr id="3" name="Content Placeholder 2">
            <a:extLst>
              <a:ext uri="{FF2B5EF4-FFF2-40B4-BE49-F238E27FC236}">
                <a16:creationId xmlns:a16="http://schemas.microsoft.com/office/drawing/2014/main" id="{A0EF4F42-2942-5C46-7F6D-3109FC26E81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4" name="Content Placeholder 3">
            <a:extLst>
              <a:ext uri="{FF2B5EF4-FFF2-40B4-BE49-F238E27FC236}">
                <a16:creationId xmlns:a16="http://schemas.microsoft.com/office/drawing/2014/main" id="{B18FEDAB-74B5-CC39-2DB2-7388CF2507A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5" name="Date Placeholder 4">
            <a:extLst>
              <a:ext uri="{FF2B5EF4-FFF2-40B4-BE49-F238E27FC236}">
                <a16:creationId xmlns:a16="http://schemas.microsoft.com/office/drawing/2014/main" id="{8D81D5FE-7233-0A02-073D-0164368B7E62}"/>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6" name="Footer Placeholder 5">
            <a:extLst>
              <a:ext uri="{FF2B5EF4-FFF2-40B4-BE49-F238E27FC236}">
                <a16:creationId xmlns:a16="http://schemas.microsoft.com/office/drawing/2014/main" id="{05D54A8C-20BA-868C-6F19-A09BC01815A7}"/>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A5F35D49-7A19-EEED-E26D-68A2D95FEE2D}"/>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2895297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390A3-26A5-D14E-20AC-64097C9EE04D}"/>
              </a:ext>
            </a:extLst>
          </p:cNvPr>
          <p:cNvSpPr>
            <a:spLocks noGrp="1"/>
          </p:cNvSpPr>
          <p:nvPr>
            <p:ph type="title"/>
          </p:nvPr>
        </p:nvSpPr>
        <p:spPr>
          <a:xfrm>
            <a:off x="839788" y="365125"/>
            <a:ext cx="10515600" cy="1325563"/>
          </a:xfrm>
        </p:spPr>
        <p:txBody>
          <a:bodyPr/>
          <a:lstStyle/>
          <a:p>
            <a:r>
              <a:rPr lang="en-GB"/>
              <a:t>Click to edit Master title style</a:t>
            </a:r>
            <a:endParaRPr lang="en-150"/>
          </a:p>
        </p:txBody>
      </p:sp>
      <p:sp>
        <p:nvSpPr>
          <p:cNvPr id="3" name="Text Placeholder 2">
            <a:extLst>
              <a:ext uri="{FF2B5EF4-FFF2-40B4-BE49-F238E27FC236}">
                <a16:creationId xmlns:a16="http://schemas.microsoft.com/office/drawing/2014/main" id="{89E129BF-9D4B-9045-6EE2-12340A9F75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E9AA57D-8C15-2DB7-5934-DB362B3646F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5" name="Text Placeholder 4">
            <a:extLst>
              <a:ext uri="{FF2B5EF4-FFF2-40B4-BE49-F238E27FC236}">
                <a16:creationId xmlns:a16="http://schemas.microsoft.com/office/drawing/2014/main" id="{96620A30-6FAA-2618-F939-D9D45DEE99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860FEED-F982-34E5-8C3B-C8DE37788CB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7" name="Date Placeholder 6">
            <a:extLst>
              <a:ext uri="{FF2B5EF4-FFF2-40B4-BE49-F238E27FC236}">
                <a16:creationId xmlns:a16="http://schemas.microsoft.com/office/drawing/2014/main" id="{7A382113-7715-348C-EE12-6C4B5DE42908}"/>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8" name="Footer Placeholder 7">
            <a:extLst>
              <a:ext uri="{FF2B5EF4-FFF2-40B4-BE49-F238E27FC236}">
                <a16:creationId xmlns:a16="http://schemas.microsoft.com/office/drawing/2014/main" id="{35E19E9B-227B-2953-D705-A49B69B2A1E4}"/>
              </a:ext>
            </a:extLst>
          </p:cNvPr>
          <p:cNvSpPr>
            <a:spLocks noGrp="1"/>
          </p:cNvSpPr>
          <p:nvPr>
            <p:ph type="ftr" sz="quarter" idx="11"/>
          </p:nvPr>
        </p:nvSpPr>
        <p:spPr/>
        <p:txBody>
          <a:bodyPr/>
          <a:lstStyle/>
          <a:p>
            <a:endParaRPr lang="en-150"/>
          </a:p>
        </p:txBody>
      </p:sp>
      <p:sp>
        <p:nvSpPr>
          <p:cNvPr id="9" name="Slide Number Placeholder 8">
            <a:extLst>
              <a:ext uri="{FF2B5EF4-FFF2-40B4-BE49-F238E27FC236}">
                <a16:creationId xmlns:a16="http://schemas.microsoft.com/office/drawing/2014/main" id="{B02BFC28-883B-A000-EA7C-E54C31FA719E}"/>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282082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74EE-9CB7-3417-ED42-43AB48597500}"/>
              </a:ext>
            </a:extLst>
          </p:cNvPr>
          <p:cNvSpPr>
            <a:spLocks noGrp="1"/>
          </p:cNvSpPr>
          <p:nvPr>
            <p:ph type="title"/>
          </p:nvPr>
        </p:nvSpPr>
        <p:spPr/>
        <p:txBody>
          <a:bodyPr/>
          <a:lstStyle/>
          <a:p>
            <a:r>
              <a:rPr lang="en-GB"/>
              <a:t>Click to edit Master title style</a:t>
            </a:r>
            <a:endParaRPr lang="en-150"/>
          </a:p>
        </p:txBody>
      </p:sp>
      <p:sp>
        <p:nvSpPr>
          <p:cNvPr id="3" name="Date Placeholder 2">
            <a:extLst>
              <a:ext uri="{FF2B5EF4-FFF2-40B4-BE49-F238E27FC236}">
                <a16:creationId xmlns:a16="http://schemas.microsoft.com/office/drawing/2014/main" id="{39A840E3-7FFF-66AE-1A99-FDFDE1D88000}"/>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4" name="Footer Placeholder 3">
            <a:extLst>
              <a:ext uri="{FF2B5EF4-FFF2-40B4-BE49-F238E27FC236}">
                <a16:creationId xmlns:a16="http://schemas.microsoft.com/office/drawing/2014/main" id="{4742B7FA-47C6-9115-5461-EFD813616FC7}"/>
              </a:ext>
            </a:extLst>
          </p:cNvPr>
          <p:cNvSpPr>
            <a:spLocks noGrp="1"/>
          </p:cNvSpPr>
          <p:nvPr>
            <p:ph type="ftr" sz="quarter" idx="11"/>
          </p:nvPr>
        </p:nvSpPr>
        <p:spPr/>
        <p:txBody>
          <a:bodyPr/>
          <a:lstStyle/>
          <a:p>
            <a:endParaRPr lang="en-150"/>
          </a:p>
        </p:txBody>
      </p:sp>
      <p:sp>
        <p:nvSpPr>
          <p:cNvPr id="5" name="Slide Number Placeholder 4">
            <a:extLst>
              <a:ext uri="{FF2B5EF4-FFF2-40B4-BE49-F238E27FC236}">
                <a16:creationId xmlns:a16="http://schemas.microsoft.com/office/drawing/2014/main" id="{3D80FB7D-E13D-0822-8997-5B999560455D}"/>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766221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340568-691C-9976-29E3-26ED69A4CF05}"/>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3" name="Footer Placeholder 2">
            <a:extLst>
              <a:ext uri="{FF2B5EF4-FFF2-40B4-BE49-F238E27FC236}">
                <a16:creationId xmlns:a16="http://schemas.microsoft.com/office/drawing/2014/main" id="{28D9C42F-85F0-83D8-FBC3-02A443F60C1D}"/>
              </a:ext>
            </a:extLst>
          </p:cNvPr>
          <p:cNvSpPr>
            <a:spLocks noGrp="1"/>
          </p:cNvSpPr>
          <p:nvPr>
            <p:ph type="ftr" sz="quarter" idx="11"/>
          </p:nvPr>
        </p:nvSpPr>
        <p:spPr/>
        <p:txBody>
          <a:bodyPr/>
          <a:lstStyle/>
          <a:p>
            <a:endParaRPr lang="en-150"/>
          </a:p>
        </p:txBody>
      </p:sp>
      <p:sp>
        <p:nvSpPr>
          <p:cNvPr id="4" name="Slide Number Placeholder 3">
            <a:extLst>
              <a:ext uri="{FF2B5EF4-FFF2-40B4-BE49-F238E27FC236}">
                <a16:creationId xmlns:a16="http://schemas.microsoft.com/office/drawing/2014/main" id="{7F3DD1A6-9CC4-433E-E5B4-88A5779203B0}"/>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2557333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8988B-BE25-B83F-C35D-C2F5D7AE82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150"/>
          </a:p>
        </p:txBody>
      </p:sp>
      <p:sp>
        <p:nvSpPr>
          <p:cNvPr id="3" name="Content Placeholder 2">
            <a:extLst>
              <a:ext uri="{FF2B5EF4-FFF2-40B4-BE49-F238E27FC236}">
                <a16:creationId xmlns:a16="http://schemas.microsoft.com/office/drawing/2014/main" id="{D8B32159-3209-3113-A490-B7540456AE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4" name="Text Placeholder 3">
            <a:extLst>
              <a:ext uri="{FF2B5EF4-FFF2-40B4-BE49-F238E27FC236}">
                <a16:creationId xmlns:a16="http://schemas.microsoft.com/office/drawing/2014/main" id="{AF847C90-5452-527D-4921-26D7DF9EE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C7AE57-4CF7-4A66-DB27-7CD9413B8F35}"/>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6" name="Footer Placeholder 5">
            <a:extLst>
              <a:ext uri="{FF2B5EF4-FFF2-40B4-BE49-F238E27FC236}">
                <a16:creationId xmlns:a16="http://schemas.microsoft.com/office/drawing/2014/main" id="{49B597E4-3157-43D9-ECA7-26E6B5BEAE15}"/>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B6CE566F-F35B-F66E-4F19-AA578FFC1643}"/>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764758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2FC91-B22B-DCCA-9485-9AB5509776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150"/>
          </a:p>
        </p:txBody>
      </p:sp>
      <p:sp>
        <p:nvSpPr>
          <p:cNvPr id="3" name="Picture Placeholder 2">
            <a:extLst>
              <a:ext uri="{FF2B5EF4-FFF2-40B4-BE49-F238E27FC236}">
                <a16:creationId xmlns:a16="http://schemas.microsoft.com/office/drawing/2014/main" id="{371446E6-C70C-7FBF-6BC3-A1D642442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150"/>
          </a:p>
        </p:txBody>
      </p:sp>
      <p:sp>
        <p:nvSpPr>
          <p:cNvPr id="4" name="Text Placeholder 3">
            <a:extLst>
              <a:ext uri="{FF2B5EF4-FFF2-40B4-BE49-F238E27FC236}">
                <a16:creationId xmlns:a16="http://schemas.microsoft.com/office/drawing/2014/main" id="{089462FC-AA63-89CF-C9D4-2D68610CC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6BDADED-13A3-7156-4D5B-9275D0070582}"/>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6" name="Footer Placeholder 5">
            <a:extLst>
              <a:ext uri="{FF2B5EF4-FFF2-40B4-BE49-F238E27FC236}">
                <a16:creationId xmlns:a16="http://schemas.microsoft.com/office/drawing/2014/main" id="{99DCA364-0786-1D1F-0DAE-890230B70E9D}"/>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2BF0304B-1D5B-6820-1378-D0F8E5C176C9}"/>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3352074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571A-87BA-605C-F247-E49497655066}"/>
              </a:ext>
            </a:extLst>
          </p:cNvPr>
          <p:cNvSpPr>
            <a:spLocks noGrp="1"/>
          </p:cNvSpPr>
          <p:nvPr>
            <p:ph type="title"/>
          </p:nvPr>
        </p:nvSpPr>
        <p:spPr/>
        <p:txBody>
          <a:bodyPr/>
          <a:lstStyle/>
          <a:p>
            <a:r>
              <a:rPr lang="en-GB"/>
              <a:t>Click to edit Master title style</a:t>
            </a:r>
            <a:endParaRPr lang="en-150"/>
          </a:p>
        </p:txBody>
      </p:sp>
      <p:sp>
        <p:nvSpPr>
          <p:cNvPr id="3" name="Vertical Text Placeholder 2">
            <a:extLst>
              <a:ext uri="{FF2B5EF4-FFF2-40B4-BE49-F238E27FC236}">
                <a16:creationId xmlns:a16="http://schemas.microsoft.com/office/drawing/2014/main" id="{404755C5-9425-DDBE-CDD7-15D453B072C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4" name="Date Placeholder 3">
            <a:extLst>
              <a:ext uri="{FF2B5EF4-FFF2-40B4-BE49-F238E27FC236}">
                <a16:creationId xmlns:a16="http://schemas.microsoft.com/office/drawing/2014/main" id="{5A45FB4D-D259-17EE-C7E9-13147A2FCB33}"/>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5" name="Footer Placeholder 4">
            <a:extLst>
              <a:ext uri="{FF2B5EF4-FFF2-40B4-BE49-F238E27FC236}">
                <a16:creationId xmlns:a16="http://schemas.microsoft.com/office/drawing/2014/main" id="{B4CCD635-6BB8-C429-C8E3-B16E57F85AAF}"/>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E2EFF869-72F4-023B-79EA-14938740AFFE}"/>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4126296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243C8F-8E6B-66ED-1F61-7F5D9003198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150"/>
          </a:p>
        </p:txBody>
      </p:sp>
      <p:sp>
        <p:nvSpPr>
          <p:cNvPr id="3" name="Vertical Text Placeholder 2">
            <a:extLst>
              <a:ext uri="{FF2B5EF4-FFF2-40B4-BE49-F238E27FC236}">
                <a16:creationId xmlns:a16="http://schemas.microsoft.com/office/drawing/2014/main" id="{BBCEE50C-FB62-4706-CE62-AB0EB20BC6E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4" name="Date Placeholder 3">
            <a:extLst>
              <a:ext uri="{FF2B5EF4-FFF2-40B4-BE49-F238E27FC236}">
                <a16:creationId xmlns:a16="http://schemas.microsoft.com/office/drawing/2014/main" id="{0F3228ED-ADA4-7DDB-777B-92C0D64B53B4}"/>
              </a:ext>
            </a:extLst>
          </p:cNvPr>
          <p:cNvSpPr>
            <a:spLocks noGrp="1"/>
          </p:cNvSpPr>
          <p:nvPr>
            <p:ph type="dt" sz="half" idx="10"/>
          </p:nvPr>
        </p:nvSpPr>
        <p:spPr/>
        <p:txBody>
          <a:bodyPr/>
          <a:lstStyle/>
          <a:p>
            <a:fld id="{21A35EE0-6C3F-4226-AD5B-07F52852B1B8}" type="datetimeFigureOut">
              <a:rPr lang="en-150" smtClean="0"/>
              <a:t>07/05/2026</a:t>
            </a:fld>
            <a:endParaRPr lang="en-150"/>
          </a:p>
        </p:txBody>
      </p:sp>
      <p:sp>
        <p:nvSpPr>
          <p:cNvPr id="5" name="Footer Placeholder 4">
            <a:extLst>
              <a:ext uri="{FF2B5EF4-FFF2-40B4-BE49-F238E27FC236}">
                <a16:creationId xmlns:a16="http://schemas.microsoft.com/office/drawing/2014/main" id="{7B5BB614-ED7A-B36E-EF09-5FD93AEDD280}"/>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B72A6386-9D74-7161-0EB2-346012FD501D}"/>
              </a:ext>
            </a:extLst>
          </p:cNvPr>
          <p:cNvSpPr>
            <a:spLocks noGrp="1"/>
          </p:cNvSpPr>
          <p:nvPr>
            <p:ph type="sldNum" sz="quarter" idx="12"/>
          </p:nvPr>
        </p:nvSpPr>
        <p:spPr/>
        <p:txBody>
          <a:bodyPr/>
          <a:lstStyle/>
          <a:p>
            <a:fld id="{00138974-55A5-4C60-BD73-38D79E0BE1C6}" type="slidenum">
              <a:rPr lang="en-150" smtClean="0"/>
              <a:t>‹#›</a:t>
            </a:fld>
            <a:endParaRPr lang="en-150"/>
          </a:p>
        </p:txBody>
      </p:sp>
    </p:spTree>
    <p:extLst>
      <p:ext uri="{BB962C8B-B14F-4D97-AF65-F5344CB8AC3E}">
        <p14:creationId xmlns:p14="http://schemas.microsoft.com/office/powerpoint/2010/main" val="3161770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6BF2E-B6A4-F493-FF59-E547BC936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150"/>
          </a:p>
        </p:txBody>
      </p:sp>
      <p:sp>
        <p:nvSpPr>
          <p:cNvPr id="3" name="Text Placeholder 2">
            <a:extLst>
              <a:ext uri="{FF2B5EF4-FFF2-40B4-BE49-F238E27FC236}">
                <a16:creationId xmlns:a16="http://schemas.microsoft.com/office/drawing/2014/main" id="{45379EFA-2703-F170-84E4-1640EB447E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4" name="Date Placeholder 3">
            <a:extLst>
              <a:ext uri="{FF2B5EF4-FFF2-40B4-BE49-F238E27FC236}">
                <a16:creationId xmlns:a16="http://schemas.microsoft.com/office/drawing/2014/main" id="{C183C850-2B66-91AD-2AEA-F6AA968F6C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A35EE0-6C3F-4226-AD5B-07F52852B1B8}" type="datetimeFigureOut">
              <a:rPr lang="en-150" smtClean="0"/>
              <a:t>07/05/2026</a:t>
            </a:fld>
            <a:endParaRPr lang="en-150"/>
          </a:p>
        </p:txBody>
      </p:sp>
      <p:sp>
        <p:nvSpPr>
          <p:cNvPr id="5" name="Footer Placeholder 4">
            <a:extLst>
              <a:ext uri="{FF2B5EF4-FFF2-40B4-BE49-F238E27FC236}">
                <a16:creationId xmlns:a16="http://schemas.microsoft.com/office/drawing/2014/main" id="{411BC769-F2BE-C812-90C1-E7B383E318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150"/>
          </a:p>
        </p:txBody>
      </p:sp>
      <p:sp>
        <p:nvSpPr>
          <p:cNvPr id="6" name="Slide Number Placeholder 5">
            <a:extLst>
              <a:ext uri="{FF2B5EF4-FFF2-40B4-BE49-F238E27FC236}">
                <a16:creationId xmlns:a16="http://schemas.microsoft.com/office/drawing/2014/main" id="{95BB5428-C2C9-001C-D4C0-1465F2AD6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138974-55A5-4C60-BD73-38D79E0BE1C6}" type="slidenum">
              <a:rPr lang="en-150" smtClean="0"/>
              <a:t>‹#›</a:t>
            </a:fld>
            <a:endParaRPr lang="en-150"/>
          </a:p>
        </p:txBody>
      </p:sp>
    </p:spTree>
    <p:extLst>
      <p:ext uri="{BB962C8B-B14F-4D97-AF65-F5344CB8AC3E}">
        <p14:creationId xmlns:p14="http://schemas.microsoft.com/office/powerpoint/2010/main" val="1987744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2.png"/></Relationships>
</file>

<file path=ppt/slides/_rels/slide1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4.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5.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2.png"/></Relationships>
</file>

<file path=ppt/slides/_rels/slide2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3.pn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uter code representation.">
            <a:extLst>
              <a:ext uri="{FF2B5EF4-FFF2-40B4-BE49-F238E27FC236}">
                <a16:creationId xmlns:a16="http://schemas.microsoft.com/office/drawing/2014/main" id="{2F1CD3C7-3724-7CB5-7EC4-CF0541642A24}"/>
              </a:ext>
            </a:extLst>
          </p:cNvPr>
          <p:cNvPicPr>
            <a:picLocks noChangeAspect="1"/>
          </p:cNvPicPr>
          <p:nvPr/>
        </p:nvPicPr>
        <p:blipFill>
          <a:blip r:embed="rId2">
            <a:alphaModFix amt="50000"/>
          </a:blip>
          <a:srcRect l="445"/>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7A684FED-D0EF-D1F0-2176-F11602DB27C6}"/>
              </a:ext>
            </a:extLst>
          </p:cNvPr>
          <p:cNvSpPr>
            <a:spLocks noGrp="1"/>
          </p:cNvSpPr>
          <p:nvPr>
            <p:ph type="ctrTitle"/>
          </p:nvPr>
        </p:nvSpPr>
        <p:spPr>
          <a:xfrm>
            <a:off x="1524000" y="1122362"/>
            <a:ext cx="9144000" cy="2900518"/>
          </a:xfrm>
        </p:spPr>
        <p:txBody>
          <a:bodyPr>
            <a:normAutofit/>
          </a:bodyPr>
          <a:lstStyle/>
          <a:p>
            <a:r>
              <a:rPr lang="en-150">
                <a:solidFill>
                  <a:srgbClr val="FFFFFF"/>
                </a:solidFill>
              </a:rPr>
              <a:t>AI in Cybersecurity</a:t>
            </a:r>
          </a:p>
        </p:txBody>
      </p:sp>
      <p:sp>
        <p:nvSpPr>
          <p:cNvPr id="3" name="Subtitle 2">
            <a:extLst>
              <a:ext uri="{FF2B5EF4-FFF2-40B4-BE49-F238E27FC236}">
                <a16:creationId xmlns:a16="http://schemas.microsoft.com/office/drawing/2014/main" id="{3A31A26B-2FCE-F243-6C94-9A9EEB521F2F}"/>
              </a:ext>
            </a:extLst>
          </p:cNvPr>
          <p:cNvSpPr>
            <a:spLocks noGrp="1"/>
          </p:cNvSpPr>
          <p:nvPr>
            <p:ph type="subTitle" idx="1"/>
          </p:nvPr>
        </p:nvSpPr>
        <p:spPr>
          <a:xfrm>
            <a:off x="1524000" y="4159404"/>
            <a:ext cx="9144000" cy="1098395"/>
          </a:xfrm>
        </p:spPr>
        <p:txBody>
          <a:bodyPr>
            <a:normAutofit/>
          </a:bodyPr>
          <a:lstStyle/>
          <a:p>
            <a:r>
              <a:rPr lang="en-150" sz="1700">
                <a:solidFill>
                  <a:srgbClr val="FFFFFF"/>
                </a:solidFill>
              </a:rPr>
              <a:t>Nikita</a:t>
            </a:r>
          </a:p>
          <a:p>
            <a:r>
              <a:rPr lang="en-150" sz="1700">
                <a:solidFill>
                  <a:srgbClr val="FFFFFF"/>
                </a:solidFill>
              </a:rPr>
              <a:t>Jade</a:t>
            </a:r>
            <a:endParaRPr lang="en-GB" sz="1700">
              <a:solidFill>
                <a:srgbClr val="FFFFFF"/>
              </a:solidFill>
            </a:endParaRPr>
          </a:p>
          <a:p>
            <a:r>
              <a:rPr lang="en-150" sz="1700">
                <a:solidFill>
                  <a:srgbClr val="FFFFFF"/>
                </a:solidFill>
              </a:rPr>
              <a:t>Deniz</a:t>
            </a:r>
          </a:p>
        </p:txBody>
      </p:sp>
    </p:spTree>
    <p:extLst>
      <p:ext uri="{BB962C8B-B14F-4D97-AF65-F5344CB8AC3E}">
        <p14:creationId xmlns:p14="http://schemas.microsoft.com/office/powerpoint/2010/main" val="30901690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7AE6E-99B5-864B-812D-F9D5820E494B}"/>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AI in SOC’s</a:t>
            </a:r>
          </a:p>
        </p:txBody>
      </p:sp>
      <p:sp>
        <p:nvSpPr>
          <p:cNvPr id="25" name="Rectangle 24">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ntent Placeholder 2">
            <a:extLst>
              <a:ext uri="{FF2B5EF4-FFF2-40B4-BE49-F238E27FC236}">
                <a16:creationId xmlns:a16="http://schemas.microsoft.com/office/drawing/2014/main" id="{ADBAEDE8-FA9D-3B40-0E3C-C386C1439849}"/>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en-GB" sz="2400"/>
              <a:t>In SOC's AI would be used to streamline manual and tedious processes, as well as augmenting responsiveness and incident detection.</a:t>
            </a:r>
            <a:endParaRPr lang="en-US" sz="2400"/>
          </a:p>
          <a:p>
            <a:r>
              <a:rPr lang="en-GB" sz="2400"/>
              <a:t>In a SOC environment, AI could bundle data associated with a specific event, reducing lookup times for the security team. This is especially beneficial for chain events.</a:t>
            </a:r>
          </a:p>
          <a:p>
            <a:r>
              <a:rPr lang="en-GB" sz="2400"/>
              <a:t>Some events can trigger an automated response, where AI will only invoke the response. This is crucial to acknowledge, as AI is not stable enough to fully reliably procedurally send instructions to a system without potentially causing more damage.</a:t>
            </a:r>
          </a:p>
        </p:txBody>
      </p:sp>
    </p:spTree>
    <p:extLst>
      <p:ext uri="{BB962C8B-B14F-4D97-AF65-F5344CB8AC3E}">
        <p14:creationId xmlns:p14="http://schemas.microsoft.com/office/powerpoint/2010/main" val="2217030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AD6D7-5A39-EE58-A437-80E9912276BF}"/>
              </a:ext>
            </a:extLst>
          </p:cNvPr>
          <p:cNvSpPr>
            <a:spLocks noGrp="1"/>
          </p:cNvSpPr>
          <p:nvPr>
            <p:ph type="title"/>
          </p:nvPr>
        </p:nvSpPr>
        <p:spPr/>
        <p:txBody>
          <a:bodyPr/>
          <a:lstStyle/>
          <a:p>
            <a:r>
              <a:rPr lang="en-GB" dirty="0"/>
              <a:t>How exactly does AI assist in a SOC </a:t>
            </a:r>
            <a:r>
              <a:rPr lang="en-GB"/>
              <a:t>environment</a:t>
            </a:r>
            <a:endParaRPr lang="en-GB" dirty="0"/>
          </a:p>
        </p:txBody>
      </p:sp>
      <p:sp>
        <p:nvSpPr>
          <p:cNvPr id="3" name="Content Placeholder 2">
            <a:extLst>
              <a:ext uri="{FF2B5EF4-FFF2-40B4-BE49-F238E27FC236}">
                <a16:creationId xmlns:a16="http://schemas.microsoft.com/office/drawing/2014/main" id="{826651E5-DB51-8768-4CF4-A8B7416E8ACD}"/>
              </a:ext>
            </a:extLst>
          </p:cNvPr>
          <p:cNvSpPr>
            <a:spLocks noGrp="1"/>
          </p:cNvSpPr>
          <p:nvPr>
            <p:ph idx="1"/>
          </p:nvPr>
        </p:nvSpPr>
        <p:spPr/>
        <p:txBody>
          <a:bodyPr vert="horz" lIns="91440" tIns="45720" rIns="91440" bIns="45720" rtlCol="0" anchor="t">
            <a:normAutofit/>
          </a:bodyPr>
          <a:lstStyle/>
          <a:p>
            <a:pPr marL="0" indent="0">
              <a:buNone/>
            </a:pPr>
            <a:r>
              <a:rPr lang="en-GB" dirty="0"/>
              <a:t>AI can group information sets like inbound packet captures, as well as do basic research on common </a:t>
            </a:r>
            <a:r>
              <a:rPr lang="en-GB"/>
              <a:t>vulnerabilities</a:t>
            </a:r>
            <a:r>
              <a:rPr lang="en-GB" dirty="0"/>
              <a:t>.</a:t>
            </a:r>
          </a:p>
          <a:p>
            <a:pPr marL="0" indent="0">
              <a:buNone/>
            </a:pPr>
            <a:r>
              <a:rPr lang="en-GB" dirty="0"/>
              <a:t>For </a:t>
            </a:r>
            <a:r>
              <a:rPr lang="en-GB"/>
              <a:t>example,</a:t>
            </a:r>
            <a:r>
              <a:rPr lang="en-GB" dirty="0"/>
              <a:t> </a:t>
            </a:r>
          </a:p>
        </p:txBody>
      </p:sp>
      <p:pic>
        <p:nvPicPr>
          <p:cNvPr id="6" name="Picture 5" descr="A screenshot of a computer&#10;&#10;AI-generated content may be incorrect.">
            <a:extLst>
              <a:ext uri="{FF2B5EF4-FFF2-40B4-BE49-F238E27FC236}">
                <a16:creationId xmlns:a16="http://schemas.microsoft.com/office/drawing/2014/main" id="{24D6B111-190E-DE31-563B-5AB7FF7AE7E0}"/>
              </a:ext>
            </a:extLst>
          </p:cNvPr>
          <p:cNvPicPr>
            <a:picLocks noChangeAspect="1"/>
          </p:cNvPicPr>
          <p:nvPr/>
        </p:nvPicPr>
        <p:blipFill>
          <a:blip r:embed="rId2"/>
          <a:stretch>
            <a:fillRect/>
          </a:stretch>
        </p:blipFill>
        <p:spPr>
          <a:xfrm>
            <a:off x="843412" y="3380027"/>
            <a:ext cx="6120083" cy="2800890"/>
          </a:xfrm>
          <a:prstGeom prst="rect">
            <a:avLst/>
          </a:prstGeom>
        </p:spPr>
      </p:pic>
    </p:spTree>
    <p:extLst>
      <p:ext uri="{BB962C8B-B14F-4D97-AF65-F5344CB8AC3E}">
        <p14:creationId xmlns:p14="http://schemas.microsoft.com/office/powerpoint/2010/main" val="1789371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AE559-3D2F-865F-55AA-4595D61B53E6}"/>
              </a:ext>
            </a:extLst>
          </p:cNvPr>
          <p:cNvSpPr>
            <a:spLocks noGrp="1"/>
          </p:cNvSpPr>
          <p:nvPr>
            <p:ph type="title"/>
          </p:nvPr>
        </p:nvSpPr>
        <p:spPr>
          <a:xfrm flipV="1">
            <a:off x="-182592" y="-7137009"/>
            <a:ext cx="10515600" cy="6136286"/>
          </a:xfrm>
        </p:spPr>
        <p:txBody>
          <a:bodyPr>
            <a:normAutofit/>
          </a:bodyPr>
          <a:lstStyle/>
          <a:p>
            <a:endParaRPr lang="en-GB"/>
          </a:p>
        </p:txBody>
      </p:sp>
      <p:sp>
        <p:nvSpPr>
          <p:cNvPr id="3" name="Content Placeholder 2">
            <a:extLst>
              <a:ext uri="{FF2B5EF4-FFF2-40B4-BE49-F238E27FC236}">
                <a16:creationId xmlns:a16="http://schemas.microsoft.com/office/drawing/2014/main" id="{09CB4043-1631-FA56-F721-640E3DEB6B4C}"/>
              </a:ext>
            </a:extLst>
          </p:cNvPr>
          <p:cNvSpPr>
            <a:spLocks noGrp="1"/>
          </p:cNvSpPr>
          <p:nvPr>
            <p:ph idx="1"/>
          </p:nvPr>
        </p:nvSpPr>
        <p:spPr>
          <a:xfrm>
            <a:off x="838200" y="589173"/>
            <a:ext cx="10515600" cy="5587790"/>
          </a:xfrm>
        </p:spPr>
        <p:txBody>
          <a:bodyPr vert="horz" lIns="91440" tIns="45720" rIns="91440" bIns="45720" rtlCol="0" anchor="t">
            <a:normAutofit/>
          </a:bodyPr>
          <a:lstStyle/>
          <a:p>
            <a:pPr marL="0" indent="0">
              <a:buNone/>
            </a:pPr>
            <a:r>
              <a:rPr lang="en-GB" dirty="0"/>
              <a:t>AI Is optimally implemented alongside already existing measures, such as </a:t>
            </a:r>
            <a:r>
              <a:rPr lang="en-GB"/>
              <a:t>an</a:t>
            </a:r>
            <a:r>
              <a:rPr lang="en-GB" dirty="0"/>
              <a:t> EDR.</a:t>
            </a:r>
          </a:p>
          <a:p>
            <a:pPr marL="0" indent="0">
              <a:buNone/>
            </a:pPr>
            <a:r>
              <a:rPr lang="en-GB"/>
              <a:t>AI could give helpful insights to security specialists, that could otherwise be overlooked.</a:t>
            </a:r>
            <a:endParaRPr lang="en-GB" dirty="0"/>
          </a:p>
          <a:p>
            <a:pPr marL="0" indent="0">
              <a:buNone/>
            </a:pPr>
            <a:r>
              <a:rPr lang="en-GB" dirty="0"/>
              <a:t>Moreover, AI can improve on alert </a:t>
            </a:r>
            <a:r>
              <a:rPr lang="en-GB"/>
              <a:t>fatigue</a:t>
            </a:r>
            <a:r>
              <a:rPr lang="en-GB" dirty="0"/>
              <a:t> by </a:t>
            </a:r>
            <a:r>
              <a:rPr lang="en-GB"/>
              <a:t>highlighting</a:t>
            </a:r>
            <a:r>
              <a:rPr lang="en-GB" dirty="0"/>
              <a:t> genuine concerns in alerts that would otherwise have been ignored.</a:t>
            </a:r>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2219231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94D8B96A-480C-2E66-0AA0-EC2703E47AC4}"/>
              </a:ext>
            </a:extLst>
          </p:cNvPr>
          <p:cNvSpPr>
            <a:spLocks noGrp="1"/>
          </p:cNvSpPr>
          <p:nvPr>
            <p:ph type="title"/>
          </p:nvPr>
        </p:nvSpPr>
        <p:spPr>
          <a:xfrm>
            <a:off x="838200" y="448721"/>
            <a:ext cx="4707671" cy="1225650"/>
          </a:xfrm>
        </p:spPr>
        <p:txBody>
          <a:bodyPr anchor="b">
            <a:normAutofit/>
          </a:bodyPr>
          <a:lstStyle/>
          <a:p>
            <a:r>
              <a:rPr lang="en-GB" sz="3800">
                <a:solidFill>
                  <a:schemeClr val="bg1"/>
                </a:solidFill>
              </a:rPr>
              <a:t>Behaviours analytics</a:t>
            </a:r>
          </a:p>
        </p:txBody>
      </p:sp>
      <p:cxnSp>
        <p:nvCxnSpPr>
          <p:cNvPr id="19" name="Straight Connector 18">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E94F38E-69CE-AB55-C307-CCF7167AC0CF}"/>
              </a:ext>
            </a:extLst>
          </p:cNvPr>
          <p:cNvSpPr>
            <a:spLocks noGrp="1"/>
          </p:cNvSpPr>
          <p:nvPr>
            <p:ph idx="1"/>
          </p:nvPr>
        </p:nvSpPr>
        <p:spPr>
          <a:xfrm>
            <a:off x="897769" y="1909192"/>
            <a:ext cx="4586513" cy="3647710"/>
          </a:xfrm>
        </p:spPr>
        <p:txBody>
          <a:bodyPr vert="horz" lIns="91440" tIns="45720" rIns="91440" bIns="45720" rtlCol="0" anchor="t">
            <a:normAutofit/>
          </a:bodyPr>
          <a:lstStyle/>
          <a:p>
            <a:pPr marL="0" indent="0">
              <a:buNone/>
            </a:pPr>
            <a:r>
              <a:rPr lang="en-GB" sz="2000">
                <a:solidFill>
                  <a:schemeClr val="bg1"/>
                </a:solidFill>
              </a:rPr>
              <a:t>AI is </a:t>
            </a:r>
            <a:r>
              <a:rPr lang="en-GB" sz="2000" dirty="0">
                <a:solidFill>
                  <a:schemeClr val="bg1"/>
                </a:solidFill>
              </a:rPr>
              <a:t>an </a:t>
            </a:r>
            <a:r>
              <a:rPr lang="en-GB" sz="2000">
                <a:solidFill>
                  <a:schemeClr val="bg1"/>
                </a:solidFill>
              </a:rPr>
              <a:t>excellent tool for automating analysis of user behaviour on a webpage.</a:t>
            </a:r>
          </a:p>
          <a:p>
            <a:pPr marL="0" indent="0">
              <a:buNone/>
            </a:pPr>
            <a:r>
              <a:rPr lang="en-GB" sz="2000">
                <a:solidFill>
                  <a:schemeClr val="bg1"/>
                </a:solidFill>
              </a:rPr>
              <a:t>This in turn can be used to identify malicious activities among thousands if not millions of users. This in turn could reveal security gaps in infrastructure previously not known, by identifying malicious activity while it is in action.</a:t>
            </a:r>
          </a:p>
        </p:txBody>
      </p:sp>
      <p:cxnSp>
        <p:nvCxnSpPr>
          <p:cNvPr id="20" name="Straight Connector 19">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C2BCB3B1-FF61-0373-F205-BE8307F26A6B}"/>
              </a:ext>
            </a:extLst>
          </p:cNvPr>
          <p:cNvGrpSpPr/>
          <p:nvPr/>
        </p:nvGrpSpPr>
        <p:grpSpPr>
          <a:xfrm>
            <a:off x="6525453" y="1607734"/>
            <a:ext cx="5666547" cy="3642532"/>
            <a:chOff x="6625903" y="125572"/>
            <a:chExt cx="2952750" cy="1898067"/>
          </a:xfrm>
        </p:grpSpPr>
        <p:pic>
          <p:nvPicPr>
            <p:cNvPr id="4" name="Picture 3" descr="AI SOC Evolution: How AI Agents ...">
              <a:extLst>
                <a:ext uri="{FF2B5EF4-FFF2-40B4-BE49-F238E27FC236}">
                  <a16:creationId xmlns:a16="http://schemas.microsoft.com/office/drawing/2014/main" id="{DA1B35D5-A53D-CDC7-12A7-190844658876}"/>
                </a:ext>
              </a:extLst>
            </p:cNvPr>
            <p:cNvPicPr>
              <a:picLocks noChangeAspect="1"/>
            </p:cNvPicPr>
            <p:nvPr/>
          </p:nvPicPr>
          <p:blipFill>
            <a:blip r:embed="rId2"/>
            <a:stretch>
              <a:fillRect/>
            </a:stretch>
          </p:blipFill>
          <p:spPr>
            <a:xfrm>
              <a:off x="6625903" y="125572"/>
              <a:ext cx="2952750" cy="1552575"/>
            </a:xfrm>
            <a:prstGeom prst="rect">
              <a:avLst/>
            </a:prstGeom>
          </p:spPr>
        </p:pic>
        <p:pic>
          <p:nvPicPr>
            <p:cNvPr id="6" name="Picture 5" descr="Monocle PNG High-Quality Image">
              <a:extLst>
                <a:ext uri="{FF2B5EF4-FFF2-40B4-BE49-F238E27FC236}">
                  <a16:creationId xmlns:a16="http://schemas.microsoft.com/office/drawing/2014/main" id="{9DADDA4C-B281-ECCD-B4E7-F77DCF7D4533}"/>
                </a:ext>
              </a:extLst>
            </p:cNvPr>
            <p:cNvPicPr>
              <a:picLocks noChangeAspect="1"/>
            </p:cNvPicPr>
            <p:nvPr/>
          </p:nvPicPr>
          <p:blipFill>
            <a:blip r:embed="rId3"/>
            <a:stretch>
              <a:fillRect/>
            </a:stretch>
          </p:blipFill>
          <p:spPr>
            <a:xfrm>
              <a:off x="7776619" y="590309"/>
              <a:ext cx="651317" cy="1433330"/>
            </a:xfrm>
            <a:prstGeom prst="rect">
              <a:avLst/>
            </a:prstGeom>
          </p:spPr>
        </p:pic>
      </p:grpSp>
    </p:spTree>
    <p:extLst>
      <p:ext uri="{BB962C8B-B14F-4D97-AF65-F5344CB8AC3E}">
        <p14:creationId xmlns:p14="http://schemas.microsoft.com/office/powerpoint/2010/main" val="93764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E50E4-63E3-0AA0-9A3D-F9E25E4C1786}"/>
              </a:ext>
            </a:extLst>
          </p:cNvPr>
          <p:cNvSpPr>
            <a:spLocks noGrp="1"/>
          </p:cNvSpPr>
          <p:nvPr>
            <p:ph type="title"/>
          </p:nvPr>
        </p:nvSpPr>
        <p:spPr/>
        <p:txBody>
          <a:bodyPr/>
          <a:lstStyle/>
          <a:p>
            <a:r>
              <a:rPr lang="en-GB"/>
              <a:t>Automation of Incident Response</a:t>
            </a:r>
          </a:p>
        </p:txBody>
      </p:sp>
      <p:sp>
        <p:nvSpPr>
          <p:cNvPr id="9" name="TextBox 8">
            <a:extLst>
              <a:ext uri="{FF2B5EF4-FFF2-40B4-BE49-F238E27FC236}">
                <a16:creationId xmlns:a16="http://schemas.microsoft.com/office/drawing/2014/main" id="{D3983BBA-AC40-DB22-5B42-B7EFD4DFAA8D}"/>
              </a:ext>
            </a:extLst>
          </p:cNvPr>
          <p:cNvSpPr txBox="1"/>
          <p:nvPr/>
        </p:nvSpPr>
        <p:spPr>
          <a:xfrm>
            <a:off x="1054273" y="1732766"/>
            <a:ext cx="1031309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mn-lt"/>
                <a:cs typeface="+mn-lt"/>
              </a:rPr>
              <a:t>AI can be used to assist mounting a response to an incident.</a:t>
            </a:r>
            <a:endParaRPr lang="en-US"/>
          </a:p>
          <a:p>
            <a:endParaRPr lang="en-GB" dirty="0">
              <a:ea typeface="+mn-lt"/>
              <a:cs typeface="+mn-lt"/>
            </a:endParaRPr>
          </a:p>
          <a:p>
            <a:r>
              <a:rPr lang="en-GB">
                <a:ea typeface="+mn-lt"/>
                <a:cs typeface="+mn-lt"/>
              </a:rPr>
              <a:t>AI in incident response useful but still is heavily human driven.</a:t>
            </a:r>
            <a:endParaRPr lang="en-GB" dirty="0"/>
          </a:p>
          <a:p>
            <a:endParaRPr lang="en-GB" dirty="0">
              <a:ea typeface="+mn-lt"/>
              <a:cs typeface="+mn-lt"/>
            </a:endParaRPr>
          </a:p>
          <a:p>
            <a:r>
              <a:rPr lang="en-GB">
                <a:ea typeface="+mn-lt"/>
                <a:cs typeface="+mn-lt"/>
              </a:rPr>
              <a:t>Ultimately it is likely that even basic AI's will be used for this purpose, not even neccesarily dedicated IR AI's however, this ultimately depends on the scale of the organisation, as well as the constraints, such as non-disclosure agreements, data availability, monetary constraints as well as organisational goals.</a:t>
            </a:r>
            <a:endParaRPr lang="en-GB"/>
          </a:p>
          <a:p>
            <a:endParaRPr lang="en-GB" dirty="0">
              <a:ea typeface="+mn-lt"/>
              <a:cs typeface="+mn-lt"/>
            </a:endParaRPr>
          </a:p>
          <a:p>
            <a:r>
              <a:rPr lang="en-GB">
                <a:ea typeface="+mn-lt"/>
                <a:cs typeface="+mn-lt"/>
              </a:rPr>
              <a:t>As far as AI goes for IR, its frequent usage comprises of summarizing information and events to then be reviewed by human incident responders, basic containment functions and repetitive tasks.</a:t>
            </a:r>
            <a:endParaRPr lang="en-GB"/>
          </a:p>
          <a:p>
            <a:endParaRPr lang="en-GB" dirty="0"/>
          </a:p>
          <a:p>
            <a:endParaRPr lang="en-GB" dirty="0"/>
          </a:p>
        </p:txBody>
      </p:sp>
      <p:pic>
        <p:nvPicPr>
          <p:cNvPr id="8" name="Picture 7" descr="Car PNG Transparent Images Free Download | Vector Files ...">
            <a:extLst>
              <a:ext uri="{FF2B5EF4-FFF2-40B4-BE49-F238E27FC236}">
                <a16:creationId xmlns:a16="http://schemas.microsoft.com/office/drawing/2014/main" id="{661BAAF5-4219-450C-090D-C3C19B28AA39}"/>
              </a:ext>
            </a:extLst>
          </p:cNvPr>
          <p:cNvPicPr>
            <a:picLocks noChangeAspect="1"/>
          </p:cNvPicPr>
          <p:nvPr/>
        </p:nvPicPr>
        <p:blipFill>
          <a:blip r:embed="rId2"/>
          <a:stretch>
            <a:fillRect/>
          </a:stretch>
        </p:blipFill>
        <p:spPr>
          <a:xfrm flipH="1">
            <a:off x="4046317" y="3433822"/>
            <a:ext cx="5671593" cy="4369444"/>
          </a:xfrm>
          <a:prstGeom prst="rect">
            <a:avLst/>
          </a:prstGeom>
        </p:spPr>
      </p:pic>
      <p:pic>
        <p:nvPicPr>
          <p:cNvPr id="7" name="Picture 6" descr="Fire PNG Transparent Images Free Download | Vector Files ...">
            <a:extLst>
              <a:ext uri="{FF2B5EF4-FFF2-40B4-BE49-F238E27FC236}">
                <a16:creationId xmlns:a16="http://schemas.microsoft.com/office/drawing/2014/main" id="{3A0483B7-0BB9-D587-FA78-285CB2D1655D}"/>
              </a:ext>
            </a:extLst>
          </p:cNvPr>
          <p:cNvPicPr>
            <a:picLocks noChangeAspect="1"/>
          </p:cNvPicPr>
          <p:nvPr/>
        </p:nvPicPr>
        <p:blipFill>
          <a:blip r:embed="rId3"/>
          <a:stretch>
            <a:fillRect/>
          </a:stretch>
        </p:blipFill>
        <p:spPr>
          <a:xfrm>
            <a:off x="6611622" y="4002895"/>
            <a:ext cx="3017648" cy="1694218"/>
          </a:xfrm>
          <a:prstGeom prst="rect">
            <a:avLst/>
          </a:prstGeom>
        </p:spPr>
      </p:pic>
      <p:pic>
        <p:nvPicPr>
          <p:cNvPr id="4" name="Content Placeholder 3" descr="Ai Robot PNGs for Free Download">
            <a:extLst>
              <a:ext uri="{FF2B5EF4-FFF2-40B4-BE49-F238E27FC236}">
                <a16:creationId xmlns:a16="http://schemas.microsoft.com/office/drawing/2014/main" id="{B25435F2-C4EA-DD6B-FD87-25573C0F41CA}"/>
              </a:ext>
            </a:extLst>
          </p:cNvPr>
          <p:cNvPicPr>
            <a:picLocks noGrp="1" noChangeAspect="1"/>
          </p:cNvPicPr>
          <p:nvPr>
            <p:ph idx="1"/>
          </p:nvPr>
        </p:nvPicPr>
        <p:blipFill>
          <a:blip r:embed="rId4"/>
          <a:stretch>
            <a:fillRect/>
          </a:stretch>
        </p:blipFill>
        <p:spPr>
          <a:xfrm>
            <a:off x="8260837" y="918941"/>
            <a:ext cx="3926933" cy="3926933"/>
          </a:xfrm>
          <a:prstGeom prst="rect">
            <a:avLst/>
          </a:prstGeom>
        </p:spPr>
      </p:pic>
      <p:pic>
        <p:nvPicPr>
          <p:cNvPr id="6" name="Picture 5" descr="Red fire extinguisher releasing thick white smoke, isolated on transparent  background, emergency safety equipment, urgent action, protection concept,  dramatic scene 68644658 PNG">
            <a:extLst>
              <a:ext uri="{FF2B5EF4-FFF2-40B4-BE49-F238E27FC236}">
                <a16:creationId xmlns:a16="http://schemas.microsoft.com/office/drawing/2014/main" id="{AD33DDAD-968D-6B2E-B0BC-7C43022A5385}"/>
              </a:ext>
            </a:extLst>
          </p:cNvPr>
          <p:cNvPicPr>
            <a:picLocks noChangeAspect="1"/>
          </p:cNvPicPr>
          <p:nvPr/>
        </p:nvPicPr>
        <p:blipFill>
          <a:blip r:embed="rId5"/>
          <a:stretch>
            <a:fillRect/>
          </a:stretch>
        </p:blipFill>
        <p:spPr>
          <a:xfrm rot="-2220000">
            <a:off x="7479835" y="2311363"/>
            <a:ext cx="2995914" cy="3005559"/>
          </a:xfrm>
          <a:prstGeom prst="rect">
            <a:avLst/>
          </a:prstGeom>
        </p:spPr>
      </p:pic>
    </p:spTree>
    <p:extLst>
      <p:ext uri="{BB962C8B-B14F-4D97-AF65-F5344CB8AC3E}">
        <p14:creationId xmlns:p14="http://schemas.microsoft.com/office/powerpoint/2010/main" val="101368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5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strVal val="#ppt_h"/>
                                          </p:val>
                                        </p:tav>
                                        <p:tav tm="100000">
                                          <p:val>
                                            <p:strVal val="#ppt_h"/>
                                          </p:val>
                                        </p:tav>
                                      </p:tavLst>
                                    </p:anim>
                                  </p:childTnLst>
                                </p:cTn>
                              </p:par>
                            </p:childTnLst>
                          </p:cTn>
                        </p:par>
                        <p:par>
                          <p:cTn id="14" fill="hold">
                            <p:stCondLst>
                              <p:cond delay="1500"/>
                            </p:stCondLst>
                            <p:childTnLst>
                              <p:par>
                                <p:cTn id="15" presetID="2" presetClass="entr" presetSubtype="2" fill="hold" nodeType="afterEffect">
                                  <p:stCondLst>
                                    <p:cond delay="50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par>
                          <p:cTn id="19" fill="hold">
                            <p:stCondLst>
                              <p:cond delay="2500"/>
                            </p:stCondLst>
                            <p:childTnLst>
                              <p:par>
                                <p:cTn id="20" presetID="31"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7" name="Rectangle 6">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0781CB-7C9F-AC04-461C-70F153329534}"/>
              </a:ext>
            </a:extLst>
          </p:cNvPr>
          <p:cNvSpPr>
            <a:spLocks noGrp="1"/>
          </p:cNvSpPr>
          <p:nvPr>
            <p:ph type="title"/>
          </p:nvPr>
        </p:nvSpPr>
        <p:spPr>
          <a:xfrm>
            <a:off x="761803" y="350196"/>
            <a:ext cx="4646904" cy="1624520"/>
          </a:xfrm>
        </p:spPr>
        <p:txBody>
          <a:bodyPr anchor="ctr">
            <a:normAutofit/>
          </a:bodyPr>
          <a:lstStyle/>
          <a:p>
            <a:pPr fontAlgn="base"/>
            <a:r>
              <a:rPr lang="en-US" sz="4000"/>
              <a:t>Defensive AI: Blue Team Applications</a:t>
            </a:r>
            <a:endParaRPr lang="en-GB" sz="4000"/>
          </a:p>
        </p:txBody>
      </p:sp>
      <p:sp>
        <p:nvSpPr>
          <p:cNvPr id="3" name="Content Placeholder 2">
            <a:extLst>
              <a:ext uri="{FF2B5EF4-FFF2-40B4-BE49-F238E27FC236}">
                <a16:creationId xmlns:a16="http://schemas.microsoft.com/office/drawing/2014/main" id="{F0876F30-1E43-4361-A34B-C2151CE8094F}"/>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r>
              <a:rPr lang="en-GB" sz="2000"/>
              <a:t>Everything previously mentioned also has a few disadvantages - </a:t>
            </a:r>
          </a:p>
          <a:p>
            <a:r>
              <a:rPr lang="en-GB" sz="2000"/>
              <a:t>Adequate training of dedicated models requires lots of refined data, which may not be available in some contexts.</a:t>
            </a:r>
          </a:p>
          <a:p>
            <a:r>
              <a:rPr lang="en-GB" sz="2000"/>
              <a:t>Training AI requires expertise.</a:t>
            </a:r>
          </a:p>
          <a:p>
            <a:r>
              <a:rPr lang="en-GB" sz="2000"/>
              <a:t>Can become costly infrastructure wise.</a:t>
            </a:r>
          </a:p>
          <a:p>
            <a:r>
              <a:rPr lang="en-GB" sz="2000"/>
              <a:t>Overreliance on AI can sometimes cause situations to escalate,</a:t>
            </a:r>
          </a:p>
          <a:p>
            <a:endParaRPr lang="en-GB" sz="2000"/>
          </a:p>
        </p:txBody>
      </p:sp>
      <p:pic>
        <p:nvPicPr>
          <p:cNvPr id="8" name="Picture 7" descr="Aerial view of robots sitting on blue chairs">
            <a:extLst>
              <a:ext uri="{FF2B5EF4-FFF2-40B4-BE49-F238E27FC236}">
                <a16:creationId xmlns:a16="http://schemas.microsoft.com/office/drawing/2014/main" id="{8A6400F4-42C4-CAAA-741E-669ACD408784}"/>
              </a:ext>
            </a:extLst>
          </p:cNvPr>
          <p:cNvPicPr>
            <a:picLocks noChangeAspect="1"/>
          </p:cNvPicPr>
          <p:nvPr/>
        </p:nvPicPr>
        <p:blipFill>
          <a:blip r:embed="rId2"/>
          <a:srcRect l="43700" r="6243" b="-2"/>
          <a:stretch>
            <a:fillRect/>
          </a:stretch>
        </p:blipFill>
        <p:spPr>
          <a:xfrm>
            <a:off x="6096000" y="1"/>
            <a:ext cx="6102825" cy="6858000"/>
          </a:xfrm>
          <a:prstGeom prst="rect">
            <a:avLst/>
          </a:prstGeom>
        </p:spPr>
      </p:pic>
      <p:pic>
        <p:nvPicPr>
          <p:cNvPr id="73" name="Picture 72" descr="Robot Vacuum Roomba With Transparency Background 2, Robot Vacuum, Roomba,  Cleaning Robot PNG Transparent Image and Clipart for Free Download">
            <a:extLst>
              <a:ext uri="{FF2B5EF4-FFF2-40B4-BE49-F238E27FC236}">
                <a16:creationId xmlns:a16="http://schemas.microsoft.com/office/drawing/2014/main" id="{E1C7F73F-3C7E-D0BB-B659-BA7B5349E1C9}"/>
              </a:ext>
            </a:extLst>
          </p:cNvPr>
          <p:cNvPicPr>
            <a:picLocks noChangeAspect="1"/>
          </p:cNvPicPr>
          <p:nvPr/>
        </p:nvPicPr>
        <p:blipFill>
          <a:blip r:embed="rId3"/>
          <a:stretch>
            <a:fillRect/>
          </a:stretch>
        </p:blipFill>
        <p:spPr>
          <a:xfrm>
            <a:off x="10078233" y="0"/>
            <a:ext cx="2108548" cy="2108548"/>
          </a:xfrm>
          <a:prstGeom prst="rect">
            <a:avLst/>
          </a:prstGeom>
        </p:spPr>
      </p:pic>
    </p:spTree>
    <p:extLst>
      <p:ext uri="{BB962C8B-B14F-4D97-AF65-F5344CB8AC3E}">
        <p14:creationId xmlns:p14="http://schemas.microsoft.com/office/powerpoint/2010/main" val="860095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7F37C-354B-C4FC-EB21-EB6E47737074}"/>
              </a:ext>
            </a:extLst>
          </p:cNvPr>
          <p:cNvSpPr>
            <a:spLocks noGrp="1"/>
          </p:cNvSpPr>
          <p:nvPr>
            <p:ph type="title"/>
          </p:nvPr>
        </p:nvSpPr>
        <p:spPr/>
        <p:txBody>
          <a:bodyPr/>
          <a:lstStyle/>
          <a:p>
            <a:r>
              <a:rPr lang="en-GB" dirty="0"/>
              <a:t>Where AI isn't a good idea </a:t>
            </a:r>
          </a:p>
        </p:txBody>
      </p:sp>
      <p:sp>
        <p:nvSpPr>
          <p:cNvPr id="3" name="Content Placeholder 2">
            <a:extLst>
              <a:ext uri="{FF2B5EF4-FFF2-40B4-BE49-F238E27FC236}">
                <a16:creationId xmlns:a16="http://schemas.microsoft.com/office/drawing/2014/main" id="{486C9876-28A6-E90C-8FD8-A9F49E223DDA}"/>
              </a:ext>
            </a:extLst>
          </p:cNvPr>
          <p:cNvSpPr>
            <a:spLocks noGrp="1"/>
          </p:cNvSpPr>
          <p:nvPr>
            <p:ph idx="1"/>
          </p:nvPr>
        </p:nvSpPr>
        <p:spPr/>
        <p:txBody>
          <a:bodyPr vert="horz" lIns="91440" tIns="45720" rIns="91440" bIns="45720" rtlCol="0" anchor="t">
            <a:normAutofit lnSpcReduction="10000"/>
          </a:bodyPr>
          <a:lstStyle/>
          <a:p>
            <a:r>
              <a:rPr lang="en-GB" dirty="0"/>
              <a:t>Small scale organisations – Small organisations should still focus more on traditional defence measures, as AI works best alongside traditional tools, rather as a standalone tool.</a:t>
            </a:r>
          </a:p>
          <a:p>
            <a:r>
              <a:rPr lang="en-GB" dirty="0"/>
              <a:t>Cost sensitive applications – AI is expensive. From the hardware that runs it optimally, to the actual </a:t>
            </a:r>
            <a:r>
              <a:rPr lang="en-GB"/>
              <a:t>implementation</a:t>
            </a:r>
            <a:r>
              <a:rPr lang="en-GB" dirty="0"/>
              <a:t> and data gathering, AI is expensive to implement.</a:t>
            </a:r>
          </a:p>
          <a:p>
            <a:r>
              <a:rPr lang="en-GB" dirty="0"/>
              <a:t>Organisations with an already bad security stance – Seen as AI is best used on top of an already good security system, it is best that any funds dedicated to its implementation in such a organisation are rather reallocated to improving the traditional security system already present in the organisation.</a:t>
            </a:r>
          </a:p>
        </p:txBody>
      </p:sp>
    </p:spTree>
    <p:extLst>
      <p:ext uri="{BB962C8B-B14F-4D97-AF65-F5344CB8AC3E}">
        <p14:creationId xmlns:p14="http://schemas.microsoft.com/office/powerpoint/2010/main" val="2562583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05D07-41EB-1A7C-2BAD-8782DCCD2D52}"/>
              </a:ext>
            </a:extLst>
          </p:cNvPr>
          <p:cNvSpPr>
            <a:spLocks noGrp="1"/>
          </p:cNvSpPr>
          <p:nvPr>
            <p:ph type="title"/>
          </p:nvPr>
        </p:nvSpPr>
        <p:spPr/>
        <p:txBody>
          <a:bodyPr/>
          <a:lstStyle/>
          <a:p>
            <a:r>
              <a:rPr lang="en-US"/>
              <a:t>Cryptography &amp; AI: Encrypted Traffic Analysis without Decryption</a:t>
            </a:r>
            <a:endParaRPr lang="en-GB"/>
          </a:p>
        </p:txBody>
      </p:sp>
      <p:sp>
        <p:nvSpPr>
          <p:cNvPr id="3" name="Content Placeholder 2">
            <a:extLst>
              <a:ext uri="{FF2B5EF4-FFF2-40B4-BE49-F238E27FC236}">
                <a16:creationId xmlns:a16="http://schemas.microsoft.com/office/drawing/2014/main" id="{09B7870E-A5CD-54F2-7DD5-A9DBA10BB3FC}"/>
              </a:ext>
            </a:extLst>
          </p:cNvPr>
          <p:cNvSpPr>
            <a:spLocks noGrp="1"/>
          </p:cNvSpPr>
          <p:nvPr>
            <p:ph idx="1"/>
          </p:nvPr>
        </p:nvSpPr>
        <p:spPr/>
        <p:txBody>
          <a:bodyPr vert="horz" lIns="91440" tIns="45720" rIns="91440" bIns="45720" rtlCol="0" anchor="t">
            <a:normAutofit/>
          </a:bodyPr>
          <a:lstStyle/>
          <a:p>
            <a:r>
              <a:rPr lang="en-GB"/>
              <a:t>Encrypted Traffic Analysis is a security method that can identify malicious activity within the encrypted network traffic without decrypting it.</a:t>
            </a:r>
          </a:p>
          <a:p>
            <a:r>
              <a:rPr lang="en-GB"/>
              <a:t>By Analysing metadata such as packet size, timing , frequency and traffic patterns, machine learning models can identify application types and user behaviour </a:t>
            </a:r>
          </a:p>
          <a:p>
            <a:r>
              <a:rPr lang="en-GB"/>
              <a:t>This approach is used to exfiltrate data while also preserving confidentiality, however it does also raise privacy concerns as sensitive behavioural patterns can still be inferred despite encryption</a:t>
            </a:r>
          </a:p>
        </p:txBody>
      </p:sp>
    </p:spTree>
    <p:extLst>
      <p:ext uri="{BB962C8B-B14F-4D97-AF65-F5344CB8AC3E}">
        <p14:creationId xmlns:p14="http://schemas.microsoft.com/office/powerpoint/2010/main" val="270415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2B4-8F76-2D65-DB31-9F24DDAE01FB}"/>
              </a:ext>
            </a:extLst>
          </p:cNvPr>
          <p:cNvSpPr>
            <a:spLocks noGrp="1"/>
          </p:cNvSpPr>
          <p:nvPr>
            <p:ph type="title"/>
          </p:nvPr>
        </p:nvSpPr>
        <p:spPr/>
        <p:txBody>
          <a:bodyPr/>
          <a:lstStyle/>
          <a:p>
            <a:r>
              <a:rPr lang="en-150"/>
              <a:t>Offensive AI: Red Team &amp; Pen testing</a:t>
            </a:r>
            <a:endParaRPr lang="en-US" err="1"/>
          </a:p>
        </p:txBody>
      </p:sp>
      <p:sp>
        <p:nvSpPr>
          <p:cNvPr id="3" name="Content Placeholder 2">
            <a:extLst>
              <a:ext uri="{FF2B5EF4-FFF2-40B4-BE49-F238E27FC236}">
                <a16:creationId xmlns:a16="http://schemas.microsoft.com/office/drawing/2014/main" id="{F8C4BE05-FFD8-2311-8B83-8FB7C368CF5F}"/>
              </a:ext>
            </a:extLst>
          </p:cNvPr>
          <p:cNvSpPr>
            <a:spLocks noGrp="1"/>
          </p:cNvSpPr>
          <p:nvPr>
            <p:ph idx="1"/>
          </p:nvPr>
        </p:nvSpPr>
        <p:spPr/>
        <p:txBody>
          <a:bodyPr vert="horz" lIns="91440" tIns="45720" rIns="91440" bIns="45720" rtlCol="0" anchor="t">
            <a:normAutofit/>
          </a:bodyPr>
          <a:lstStyle/>
          <a:p>
            <a:r>
              <a:rPr lang="en-150" dirty="0"/>
              <a:t>Offensive AI – using AI to enhance red teaming and pen testing activities by automating and improving attack techniques.</a:t>
            </a:r>
          </a:p>
          <a:p>
            <a:r>
              <a:rPr lang="en-US" dirty="0"/>
              <a:t>Ai can assist in tasks like vulnerability discovery and exploitation by </a:t>
            </a:r>
            <a:r>
              <a:rPr lang="en-US" dirty="0" err="1"/>
              <a:t>analysing</a:t>
            </a:r>
            <a:r>
              <a:rPr lang="en-US" dirty="0"/>
              <a:t> large datasets more efficiently.</a:t>
            </a:r>
          </a:p>
          <a:p>
            <a:r>
              <a:rPr lang="en-US" dirty="0" err="1"/>
              <a:t>e.g</a:t>
            </a:r>
            <a:r>
              <a:rPr lang="en-US" dirty="0"/>
              <a:t> machine learning models can identify patterns in web applications to detect potential injection points or misconfigurations, but AI driven tools can make more convincing phishing campaigns through natural language processing</a:t>
            </a:r>
          </a:p>
        </p:txBody>
      </p:sp>
    </p:spTree>
    <p:extLst>
      <p:ext uri="{BB962C8B-B14F-4D97-AF65-F5344CB8AC3E}">
        <p14:creationId xmlns:p14="http://schemas.microsoft.com/office/powerpoint/2010/main" val="794508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CCFAF-2AAB-AD55-90B4-8CC0092960CD}"/>
              </a:ext>
            </a:extLst>
          </p:cNvPr>
          <p:cNvSpPr>
            <a:spLocks noGrp="1"/>
          </p:cNvSpPr>
          <p:nvPr>
            <p:ph type="title"/>
          </p:nvPr>
        </p:nvSpPr>
        <p:spPr/>
        <p:txBody>
          <a:bodyPr/>
          <a:lstStyle/>
          <a:p>
            <a:r>
              <a:rPr lang="en-GB"/>
              <a:t>The Adversary's Toolkit: How threat actors leverage AI</a:t>
            </a:r>
          </a:p>
        </p:txBody>
      </p:sp>
      <p:sp>
        <p:nvSpPr>
          <p:cNvPr id="3" name="Content Placeholder 2">
            <a:extLst>
              <a:ext uri="{FF2B5EF4-FFF2-40B4-BE49-F238E27FC236}">
                <a16:creationId xmlns:a16="http://schemas.microsoft.com/office/drawing/2014/main" id="{29DEFBF7-F833-3148-8DA8-759E6C986C75}"/>
              </a:ext>
            </a:extLst>
          </p:cNvPr>
          <p:cNvSpPr>
            <a:spLocks noGrp="1"/>
          </p:cNvSpPr>
          <p:nvPr>
            <p:ph idx="1"/>
          </p:nvPr>
        </p:nvSpPr>
        <p:spPr/>
        <p:txBody>
          <a:bodyPr vert="horz" lIns="91440" tIns="45720" rIns="91440" bIns="45720" rtlCol="0" anchor="t">
            <a:normAutofit/>
          </a:bodyPr>
          <a:lstStyle/>
          <a:p>
            <a:r>
              <a:rPr lang="en-GB" dirty="0"/>
              <a:t>AI increases the speed and scale of cyberattacks, allowing attackers to automate tasks that would traditionally require significant manual effort </a:t>
            </a:r>
          </a:p>
          <a:p>
            <a:r>
              <a:rPr lang="en-GB" dirty="0"/>
              <a:t>This enables the analysis of large datasets (logs, user data, web content) to identify patterns, weak points, and high-value targets </a:t>
            </a:r>
          </a:p>
          <a:p>
            <a:r>
              <a:rPr lang="en-GB" dirty="0"/>
              <a:t>Supports adaptive attacks, where AI systems adjust techniques in real time to evade detection mechanisms such as IDS/IPS  (</a:t>
            </a:r>
            <a:r>
              <a:rPr lang="en-GB"/>
              <a:t>intrusion</a:t>
            </a:r>
            <a:r>
              <a:rPr lang="en-GB" dirty="0"/>
              <a:t> detection/prevention system)</a:t>
            </a:r>
          </a:p>
          <a:p>
            <a:r>
              <a:rPr lang="en-GB" dirty="0"/>
              <a:t>Lowers the barrier to entry, allowing less skilled attackers to perform advanced attacks using AI-powered tools</a:t>
            </a:r>
          </a:p>
          <a:p>
            <a:endParaRPr lang="en-GB" dirty="0"/>
          </a:p>
        </p:txBody>
      </p:sp>
    </p:spTree>
    <p:extLst>
      <p:ext uri="{BB962C8B-B14F-4D97-AF65-F5344CB8AC3E}">
        <p14:creationId xmlns:p14="http://schemas.microsoft.com/office/powerpoint/2010/main" val="882458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4BA7-EA1A-CBF6-5E81-341D74DB7796}"/>
              </a:ext>
            </a:extLst>
          </p:cNvPr>
          <p:cNvSpPr>
            <a:spLocks noGrp="1"/>
          </p:cNvSpPr>
          <p:nvPr>
            <p:ph type="title"/>
          </p:nvPr>
        </p:nvSpPr>
        <p:spPr/>
        <p:txBody>
          <a:bodyPr/>
          <a:lstStyle/>
          <a:p>
            <a:r>
              <a:rPr lang="en-GB" dirty="0"/>
              <a:t>AI-assisted Reconnaissance and OSINT</a:t>
            </a:r>
          </a:p>
        </p:txBody>
      </p:sp>
      <p:sp>
        <p:nvSpPr>
          <p:cNvPr id="3" name="Content Placeholder 2">
            <a:extLst>
              <a:ext uri="{FF2B5EF4-FFF2-40B4-BE49-F238E27FC236}">
                <a16:creationId xmlns:a16="http://schemas.microsoft.com/office/drawing/2014/main" id="{1D53E91C-EEF6-798F-1237-2230DBD754E2}"/>
              </a:ext>
            </a:extLst>
          </p:cNvPr>
          <p:cNvSpPr>
            <a:spLocks noGrp="1"/>
          </p:cNvSpPr>
          <p:nvPr>
            <p:ph idx="1"/>
          </p:nvPr>
        </p:nvSpPr>
        <p:spPr/>
        <p:txBody>
          <a:bodyPr vert="horz" lIns="91440" tIns="45720" rIns="91440" bIns="45720" rtlCol="0" anchor="t">
            <a:normAutofit/>
          </a:bodyPr>
          <a:lstStyle/>
          <a:p>
            <a:r>
              <a:rPr lang="en-GB" dirty="0"/>
              <a:t>AI automates the collection of OSINT (</a:t>
            </a:r>
            <a:r>
              <a:rPr lang="en-GB"/>
              <a:t>Open-source</a:t>
            </a:r>
            <a:r>
              <a:rPr lang="en-GB" dirty="0"/>
              <a:t> intelligence) from sources such as websites, APIs (Application programming interface), public directories, and leaked datasets </a:t>
            </a:r>
          </a:p>
          <a:p>
            <a:r>
              <a:rPr lang="en-GB" dirty="0"/>
              <a:t>AI can correlate data (e.g. emails, usernames, internal paths) to build target profiles </a:t>
            </a:r>
          </a:p>
          <a:p>
            <a:r>
              <a:rPr lang="en-GB" dirty="0"/>
              <a:t>Identifies relationships between users and systems, improving the accuracy of targeted attacks </a:t>
            </a:r>
          </a:p>
          <a:p>
            <a:r>
              <a:rPr lang="en-GB" dirty="0"/>
              <a:t>Enhances spear phishing by generating highly personalised and context-aware messages based on gathered intelligence</a:t>
            </a:r>
          </a:p>
          <a:p>
            <a:endParaRPr lang="en-GB" dirty="0"/>
          </a:p>
        </p:txBody>
      </p:sp>
    </p:spTree>
    <p:extLst>
      <p:ext uri="{BB962C8B-B14F-4D97-AF65-F5344CB8AC3E}">
        <p14:creationId xmlns:p14="http://schemas.microsoft.com/office/powerpoint/2010/main" val="1621071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D1EB6-1FA1-3A31-DC66-40F93119AB3F}"/>
              </a:ext>
            </a:extLst>
          </p:cNvPr>
          <p:cNvSpPr>
            <a:spLocks noGrp="1"/>
          </p:cNvSpPr>
          <p:nvPr>
            <p:ph type="title"/>
          </p:nvPr>
        </p:nvSpPr>
        <p:spPr/>
        <p:txBody>
          <a:bodyPr/>
          <a:lstStyle/>
          <a:p>
            <a:r>
              <a:rPr lang="en-GB"/>
              <a:t>Intelligent Fuzzing: Automating vulnerability discovery</a:t>
            </a:r>
            <a:endParaRPr lang="en-US"/>
          </a:p>
        </p:txBody>
      </p:sp>
      <p:sp>
        <p:nvSpPr>
          <p:cNvPr id="3" name="Content Placeholder 2">
            <a:extLst>
              <a:ext uri="{FF2B5EF4-FFF2-40B4-BE49-F238E27FC236}">
                <a16:creationId xmlns:a16="http://schemas.microsoft.com/office/drawing/2014/main" id="{547BE6A3-CE9A-632B-5057-7998C4DD3DF5}"/>
              </a:ext>
            </a:extLst>
          </p:cNvPr>
          <p:cNvSpPr>
            <a:spLocks noGrp="1"/>
          </p:cNvSpPr>
          <p:nvPr>
            <p:ph idx="1"/>
          </p:nvPr>
        </p:nvSpPr>
        <p:spPr/>
        <p:txBody>
          <a:bodyPr vert="horz" lIns="91440" tIns="45720" rIns="91440" bIns="45720" rtlCol="0" anchor="t">
            <a:normAutofit/>
          </a:bodyPr>
          <a:lstStyle/>
          <a:p>
            <a:r>
              <a:rPr lang="en-GB">
                <a:ea typeface="+mn-lt"/>
                <a:cs typeface="+mn-lt"/>
              </a:rPr>
              <a:t>AI-based fuzzing tools generate large volumes of test inputs to identify vulnerabilities such as buffer overflows, injection flaws, and logic errors </a:t>
            </a:r>
            <a:endParaRPr lang="en-US"/>
          </a:p>
          <a:p>
            <a:r>
              <a:rPr lang="en-GB">
                <a:ea typeface="+mn-lt"/>
                <a:cs typeface="+mn-lt"/>
              </a:rPr>
              <a:t>Machine learning models analyse previous results to prioritise inputs most likely to trigger vulnerabilities </a:t>
            </a:r>
            <a:endParaRPr lang="en-GB"/>
          </a:p>
          <a:p>
            <a:r>
              <a:rPr lang="en-GB">
                <a:ea typeface="+mn-lt"/>
                <a:cs typeface="+mn-lt"/>
              </a:rPr>
              <a:t>Reduces time and computational resources compared to traditional brute-force fuzzing </a:t>
            </a:r>
            <a:endParaRPr lang="en-GB"/>
          </a:p>
          <a:p>
            <a:r>
              <a:rPr lang="en-GB">
                <a:ea typeface="+mn-lt"/>
                <a:cs typeface="+mn-lt"/>
              </a:rPr>
              <a:t>Can adapt dynamically, improving efficiency in discovering complex or hidden vulnerabilities</a:t>
            </a:r>
            <a:endParaRPr lang="en-GB"/>
          </a:p>
          <a:p>
            <a:endParaRPr lang="en-GB" dirty="0"/>
          </a:p>
          <a:p>
            <a:endParaRPr lang="en-GB"/>
          </a:p>
          <a:p>
            <a:endParaRPr lang="en-GB"/>
          </a:p>
        </p:txBody>
      </p:sp>
    </p:spTree>
    <p:extLst>
      <p:ext uri="{BB962C8B-B14F-4D97-AF65-F5344CB8AC3E}">
        <p14:creationId xmlns:p14="http://schemas.microsoft.com/office/powerpoint/2010/main" val="3166523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9883A-F88D-DBD5-1C61-8E80348D1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9C0D9-0B96-9562-0E0A-AB5A5B72CFC6}"/>
              </a:ext>
            </a:extLst>
          </p:cNvPr>
          <p:cNvSpPr>
            <a:spLocks noGrp="1"/>
          </p:cNvSpPr>
          <p:nvPr>
            <p:ph type="title"/>
          </p:nvPr>
        </p:nvSpPr>
        <p:spPr/>
        <p:txBody>
          <a:bodyPr/>
          <a:lstStyle/>
          <a:p>
            <a:r>
              <a:rPr lang="en-GB"/>
              <a:t>Payload Generation and Evasion techniques</a:t>
            </a:r>
            <a:endParaRPr lang="en-US"/>
          </a:p>
        </p:txBody>
      </p:sp>
      <p:sp>
        <p:nvSpPr>
          <p:cNvPr id="3" name="Content Placeholder 2">
            <a:extLst>
              <a:ext uri="{FF2B5EF4-FFF2-40B4-BE49-F238E27FC236}">
                <a16:creationId xmlns:a16="http://schemas.microsoft.com/office/drawing/2014/main" id="{9C6EB54E-CEFD-1C88-5A37-AFFC55F32886}"/>
              </a:ext>
            </a:extLst>
          </p:cNvPr>
          <p:cNvSpPr>
            <a:spLocks noGrp="1"/>
          </p:cNvSpPr>
          <p:nvPr>
            <p:ph idx="1"/>
          </p:nvPr>
        </p:nvSpPr>
        <p:spPr/>
        <p:txBody>
          <a:bodyPr vert="horz" lIns="91440" tIns="45720" rIns="91440" bIns="45720" rtlCol="0" anchor="t">
            <a:normAutofit/>
          </a:bodyPr>
          <a:lstStyle/>
          <a:p>
            <a:r>
              <a:rPr lang="en-GB" dirty="0"/>
              <a:t>AI can generate payloads that are context-aware, adapting to specific applications or environments </a:t>
            </a:r>
          </a:p>
          <a:p>
            <a:r>
              <a:rPr lang="en-GB" dirty="0"/>
              <a:t>This enables evasion of detection systems by modifying payload structure to avoid known signatures </a:t>
            </a:r>
          </a:p>
          <a:p>
            <a:r>
              <a:rPr lang="en-GB" dirty="0"/>
              <a:t>This however supports polymorphic attacks, where payloads continuously change to bypass security filters </a:t>
            </a:r>
          </a:p>
          <a:p>
            <a:r>
              <a:rPr lang="en-GB" dirty="0"/>
              <a:t>Natural Language Processing (NLP) can create realistic phishing emails that mimic tone, style, and organisational communication</a:t>
            </a:r>
          </a:p>
          <a:p>
            <a:endParaRPr lang="en-GB" dirty="0"/>
          </a:p>
        </p:txBody>
      </p:sp>
    </p:spTree>
    <p:extLst>
      <p:ext uri="{BB962C8B-B14F-4D97-AF65-F5344CB8AC3E}">
        <p14:creationId xmlns:p14="http://schemas.microsoft.com/office/powerpoint/2010/main" val="1797410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336BA-F5A2-B845-8650-9FCCF6A49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DC6F4-C7A4-CFEF-2986-CFE64880E88C}"/>
              </a:ext>
            </a:extLst>
          </p:cNvPr>
          <p:cNvSpPr>
            <a:spLocks noGrp="1"/>
          </p:cNvSpPr>
          <p:nvPr>
            <p:ph type="title"/>
          </p:nvPr>
        </p:nvSpPr>
        <p:spPr/>
        <p:txBody>
          <a:bodyPr/>
          <a:lstStyle/>
          <a:p>
            <a:r>
              <a:rPr lang="en-GB"/>
              <a:t>Automating exploit chains: AI in tools</a:t>
            </a:r>
            <a:endParaRPr lang="en-US"/>
          </a:p>
        </p:txBody>
      </p:sp>
      <p:sp>
        <p:nvSpPr>
          <p:cNvPr id="3" name="Content Placeholder 2">
            <a:extLst>
              <a:ext uri="{FF2B5EF4-FFF2-40B4-BE49-F238E27FC236}">
                <a16:creationId xmlns:a16="http://schemas.microsoft.com/office/drawing/2014/main" id="{CFF410D8-2465-E7B3-D59D-D102E48AE699}"/>
              </a:ext>
            </a:extLst>
          </p:cNvPr>
          <p:cNvSpPr>
            <a:spLocks noGrp="1"/>
          </p:cNvSpPr>
          <p:nvPr>
            <p:ph idx="1"/>
          </p:nvPr>
        </p:nvSpPr>
        <p:spPr/>
        <p:txBody>
          <a:bodyPr vert="horz" lIns="91440" tIns="45720" rIns="91440" bIns="45720" rtlCol="0" anchor="t">
            <a:normAutofit lnSpcReduction="10000"/>
          </a:bodyPr>
          <a:lstStyle/>
          <a:p>
            <a:pPr>
              <a:lnSpc>
                <a:spcPct val="70000"/>
              </a:lnSpc>
            </a:pPr>
            <a:r>
              <a:rPr lang="en-GB">
                <a:ea typeface="+mn-lt"/>
                <a:cs typeface="+mn-lt"/>
              </a:rPr>
              <a:t>AI can automatically link multiple vulnerabilities into a coordinated attack chain, increasing the overall impact of an attack </a:t>
            </a:r>
            <a:endParaRPr lang="en-GB"/>
          </a:p>
          <a:p>
            <a:pPr>
              <a:lnSpc>
                <a:spcPct val="70000"/>
              </a:lnSpc>
            </a:pPr>
            <a:r>
              <a:rPr lang="en-GB">
                <a:ea typeface="+mn-lt"/>
                <a:cs typeface="+mn-lt"/>
              </a:rPr>
              <a:t>Supports automation of the full attack lifecycle: reconnaissance → exploitation → privilege escalation → data extraction </a:t>
            </a:r>
            <a:endParaRPr lang="en-GB"/>
          </a:p>
          <a:p>
            <a:pPr>
              <a:lnSpc>
                <a:spcPct val="70000"/>
              </a:lnSpc>
            </a:pPr>
            <a:r>
              <a:rPr lang="en-GB">
                <a:ea typeface="+mn-lt"/>
                <a:cs typeface="+mn-lt"/>
              </a:rPr>
              <a:t>Tools such as Burp Suite and OWASP ZAP can be enhanced with automation features (e.g. active scanning, scripting, extensions) to simulate this process </a:t>
            </a:r>
            <a:endParaRPr lang="en-GB"/>
          </a:p>
          <a:p>
            <a:pPr>
              <a:lnSpc>
                <a:spcPct val="70000"/>
              </a:lnSpc>
            </a:pPr>
            <a:r>
              <a:rPr lang="en-GB">
                <a:ea typeface="+mn-lt"/>
                <a:cs typeface="+mn-lt"/>
              </a:rPr>
              <a:t>AI-driven or automated scanning within these tools can identify injection points, test payloads, and chain vulnerabilities together more efficiently </a:t>
            </a:r>
            <a:endParaRPr lang="en-GB"/>
          </a:p>
          <a:p>
            <a:pPr>
              <a:lnSpc>
                <a:spcPct val="70000"/>
              </a:lnSpc>
            </a:pPr>
            <a:r>
              <a:rPr lang="en-GB">
                <a:ea typeface="+mn-lt"/>
                <a:cs typeface="+mn-lt"/>
              </a:rPr>
              <a:t>This reduces manual effort while increasing the speed, accuracy, and success rate of achieving full system compromise</a:t>
            </a:r>
            <a:endParaRPr lang="en-GB"/>
          </a:p>
          <a:p>
            <a:endParaRPr lang="en-GB"/>
          </a:p>
          <a:p>
            <a:endParaRPr lang="en-GB"/>
          </a:p>
        </p:txBody>
      </p:sp>
    </p:spTree>
    <p:extLst>
      <p:ext uri="{BB962C8B-B14F-4D97-AF65-F5344CB8AC3E}">
        <p14:creationId xmlns:p14="http://schemas.microsoft.com/office/powerpoint/2010/main" val="2724447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301AB2-AD20-45DA-71F0-6481F2B83BF1}"/>
              </a:ext>
            </a:extLst>
          </p:cNvPr>
          <p:cNvSpPr>
            <a:spLocks noGrp="1"/>
          </p:cNvSpPr>
          <p:nvPr>
            <p:ph type="title"/>
          </p:nvPr>
        </p:nvSpPr>
        <p:spPr>
          <a:xfrm>
            <a:off x="838201" y="643467"/>
            <a:ext cx="3888526" cy="1800526"/>
          </a:xfrm>
        </p:spPr>
        <p:txBody>
          <a:bodyPr>
            <a:normAutofit/>
          </a:bodyPr>
          <a:lstStyle/>
          <a:p>
            <a:r>
              <a:rPr lang="en-150" sz="4100"/>
              <a:t>Statistics on AI-enabled adversaries</a:t>
            </a:r>
          </a:p>
        </p:txBody>
      </p:sp>
      <p:sp>
        <p:nvSpPr>
          <p:cNvPr id="3" name="Content Placeholder 2">
            <a:extLst>
              <a:ext uri="{FF2B5EF4-FFF2-40B4-BE49-F238E27FC236}">
                <a16:creationId xmlns:a16="http://schemas.microsoft.com/office/drawing/2014/main" id="{6935B30F-D10E-523B-4DCB-36109962FF8F}"/>
              </a:ext>
            </a:extLst>
          </p:cNvPr>
          <p:cNvSpPr>
            <a:spLocks noGrp="1"/>
          </p:cNvSpPr>
          <p:nvPr>
            <p:ph idx="1"/>
          </p:nvPr>
        </p:nvSpPr>
        <p:spPr>
          <a:xfrm>
            <a:off x="838201" y="2623381"/>
            <a:ext cx="3888528" cy="3553581"/>
          </a:xfrm>
        </p:spPr>
        <p:txBody>
          <a:bodyPr>
            <a:normAutofit/>
          </a:bodyPr>
          <a:lstStyle/>
          <a:p>
            <a:r>
              <a:rPr lang="en-150" sz="1900" dirty="0"/>
              <a:t>NIST reported 2000% increase in AI-specific CVEs since 2022.</a:t>
            </a:r>
          </a:p>
          <a:p>
            <a:r>
              <a:rPr lang="en-150" sz="1900" dirty="0"/>
              <a:t>OECD’s AI Incidents and Hazard monitor revealed increase of AI-related content incidents (malicious inputs, deepfakes, etc.) from about 50 in early 2020, to almost 500 in January 2026</a:t>
            </a:r>
          </a:p>
          <a:p>
            <a:r>
              <a:rPr lang="en-150" sz="1900" dirty="0"/>
              <a:t>Phishing attacks increased by 1265%, attributed to growth of gen AI tools</a:t>
            </a:r>
          </a:p>
        </p:txBody>
      </p:sp>
      <p:pic>
        <p:nvPicPr>
          <p:cNvPr id="5" name="Picture 4">
            <a:extLst>
              <a:ext uri="{FF2B5EF4-FFF2-40B4-BE49-F238E27FC236}">
                <a16:creationId xmlns:a16="http://schemas.microsoft.com/office/drawing/2014/main" id="{A8CFD25C-2512-6CC1-B6F5-D78B730BDF42}"/>
              </a:ext>
            </a:extLst>
          </p:cNvPr>
          <p:cNvPicPr>
            <a:picLocks noChangeAspect="1"/>
          </p:cNvPicPr>
          <p:nvPr/>
        </p:nvPicPr>
        <p:blipFill>
          <a:blip r:embed="rId3"/>
          <a:srcRect r="2" b="2275"/>
          <a:stretch>
            <a:fillRect/>
          </a:stretch>
        </p:blipFill>
        <p:spPr>
          <a:xfrm>
            <a:off x="6800986" y="1152353"/>
            <a:ext cx="4747547" cy="4581638"/>
          </a:xfrm>
          <a:prstGeom prst="rect">
            <a:avLst/>
          </a:prstGeom>
        </p:spPr>
      </p:pic>
    </p:spTree>
    <p:extLst>
      <p:ext uri="{BB962C8B-B14F-4D97-AF65-F5344CB8AC3E}">
        <p14:creationId xmlns:p14="http://schemas.microsoft.com/office/powerpoint/2010/main" val="2485600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699D75-D0D0-4923-2D23-E423D2F20295}"/>
              </a:ext>
            </a:extLst>
          </p:cNvPr>
          <p:cNvSpPr>
            <a:spLocks noGrp="1"/>
          </p:cNvSpPr>
          <p:nvPr>
            <p:ph type="title"/>
          </p:nvPr>
        </p:nvSpPr>
        <p:spPr>
          <a:xfrm>
            <a:off x="761800" y="762001"/>
            <a:ext cx="5334197" cy="1708242"/>
          </a:xfrm>
        </p:spPr>
        <p:txBody>
          <a:bodyPr anchor="ctr">
            <a:normAutofit/>
          </a:bodyPr>
          <a:lstStyle/>
          <a:p>
            <a:r>
              <a:rPr lang="en-150" sz="4000" dirty="0"/>
              <a:t>CrowdStrike 2026 Global Threat Report</a:t>
            </a:r>
          </a:p>
        </p:txBody>
      </p:sp>
      <p:sp>
        <p:nvSpPr>
          <p:cNvPr id="3" name="Content Placeholder 2">
            <a:extLst>
              <a:ext uri="{FF2B5EF4-FFF2-40B4-BE49-F238E27FC236}">
                <a16:creationId xmlns:a16="http://schemas.microsoft.com/office/drawing/2014/main" id="{71DBBBE7-7D51-7A0C-BC56-1AE8E853B6D3}"/>
              </a:ext>
            </a:extLst>
          </p:cNvPr>
          <p:cNvSpPr>
            <a:spLocks noGrp="1"/>
          </p:cNvSpPr>
          <p:nvPr>
            <p:ph idx="1"/>
          </p:nvPr>
        </p:nvSpPr>
        <p:spPr>
          <a:xfrm>
            <a:off x="761800" y="2470244"/>
            <a:ext cx="5334197" cy="3769835"/>
          </a:xfrm>
        </p:spPr>
        <p:txBody>
          <a:bodyPr anchor="ctr">
            <a:normAutofit/>
          </a:bodyPr>
          <a:lstStyle/>
          <a:p>
            <a:pPr marL="0" indent="0">
              <a:buNone/>
            </a:pPr>
            <a:r>
              <a:rPr lang="en-150" sz="2000" dirty="0"/>
              <a:t>Labelled as the “Agentic Era”</a:t>
            </a:r>
          </a:p>
          <a:p>
            <a:endParaRPr lang="en-150" sz="2000" dirty="0"/>
          </a:p>
        </p:txBody>
      </p:sp>
      <p:pic>
        <p:nvPicPr>
          <p:cNvPr id="4" name="Picture 3">
            <a:extLst>
              <a:ext uri="{FF2B5EF4-FFF2-40B4-BE49-F238E27FC236}">
                <a16:creationId xmlns:a16="http://schemas.microsoft.com/office/drawing/2014/main" id="{455EB12F-F25E-E9F0-F33D-14A9F9A4B8BB}"/>
              </a:ext>
            </a:extLst>
          </p:cNvPr>
          <p:cNvPicPr>
            <a:picLocks noChangeAspect="1"/>
          </p:cNvPicPr>
          <p:nvPr/>
        </p:nvPicPr>
        <p:blipFill>
          <a:blip r:embed="rId3"/>
          <a:srcRect b="10826"/>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214288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8E06E-F543-2573-F9EC-8264D07904EF}"/>
              </a:ext>
            </a:extLst>
          </p:cNvPr>
          <p:cNvSpPr>
            <a:spLocks noGrp="1"/>
          </p:cNvSpPr>
          <p:nvPr>
            <p:ph type="title"/>
          </p:nvPr>
        </p:nvSpPr>
        <p:spPr>
          <a:xfrm>
            <a:off x="838201" y="365125"/>
            <a:ext cx="5251316" cy="1807305"/>
          </a:xfrm>
        </p:spPr>
        <p:txBody>
          <a:bodyPr>
            <a:normAutofit/>
          </a:bodyPr>
          <a:lstStyle/>
          <a:p>
            <a:r>
              <a:rPr lang="en-150" dirty="0"/>
              <a:t>AI-Driven Attack Velocity</a:t>
            </a:r>
          </a:p>
        </p:txBody>
      </p:sp>
      <p:graphicFrame>
        <p:nvGraphicFramePr>
          <p:cNvPr id="19" name="Content Placeholder 2">
            <a:extLst>
              <a:ext uri="{FF2B5EF4-FFF2-40B4-BE49-F238E27FC236}">
                <a16:creationId xmlns:a16="http://schemas.microsoft.com/office/drawing/2014/main" id="{4AEEA869-3635-6975-9668-055FDC64FDDD}"/>
              </a:ext>
            </a:extLst>
          </p:cNvPr>
          <p:cNvGraphicFramePr>
            <a:graphicFrameLocks noGrp="1"/>
          </p:cNvGraphicFramePr>
          <p:nvPr>
            <p:ph idx="1"/>
            <p:extLst>
              <p:ext uri="{D42A27DB-BD31-4B8C-83A1-F6EECF244321}">
                <p14:modId xmlns:p14="http://schemas.microsoft.com/office/powerpoint/2010/main" val="1631320662"/>
              </p:ext>
            </p:extLst>
          </p:nvPr>
        </p:nvGraphicFramePr>
        <p:xfrm>
          <a:off x="838200" y="2333297"/>
          <a:ext cx="4619621" cy="38436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723166E3-5F51-1EB0-6E1E-3B288304D15C}"/>
              </a:ext>
            </a:extLst>
          </p:cNvPr>
          <p:cNvPicPr>
            <a:picLocks noChangeAspect="1"/>
          </p:cNvPicPr>
          <p:nvPr/>
        </p:nvPicPr>
        <p:blipFill>
          <a:blip r:embed="rId9"/>
          <a:srcRect r="-1" b="20352"/>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228823552"/>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91981C-03D4-5568-A4C3-FF43697BA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31AC2-65AB-AA48-56B4-A86988BE4726}"/>
              </a:ext>
            </a:extLst>
          </p:cNvPr>
          <p:cNvSpPr>
            <a:spLocks noGrp="1"/>
          </p:cNvSpPr>
          <p:nvPr>
            <p:ph type="title"/>
          </p:nvPr>
        </p:nvSpPr>
        <p:spPr>
          <a:xfrm>
            <a:off x="838201" y="365125"/>
            <a:ext cx="5251316" cy="1807305"/>
          </a:xfrm>
        </p:spPr>
        <p:txBody>
          <a:bodyPr>
            <a:normAutofit/>
          </a:bodyPr>
          <a:lstStyle/>
          <a:p>
            <a:r>
              <a:rPr lang="en-150" dirty="0"/>
              <a:t>New Attack Surface: AI Systems</a:t>
            </a:r>
          </a:p>
        </p:txBody>
      </p:sp>
      <p:graphicFrame>
        <p:nvGraphicFramePr>
          <p:cNvPr id="19" name="Content Placeholder 2">
            <a:extLst>
              <a:ext uri="{FF2B5EF4-FFF2-40B4-BE49-F238E27FC236}">
                <a16:creationId xmlns:a16="http://schemas.microsoft.com/office/drawing/2014/main" id="{0208ADD9-09CC-9BDE-4589-7F31665A1760}"/>
              </a:ext>
            </a:extLst>
          </p:cNvPr>
          <p:cNvGraphicFramePr>
            <a:graphicFrameLocks noGrp="1"/>
          </p:cNvGraphicFramePr>
          <p:nvPr>
            <p:ph idx="1"/>
            <p:extLst>
              <p:ext uri="{D42A27DB-BD31-4B8C-83A1-F6EECF244321}">
                <p14:modId xmlns:p14="http://schemas.microsoft.com/office/powerpoint/2010/main" val="3776678732"/>
              </p:ext>
            </p:extLst>
          </p:nvPr>
        </p:nvGraphicFramePr>
        <p:xfrm>
          <a:off x="838200" y="2333296"/>
          <a:ext cx="4619621" cy="38335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04AAC68D-5FB3-8B8F-EFFF-F6EF883FC8F4}"/>
              </a:ext>
            </a:extLst>
          </p:cNvPr>
          <p:cNvPicPr>
            <a:picLocks noChangeAspect="1"/>
          </p:cNvPicPr>
          <p:nvPr/>
        </p:nvPicPr>
        <p:blipFill>
          <a:blip r:embed="rId9"/>
          <a:srcRect r="-1" b="20352"/>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455940522"/>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54AC59-5A4B-D5D2-5C93-3FB8AA916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8A48E-265D-4AF9-ABC4-EC99B06840CE}"/>
              </a:ext>
            </a:extLst>
          </p:cNvPr>
          <p:cNvSpPr>
            <a:spLocks noGrp="1"/>
          </p:cNvSpPr>
          <p:nvPr>
            <p:ph type="title"/>
          </p:nvPr>
        </p:nvSpPr>
        <p:spPr>
          <a:xfrm>
            <a:off x="838201" y="365125"/>
            <a:ext cx="5251316" cy="1807305"/>
          </a:xfrm>
        </p:spPr>
        <p:txBody>
          <a:bodyPr>
            <a:normAutofit/>
          </a:bodyPr>
          <a:lstStyle/>
          <a:p>
            <a:r>
              <a:rPr lang="en-150" dirty="0"/>
              <a:t>Nation-State AI Activities</a:t>
            </a:r>
          </a:p>
        </p:txBody>
      </p:sp>
      <p:graphicFrame>
        <p:nvGraphicFramePr>
          <p:cNvPr id="19" name="Content Placeholder 2">
            <a:extLst>
              <a:ext uri="{FF2B5EF4-FFF2-40B4-BE49-F238E27FC236}">
                <a16:creationId xmlns:a16="http://schemas.microsoft.com/office/drawing/2014/main" id="{1F60AE11-4E3D-3592-AA1B-E7A50F11F599}"/>
              </a:ext>
            </a:extLst>
          </p:cNvPr>
          <p:cNvGraphicFramePr>
            <a:graphicFrameLocks noGrp="1"/>
          </p:cNvGraphicFramePr>
          <p:nvPr>
            <p:ph idx="1"/>
            <p:extLst>
              <p:ext uri="{D42A27DB-BD31-4B8C-83A1-F6EECF244321}">
                <p14:modId xmlns:p14="http://schemas.microsoft.com/office/powerpoint/2010/main" val="3745746347"/>
              </p:ext>
            </p:extLst>
          </p:nvPr>
        </p:nvGraphicFramePr>
        <p:xfrm>
          <a:off x="838200" y="2333296"/>
          <a:ext cx="4619621" cy="38335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EC43D0D4-B7E3-9A2A-BCB0-C729542B7972}"/>
              </a:ext>
            </a:extLst>
          </p:cNvPr>
          <p:cNvPicPr>
            <a:picLocks noChangeAspect="1"/>
          </p:cNvPicPr>
          <p:nvPr/>
        </p:nvPicPr>
        <p:blipFill>
          <a:blip r:embed="rId9"/>
          <a:srcRect r="-1" b="20352"/>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162000922"/>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1C4D08-DC95-3F1D-C8FB-D9ABA64DC657}"/>
              </a:ext>
            </a:extLst>
          </p:cNvPr>
          <p:cNvSpPr>
            <a:spLocks noGrp="1"/>
          </p:cNvSpPr>
          <p:nvPr>
            <p:ph type="title"/>
          </p:nvPr>
        </p:nvSpPr>
        <p:spPr>
          <a:xfrm>
            <a:off x="804671" y="336406"/>
            <a:ext cx="5925737" cy="1454051"/>
          </a:xfrm>
        </p:spPr>
        <p:txBody>
          <a:bodyPr>
            <a:normAutofit/>
          </a:bodyPr>
          <a:lstStyle/>
          <a:p>
            <a:r>
              <a:rPr lang="en-150" sz="3600" dirty="0">
                <a:solidFill>
                  <a:schemeClr val="tx2"/>
                </a:solidFill>
              </a:rPr>
              <a:t>OWASP for LLM Applications</a:t>
            </a:r>
          </a:p>
        </p:txBody>
      </p:sp>
      <p:grpSp>
        <p:nvGrpSpPr>
          <p:cNvPr id="50" name="Group 49">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51" name="Freeform: Shape 42">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43">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44">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45">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3D2A808-CA25-6F7A-0576-20F78777C4E1}"/>
              </a:ext>
            </a:extLst>
          </p:cNvPr>
          <p:cNvPicPr>
            <a:picLocks noChangeAspect="1"/>
          </p:cNvPicPr>
          <p:nvPr/>
        </p:nvPicPr>
        <p:blipFill>
          <a:blip r:embed="rId3"/>
          <a:stretch>
            <a:fillRect/>
          </a:stretch>
        </p:blipFill>
        <p:spPr>
          <a:xfrm>
            <a:off x="8325292" y="1497000"/>
            <a:ext cx="2784633" cy="4583759"/>
          </a:xfrm>
          <a:prstGeom prst="rect">
            <a:avLst/>
          </a:prstGeom>
        </p:spPr>
      </p:pic>
      <p:graphicFrame>
        <p:nvGraphicFramePr>
          <p:cNvPr id="5" name="Content Placeholder 2">
            <a:extLst>
              <a:ext uri="{FF2B5EF4-FFF2-40B4-BE49-F238E27FC236}">
                <a16:creationId xmlns:a16="http://schemas.microsoft.com/office/drawing/2014/main" id="{29BD4A08-B067-F040-2769-609C0E4BB3C7}"/>
              </a:ext>
            </a:extLst>
          </p:cNvPr>
          <p:cNvGraphicFramePr>
            <a:graphicFrameLocks noGrp="1"/>
          </p:cNvGraphicFramePr>
          <p:nvPr>
            <p:ph idx="1"/>
            <p:extLst>
              <p:ext uri="{D42A27DB-BD31-4B8C-83A1-F6EECF244321}">
                <p14:modId xmlns:p14="http://schemas.microsoft.com/office/powerpoint/2010/main" val="600283771"/>
              </p:ext>
            </p:extLst>
          </p:nvPr>
        </p:nvGraphicFramePr>
        <p:xfrm>
          <a:off x="804671" y="1700784"/>
          <a:ext cx="4765949" cy="43799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55999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84625E5-25E0-027C-FE09-807927ADFBB5}"/>
              </a:ext>
            </a:extLst>
          </p:cNvPr>
          <p:cNvSpPr>
            <a:spLocks noGrp="1"/>
          </p:cNvSpPr>
          <p:nvPr>
            <p:ph type="title"/>
          </p:nvPr>
        </p:nvSpPr>
        <p:spPr>
          <a:xfrm>
            <a:off x="3215729" y="2544048"/>
            <a:ext cx="5760846" cy="884952"/>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QUESTIONS?</a:t>
            </a:r>
          </a:p>
        </p:txBody>
      </p:sp>
      <p:sp>
        <p:nvSpPr>
          <p:cNvPr id="3" name="Content Placeholder 2">
            <a:extLst>
              <a:ext uri="{FF2B5EF4-FFF2-40B4-BE49-F238E27FC236}">
                <a16:creationId xmlns:a16="http://schemas.microsoft.com/office/drawing/2014/main" id="{B4D00768-232F-88E4-E32B-2F6DFD7D976E}"/>
              </a:ext>
            </a:extLst>
          </p:cNvPr>
          <p:cNvSpPr>
            <a:spLocks noGrp="1"/>
          </p:cNvSpPr>
          <p:nvPr>
            <p:ph idx="1"/>
          </p:nvPr>
        </p:nvSpPr>
        <p:spPr>
          <a:xfrm>
            <a:off x="3215729" y="3429000"/>
            <a:ext cx="5760846" cy="1483242"/>
          </a:xfrm>
        </p:spPr>
        <p:txBody>
          <a:bodyPr vert="horz" lIns="91440" tIns="45720" rIns="91440" bIns="45720" rtlCol="0">
            <a:normAutofit/>
          </a:bodyPr>
          <a:lstStyle/>
          <a:p>
            <a:pPr marL="0" indent="0" algn="ctr">
              <a:buNone/>
            </a:pPr>
            <a:r>
              <a:rPr lang="en-US" sz="2000" kern="1200" dirty="0">
                <a:solidFill>
                  <a:schemeClr val="tx2"/>
                </a:solidFill>
                <a:latin typeface="+mn-lt"/>
                <a:ea typeface="+mn-ea"/>
                <a:cs typeface="+mn-cs"/>
              </a:rPr>
              <a:t>Today’s challenge room will be interactive. We will do it together as a group</a:t>
            </a:r>
            <a:r>
              <a:rPr lang="en-150" sz="2000" kern="1200" dirty="0">
                <a:solidFill>
                  <a:schemeClr val="tx2"/>
                </a:solidFill>
                <a:latin typeface="+mn-lt"/>
                <a:ea typeface="+mn-ea"/>
                <a:cs typeface="+mn-cs"/>
              </a:rPr>
              <a:t>. You will be my test subjects</a:t>
            </a:r>
            <a:r>
              <a:rPr lang="en-US" sz="2000" kern="1200" dirty="0">
                <a:solidFill>
                  <a:schemeClr val="tx2"/>
                </a:solidFill>
                <a:latin typeface="+mn-lt"/>
                <a:ea typeface="+mn-ea"/>
                <a:cs typeface="+mn-cs"/>
              </a:rPr>
              <a:t> </a:t>
            </a:r>
            <a:r>
              <a:rPr lang="en-US" sz="2000" kern="1200" dirty="0">
                <a:solidFill>
                  <a:schemeClr val="tx2"/>
                </a:solidFill>
                <a:latin typeface="+mn-lt"/>
                <a:ea typeface="+mn-ea"/>
                <a:cs typeface="+mn-cs"/>
                <a:sym typeface="Wingdings" panose="05000000000000000000" pitchFamily="2" charset="2"/>
              </a:rPr>
              <a:t></a:t>
            </a:r>
            <a:endParaRPr lang="en-US" sz="2000" kern="1200" dirty="0">
              <a:solidFill>
                <a:schemeClr val="tx2"/>
              </a:solidFill>
              <a:latin typeface="+mn-lt"/>
              <a:ea typeface="+mn-ea"/>
              <a:cs typeface="+mn-cs"/>
            </a:endParaRPr>
          </a:p>
        </p:txBody>
      </p:sp>
      <p:pic>
        <p:nvPicPr>
          <p:cNvPr id="5" name="Picture 4">
            <a:extLst>
              <a:ext uri="{FF2B5EF4-FFF2-40B4-BE49-F238E27FC236}">
                <a16:creationId xmlns:a16="http://schemas.microsoft.com/office/drawing/2014/main" id="{B4C3A124-6E47-7953-87D8-73596B42CDEF}"/>
              </a:ext>
            </a:extLst>
          </p:cNvPr>
          <p:cNvPicPr>
            <a:picLocks noChangeAspect="1"/>
          </p:cNvPicPr>
          <p:nvPr/>
        </p:nvPicPr>
        <p:blipFill>
          <a:blip r:embed="rId3"/>
          <a:stretch>
            <a:fillRect/>
          </a:stretch>
        </p:blipFill>
        <p:spPr>
          <a:xfrm>
            <a:off x="11915752" y="6506188"/>
            <a:ext cx="275943" cy="351811"/>
          </a:xfrm>
          <a:prstGeom prst="rect">
            <a:avLst/>
          </a:prstGeom>
        </p:spPr>
      </p:pic>
    </p:spTree>
    <p:extLst>
      <p:ext uri="{BB962C8B-B14F-4D97-AF65-F5344CB8AC3E}">
        <p14:creationId xmlns:p14="http://schemas.microsoft.com/office/powerpoint/2010/main" val="1301457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04FBABFF866542BEF14ADE39C0CF28" ma:contentTypeVersion="5" ma:contentTypeDescription="Create a new document." ma:contentTypeScope="" ma:versionID="8bfc4dfdde91c2b8e27585cd14ba5118">
  <xsd:schema xmlns:xsd="http://www.w3.org/2001/XMLSchema" xmlns:xs="http://www.w3.org/2001/XMLSchema" xmlns:p="http://schemas.microsoft.com/office/2006/metadata/properties" xmlns:ns3="46af0f8e-12e9-49d0-bd57-b68017d001e0" targetNamespace="http://schemas.microsoft.com/office/2006/metadata/properties" ma:root="true" ma:fieldsID="e1c0e18e366b70c50840082e46a73f56" ns3:_="">
    <xsd:import namespace="46af0f8e-12e9-49d0-bd57-b68017d001e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f0f8e-12e9-49d0-bd57-b68017d001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6af0f8e-12e9-49d0-bd57-b68017d001e0" xsi:nil="true"/>
  </documentManagement>
</p:properties>
</file>

<file path=customXml/itemProps1.xml><?xml version="1.0" encoding="utf-8"?>
<ds:datastoreItem xmlns:ds="http://schemas.openxmlformats.org/officeDocument/2006/customXml" ds:itemID="{8654FB06-119F-4051-BACA-FE4EAF64B7A7}">
  <ds:schemaRefs>
    <ds:schemaRef ds:uri="46af0f8e-12e9-49d0-bd57-b68017d001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2A8011B-C7C4-4664-AFAB-15AD5F245F2E}">
  <ds:schemaRefs>
    <ds:schemaRef ds:uri="http://schemas.microsoft.com/sharepoint/v3/contenttype/forms"/>
  </ds:schemaRefs>
</ds:datastoreItem>
</file>

<file path=customXml/itemProps3.xml><?xml version="1.0" encoding="utf-8"?>
<ds:datastoreItem xmlns:ds="http://schemas.openxmlformats.org/officeDocument/2006/customXml" ds:itemID="{23DA4FC1-668E-4A2C-82DC-59781DD2EF28}">
  <ds:schemaRefs>
    <ds:schemaRef ds:uri="http://www.w3.org/XML/1998/namespace"/>
    <ds:schemaRef ds:uri="http://schemas.microsoft.com/office/2006/documentManagement/types"/>
    <ds:schemaRef ds:uri="http://purl.org/dc/elements/1.1/"/>
    <ds:schemaRef ds:uri="http://purl.org/dc/terms/"/>
    <ds:schemaRef ds:uri="46af0f8e-12e9-49d0-bd57-b68017d001e0"/>
    <ds:schemaRef ds:uri="http://schemas.openxmlformats.org/package/2006/metadata/core-properties"/>
    <ds:schemaRef ds:uri="http://schemas.microsoft.com/office/2006/metadata/properti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14</TotalTime>
  <Words>1949</Words>
  <Application>Microsoft Office PowerPoint</Application>
  <PresentationFormat>Widescreen</PresentationFormat>
  <Paragraphs>130</Paragraphs>
  <Slides>22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AI in Cybersecurity</vt:lpstr>
      <vt:lpstr>AI in SOC’s</vt:lpstr>
      <vt:lpstr>How exactly does AI assist in a SOC environment</vt:lpstr>
      <vt:lpstr>PowerPoint Presentation</vt:lpstr>
      <vt:lpstr>Behaviours analytics</vt:lpstr>
      <vt:lpstr>Automation of Incident Response</vt:lpstr>
      <vt:lpstr>Defensive AI: Blue Team Applications</vt:lpstr>
      <vt:lpstr>Where AI isn't a good idea </vt:lpstr>
      <vt:lpstr>Cryptography &amp; AI: Encrypted Traffic Analysis without Decryption</vt:lpstr>
      <vt:lpstr>Offensive AI: Red Team &amp; Pen testing</vt:lpstr>
      <vt:lpstr>The Adversary's Toolkit: How threat actors leverage AI</vt:lpstr>
      <vt:lpstr>AI-assisted Reconnaissance and OSINT</vt:lpstr>
      <vt:lpstr>Intelligent Fuzzing: Automating vulnerability discovery</vt:lpstr>
      <vt:lpstr>Payload Generation and Evasion techniques</vt:lpstr>
      <vt:lpstr>Automating exploit chains: AI in tools</vt:lpstr>
      <vt:lpstr>Statistics on AI-enabled adversaries</vt:lpstr>
      <vt:lpstr>CrowdStrike 2026 Global Threat Report</vt:lpstr>
      <vt:lpstr>AI-Driven Attack Velocity</vt:lpstr>
      <vt:lpstr>New Attack Surface: AI Systems</vt:lpstr>
      <vt:lpstr>Nation-State AI Activities</vt:lpstr>
      <vt:lpstr>OWASP for LLM Applications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Deniz Turgut</dc:creator>
  <cp:lastModifiedBy>Deniz Turgut</cp:lastModifiedBy>
  <cp:revision>212</cp:revision>
  <dcterms:created xsi:type="dcterms:W3CDTF">2026-05-02T10:41:20Z</dcterms:created>
  <dcterms:modified xsi:type="dcterms:W3CDTF">2026-05-07T12:31:44Z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0x0101006904FBABFF866542BEF14ADE39C0CF28</vt:lpwstr>
  </property>
</Properties>
</file>