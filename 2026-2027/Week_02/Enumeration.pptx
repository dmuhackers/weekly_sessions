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embeddedFontLst>
    <p:embeddedFont>
      <p:font typeface="IBM Plex Sans"/>
      <p:regular r:id="rId33"/>
      <p:bold r:id="rId34"/>
      <p:italic r:id="rId35"/>
      <p:boldItalic r:id="rId36"/>
    </p:embeddedFont>
    <p:embeddedFont>
      <p:font typeface="Play"/>
      <p:regular r:id="rId37"/>
      <p:bold r:id="rId38"/>
    </p:embeddedFont>
    <p:embeddedFont>
      <p:font typeface="Alice"/>
      <p:regular r:id="rId39"/>
    </p:embeddedFont>
    <p:embeddedFont>
      <p:font typeface="Poppins SemiBold"/>
      <p:regular r:id="rId40"/>
      <p:bold r:id="rId41"/>
      <p:italic r:id="rId42"/>
      <p:boldItalic r:id="rId43"/>
    </p:embeddedFont>
    <p:embeddedFont>
      <p:font typeface="Oswald"/>
      <p:regular r:id="rId44"/>
      <p:bold r:id="rId45"/>
    </p:embeddedFont>
    <p:embeddedFont>
      <p:font typeface="Space Grotesk"/>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i8kbsvbT3RbWbQFmLY2ymJwNex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oppinsSemiBold-regular.fntdata"/><Relationship Id="rId20" Type="http://schemas.openxmlformats.org/officeDocument/2006/relationships/slide" Target="slides/slide16.xml"/><Relationship Id="rId42" Type="http://schemas.openxmlformats.org/officeDocument/2006/relationships/font" Target="fonts/PoppinsSemiBold-italic.fntdata"/><Relationship Id="rId41" Type="http://schemas.openxmlformats.org/officeDocument/2006/relationships/font" Target="fonts/PoppinsSemiBold-bold.fntdata"/><Relationship Id="rId22" Type="http://schemas.openxmlformats.org/officeDocument/2006/relationships/slide" Target="slides/slide18.xml"/><Relationship Id="rId44" Type="http://schemas.openxmlformats.org/officeDocument/2006/relationships/font" Target="fonts/Oswald-regular.fntdata"/><Relationship Id="rId21" Type="http://schemas.openxmlformats.org/officeDocument/2006/relationships/slide" Target="slides/slide17.xml"/><Relationship Id="rId43" Type="http://schemas.openxmlformats.org/officeDocument/2006/relationships/font" Target="fonts/PoppinsSemiBold-boldItalic.fntdata"/><Relationship Id="rId24" Type="http://schemas.openxmlformats.org/officeDocument/2006/relationships/slide" Target="slides/slide20.xml"/><Relationship Id="rId46" Type="http://schemas.openxmlformats.org/officeDocument/2006/relationships/font" Target="fonts/SpaceGrotesk-regular.fntdata"/><Relationship Id="rId23" Type="http://schemas.openxmlformats.org/officeDocument/2006/relationships/slide" Target="slides/slide19.xml"/><Relationship Id="rId45" Type="http://schemas.openxmlformats.org/officeDocument/2006/relationships/font" Target="fonts/Oswal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customschemas.google.com/relationships/presentationmetadata" Target="metadata"/><Relationship Id="rId25" Type="http://schemas.openxmlformats.org/officeDocument/2006/relationships/slide" Target="slides/slide21.xml"/><Relationship Id="rId47" Type="http://schemas.openxmlformats.org/officeDocument/2006/relationships/font" Target="fonts/SpaceGrotesk-bold.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IBMPlexSans-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IBMPlexSans-italic.fntdata"/><Relationship Id="rId12" Type="http://schemas.openxmlformats.org/officeDocument/2006/relationships/slide" Target="slides/slide8.xml"/><Relationship Id="rId34" Type="http://schemas.openxmlformats.org/officeDocument/2006/relationships/font" Target="fonts/IBMPlexSans-bold.fntdata"/><Relationship Id="rId15" Type="http://schemas.openxmlformats.org/officeDocument/2006/relationships/slide" Target="slides/slide11.xml"/><Relationship Id="rId37" Type="http://schemas.openxmlformats.org/officeDocument/2006/relationships/font" Target="fonts/Play-regular.fntdata"/><Relationship Id="rId14" Type="http://schemas.openxmlformats.org/officeDocument/2006/relationships/slide" Target="slides/slide10.xml"/><Relationship Id="rId36" Type="http://schemas.openxmlformats.org/officeDocument/2006/relationships/font" Target="fonts/IBMPlexSans-boldItalic.fntdata"/><Relationship Id="rId17" Type="http://schemas.openxmlformats.org/officeDocument/2006/relationships/slide" Target="slides/slide13.xml"/><Relationship Id="rId39" Type="http://schemas.openxmlformats.org/officeDocument/2006/relationships/font" Target="fonts/Alice-regular.fntdata"/><Relationship Id="rId16" Type="http://schemas.openxmlformats.org/officeDocument/2006/relationships/slide" Target="slides/slide12.xml"/><Relationship Id="rId38" Type="http://schemas.openxmlformats.org/officeDocument/2006/relationships/font" Target="fonts/Play-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b9b407a205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b9b407a205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9b407a205_1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3b9b407a205_1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ba0224ced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g38ba0224ced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ba0224e5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g38ba0224e5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6da5aa7a38095804_1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h6da5aa7a38095804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h6da5aa7a38095804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h6da5aa7a38095804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8ba0224ced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8ba0224ced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6da5aa7a38095804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h6da5aa7a38095804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6da5aa7a38095804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h6da5aa7a38095804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h6da5aa7a38095804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h6da5aa7a38095804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h6da5aa7a38095804_1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h6da5aa7a38095804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h6da5aa7a38095804_1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h6da5aa7a38095804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6da5aa7a38095804_1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h6da5aa7a38095804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6da5aa7a38095804_1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h6da5aa7a38095804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h6da5aa7a38095804_1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h6da5aa7a38095804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6da5aa7a38095804_1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h6da5aa7a38095804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6da5aa7a38095804_1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h6da5aa7a38095804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6da5aa7a38095804_1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h6da5aa7a38095804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h6da5aa7a38095804_1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h6da5aa7a38095804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6da5aa7a38095804_1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h6da5aa7a38095804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h6da5aa7a38095804_1_1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h6da5aa7a38095804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6da5aa7a38095804_1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h6da5aa7a38095804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6da5aa7a38095804_1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h6da5aa7a38095804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h6da5aa7a38095804_1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h6da5aa7a38095804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h6da5aa7a38095804_1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h6da5aa7a38095804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6da5aa7a38095804_1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h6da5aa7a38095804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b9f49548e7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3b9f49548e7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b9b407a205_1_1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3b9b407a205_1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b="1">
                <a:solidFill>
                  <a:schemeClr val="lt1"/>
                </a:solidFill>
                <a:latin typeface="Space Grotesk"/>
                <a:ea typeface="Space Grotesk"/>
                <a:cs typeface="Space Grotesk"/>
                <a:sym typeface="Space Grotes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sz="2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 name="Shape 19"/>
        <p:cNvGrpSpPr/>
        <p:nvPr/>
      </p:nvGrpSpPr>
      <p:grpSpPr>
        <a:xfrm>
          <a:off x="0" y="0"/>
          <a:ext cx="0" cy="0"/>
          <a:chOff x="0" y="0"/>
          <a:chExt cx="0" cy="0"/>
        </a:xfrm>
      </p:grpSpPr>
      <p:sp>
        <p:nvSpPr>
          <p:cNvPr id="20" name="Google Shape;20;p3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3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 name="Google Shape;26;p3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35"/>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5"/>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2" name="Google Shape;32;p3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3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6"/>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6"/>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3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37"/>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7"/>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7"/>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7"/>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37"/>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3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4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0"/>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40"/>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4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41"/>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1"/>
          <p:cNvSpPr/>
          <p:nvPr>
            <p:ph idx="2" type="pic"/>
          </p:nvPr>
        </p:nvSpPr>
        <p:spPr>
          <a:xfrm>
            <a:off x="5183188" y="987425"/>
            <a:ext cx="6172200" cy="4873500"/>
          </a:xfrm>
          <a:prstGeom prst="rect">
            <a:avLst/>
          </a:prstGeom>
          <a:noFill/>
          <a:ln>
            <a:noFill/>
          </a:ln>
        </p:spPr>
      </p:sp>
      <p:sp>
        <p:nvSpPr>
          <p:cNvPr id="66" name="Google Shape;66;p41"/>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4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4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2"/>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4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43"/>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3"/>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4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pc="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7" name="Google Shape;7;p3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pc="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pc="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pc="0" sz="1800" u="none" cap="none" strike="noStrike">
                <a:solidFill>
                  <a:schemeClr val="dk1"/>
                </a:solidFill>
                <a:latin typeface="Arial"/>
                <a:ea typeface="Arial"/>
                <a:cs typeface="Arial"/>
                <a:sym typeface="Arial"/>
              </a:defRPr>
            </a:lvl9pPr>
          </a:lstStyle>
          <a:p/>
        </p:txBody>
      </p:sp>
      <p:sp>
        <p:nvSpPr>
          <p:cNvPr id="8" name="Google Shape;8;p3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9" name="Google Shape;9;p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pc="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10" name="Google Shape;10;p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pc="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32"/>
          <p:cNvSpPr/>
          <p:nvPr/>
        </p:nvSpPr>
        <p:spPr>
          <a:xfrm>
            <a:off x="60963" y="-4287"/>
            <a:ext cx="12070080" cy="6866573"/>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1">
              <a:alphaModFix/>
            </a:blip>
            <a:stretch>
              <a:fillRect b="-9216" l="0" r="0" t="-9216"/>
            </a:stretch>
          </a:blipFill>
          <a:ln>
            <a:noFill/>
          </a:ln>
        </p:spPr>
      </p:sp>
      <p:pic>
        <p:nvPicPr>
          <p:cNvPr id="12" name="Google Shape;12;p32" title="2.png"/>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gradcracker.com" TargetMode="External"/><Relationship Id="rId4" Type="http://schemas.openxmlformats.org/officeDocument/2006/relationships/image" Target="../media/image32.png"/><Relationship Id="rId5" Type="http://schemas.openxmlformats.org/officeDocument/2006/relationships/image" Target="../media/image18.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4.png"/><Relationship Id="rId7"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3.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4.gif"/><Relationship Id="rId5" Type="http://schemas.openxmlformats.org/officeDocument/2006/relationships/image" Target="../media/image15.gif"/><Relationship Id="rId6" Type="http://schemas.openxmlformats.org/officeDocument/2006/relationships/image" Target="../media/image26.gif"/><Relationship Id="rId7" Type="http://schemas.openxmlformats.org/officeDocument/2006/relationships/image" Target="../media/image40.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gif"/><Relationship Id="rId4" Type="http://schemas.openxmlformats.org/officeDocument/2006/relationships/image" Target="../media/image29.gif"/><Relationship Id="rId5"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dmuhackers.com/robots.txt" TargetMode="External"/><Relationship Id="rId4" Type="http://schemas.openxmlformats.org/officeDocument/2006/relationships/image" Target="../media/image41.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tryhackme.com/room/bruteit" TargetMode="Externa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5" name="Shape 85"/>
        <p:cNvGrpSpPr/>
        <p:nvPr/>
      </p:nvGrpSpPr>
      <p:grpSpPr>
        <a:xfrm>
          <a:off x="0" y="0"/>
          <a:ext cx="0" cy="0"/>
          <a:chOff x="0" y="0"/>
          <a:chExt cx="0" cy="0"/>
        </a:xfrm>
      </p:grpSpPr>
      <p:pic>
        <p:nvPicPr>
          <p:cNvPr id="86" name="Google Shape;86;g3b9b407a205_1_0"/>
          <p:cNvPicPr preferRelativeResize="0"/>
          <p:nvPr/>
        </p:nvPicPr>
        <p:blipFill rotWithShape="1">
          <a:blip r:embed="rId3">
            <a:alphaModFix/>
          </a:blip>
          <a:srcRect b="0" l="0" r="0" t="0"/>
          <a:stretch/>
        </p:blipFill>
        <p:spPr>
          <a:xfrm>
            <a:off x="0" y="48001"/>
            <a:ext cx="12192000" cy="67818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b9b407a205_1_1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Announcements</a:t>
            </a:r>
            <a:endParaRPr/>
          </a:p>
        </p:txBody>
      </p:sp>
      <p:sp>
        <p:nvSpPr>
          <p:cNvPr id="92" name="Google Shape;92;g3b9b407a205_1_124"/>
          <p:cNvSpPr txBox="1"/>
          <p:nvPr>
            <p:ph idx="1" type="body"/>
          </p:nvPr>
        </p:nvSpPr>
        <p:spPr>
          <a:xfrm>
            <a:off x="838200" y="1690825"/>
            <a:ext cx="10955700" cy="4562700"/>
          </a:xfrm>
          <a:prstGeom prst="rect">
            <a:avLst/>
          </a:prstGeom>
          <a:noFill/>
          <a:ln>
            <a:noFill/>
          </a:ln>
        </p:spPr>
        <p:txBody>
          <a:bodyPr anchorCtr="0" anchor="t" bIns="45700" lIns="91425" spcFirstLastPara="1" rIns="91425" wrap="square" tIns="45700">
            <a:normAutofit/>
          </a:bodyPr>
          <a:lstStyle/>
          <a:p>
            <a:pPr indent="-406400" lvl="0" marL="457200" rtl="0" algn="l">
              <a:lnSpc>
                <a:spcPct val="90000"/>
              </a:lnSpc>
              <a:spcBef>
                <a:spcPts val="1000"/>
              </a:spcBef>
              <a:spcAft>
                <a:spcPts val="0"/>
              </a:spcAft>
              <a:buClr>
                <a:schemeClr val="lt1"/>
              </a:buClr>
              <a:buSzPts val="2800"/>
              <a:buChar char="•"/>
            </a:pPr>
            <a:r>
              <a:rPr lang="en-US" sz="2800">
                <a:solidFill>
                  <a:schemeClr val="lt1"/>
                </a:solidFill>
              </a:rPr>
              <a:t>Week 2/4 of Free Tasters</a:t>
            </a:r>
            <a:endParaRPr sz="2800">
              <a:solidFill>
                <a:schemeClr val="lt1"/>
              </a:solidFill>
            </a:endParaRPr>
          </a:p>
          <a:p>
            <a:pPr indent="-406400" lvl="0" marL="457200" rtl="0" algn="l">
              <a:lnSpc>
                <a:spcPct val="90000"/>
              </a:lnSpc>
              <a:spcBef>
                <a:spcPts val="1000"/>
              </a:spcBef>
              <a:spcAft>
                <a:spcPts val="0"/>
              </a:spcAft>
              <a:buClr>
                <a:schemeClr val="lt1"/>
              </a:buClr>
              <a:buSzPts val="2800"/>
              <a:buChar char="•"/>
            </a:pPr>
            <a:r>
              <a:rPr lang="en-US" sz="2800">
                <a:solidFill>
                  <a:schemeClr val="lt1"/>
                </a:solidFill>
              </a:rPr>
              <a:t>We’re going Spoons after for a chat (more the merrier!!!)</a:t>
            </a:r>
            <a:endParaRPr sz="2800">
              <a:solidFill>
                <a:schemeClr val="lt1"/>
              </a:solidFill>
            </a:endParaRPr>
          </a:p>
          <a:p>
            <a:pPr indent="-406400" lvl="0" marL="457200" rtl="0" algn="l">
              <a:lnSpc>
                <a:spcPct val="90000"/>
              </a:lnSpc>
              <a:spcBef>
                <a:spcPts val="1000"/>
              </a:spcBef>
              <a:spcAft>
                <a:spcPts val="0"/>
              </a:spcAft>
              <a:buClr>
                <a:schemeClr val="lt1"/>
              </a:buClr>
              <a:buSzPts val="2800"/>
              <a:buChar char="•"/>
            </a:pPr>
            <a:r>
              <a:rPr lang="en-US" sz="2800">
                <a:solidFill>
                  <a:schemeClr val="lt1"/>
                </a:solidFill>
              </a:rPr>
              <a:t>Gradcracker Books Soon (</a:t>
            </a:r>
            <a:r>
              <a:rPr lang="en-US" sz="2800" u="sng">
                <a:solidFill>
                  <a:srgbClr val="FF0000"/>
                </a:solidFill>
                <a:hlinkClick r:id="rId3">
                  <a:extLst>
                    <a:ext uri="{A12FA001-AC4F-418D-AE19-62706E023703}">
                      <ahyp:hlinkClr val="tx"/>
                    </a:ext>
                  </a:extLst>
                </a:hlinkClick>
              </a:rPr>
              <a:t>Gradcracker.com</a:t>
            </a:r>
            <a:r>
              <a:rPr lang="en-US" sz="2800">
                <a:solidFill>
                  <a:schemeClr val="lt1"/>
                </a:solidFill>
              </a:rPr>
              <a:t>)</a:t>
            </a:r>
            <a:endParaRPr sz="2800">
              <a:solidFill>
                <a:schemeClr val="lt1"/>
              </a:solidFill>
            </a:endParaRPr>
          </a:p>
          <a:p>
            <a:pPr indent="-406400" lvl="0" marL="457200" rtl="0" algn="l">
              <a:lnSpc>
                <a:spcPct val="90000"/>
              </a:lnSpc>
              <a:spcBef>
                <a:spcPts val="1000"/>
              </a:spcBef>
              <a:spcAft>
                <a:spcPts val="0"/>
              </a:spcAft>
              <a:buClr>
                <a:schemeClr val="lt1"/>
              </a:buClr>
              <a:buSzPts val="2800"/>
              <a:buChar char="•"/>
            </a:pPr>
            <a:r>
              <a:rPr lang="en-US" sz="2800">
                <a:solidFill>
                  <a:schemeClr val="lt1"/>
                </a:solidFill>
              </a:rPr>
              <a:t>Week 4 Talk is a Guest Talk, Don’t miss out!!</a:t>
            </a:r>
            <a:endParaRPr sz="2800">
              <a:solidFill>
                <a:schemeClr val="lt1"/>
              </a:solidFill>
            </a:endParaRPr>
          </a:p>
          <a:p>
            <a:pPr indent="-406400" lvl="0" marL="457200" rtl="0" algn="l">
              <a:lnSpc>
                <a:spcPct val="90000"/>
              </a:lnSpc>
              <a:spcBef>
                <a:spcPts val="1000"/>
              </a:spcBef>
              <a:spcAft>
                <a:spcPts val="0"/>
              </a:spcAft>
              <a:buClr>
                <a:schemeClr val="lt1"/>
              </a:buClr>
              <a:buSzPts val="2800"/>
              <a:buChar char="•"/>
            </a:pPr>
            <a:r>
              <a:rPr lang="en-US" sz="2800">
                <a:solidFill>
                  <a:schemeClr val="lt1"/>
                </a:solidFill>
              </a:rPr>
              <a:t>Week 4 is also a Halloween Social so come dressed up!</a:t>
            </a:r>
            <a:endParaRPr sz="2800">
              <a:solidFill>
                <a:schemeClr val="lt1"/>
              </a:solidFill>
            </a:endParaRPr>
          </a:p>
          <a:p>
            <a:pPr indent="-406400" lvl="0" marL="457200" rtl="0" algn="l">
              <a:lnSpc>
                <a:spcPct val="90000"/>
              </a:lnSpc>
              <a:spcBef>
                <a:spcPts val="1000"/>
              </a:spcBef>
              <a:spcAft>
                <a:spcPts val="0"/>
              </a:spcAft>
              <a:buClr>
                <a:schemeClr val="lt1"/>
              </a:buClr>
              <a:buSzPts val="2800"/>
              <a:buChar char="•"/>
            </a:pPr>
            <a:r>
              <a:rPr lang="en-US" sz="2800">
                <a:solidFill>
                  <a:schemeClr val="lt1"/>
                </a:solidFill>
              </a:rPr>
              <a:t>CTF in Malaysia (Check Discord for more details) </a:t>
            </a:r>
            <a:endParaRPr sz="2800">
              <a:solidFill>
                <a:schemeClr val="lt1"/>
              </a:solidFill>
            </a:endParaRPr>
          </a:p>
        </p:txBody>
      </p:sp>
      <p:pic>
        <p:nvPicPr>
          <p:cNvPr id="93" name="Google Shape;93;g3b9b407a205_1_124"/>
          <p:cNvPicPr preferRelativeResize="0"/>
          <p:nvPr/>
        </p:nvPicPr>
        <p:blipFill>
          <a:blip r:embed="rId4">
            <a:alphaModFix/>
          </a:blip>
          <a:stretch>
            <a:fillRect/>
          </a:stretch>
        </p:blipFill>
        <p:spPr>
          <a:xfrm>
            <a:off x="7680212" y="4717450"/>
            <a:ext cx="2769199" cy="1846150"/>
          </a:xfrm>
          <a:prstGeom prst="rect">
            <a:avLst/>
          </a:prstGeom>
          <a:noFill/>
          <a:ln>
            <a:noFill/>
          </a:ln>
        </p:spPr>
      </p:pic>
      <p:pic>
        <p:nvPicPr>
          <p:cNvPr id="94" name="Google Shape;94;g3b9b407a205_1_124"/>
          <p:cNvPicPr preferRelativeResize="0"/>
          <p:nvPr/>
        </p:nvPicPr>
        <p:blipFill>
          <a:blip r:embed="rId5">
            <a:alphaModFix/>
          </a:blip>
          <a:stretch>
            <a:fillRect/>
          </a:stretch>
        </p:blipFill>
        <p:spPr>
          <a:xfrm>
            <a:off x="10368375" y="1948425"/>
            <a:ext cx="1672524" cy="940825"/>
          </a:xfrm>
          <a:prstGeom prst="rect">
            <a:avLst/>
          </a:prstGeom>
          <a:noFill/>
          <a:ln>
            <a:noFill/>
          </a:ln>
        </p:spPr>
      </p:pic>
      <p:pic>
        <p:nvPicPr>
          <p:cNvPr id="95" name="Google Shape;95;g3b9b407a205_1_124"/>
          <p:cNvPicPr preferRelativeResize="0"/>
          <p:nvPr/>
        </p:nvPicPr>
        <p:blipFill>
          <a:blip r:embed="rId6">
            <a:alphaModFix/>
          </a:blip>
          <a:stretch>
            <a:fillRect/>
          </a:stretch>
        </p:blipFill>
        <p:spPr>
          <a:xfrm>
            <a:off x="8717800" y="2633498"/>
            <a:ext cx="694025" cy="694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9" name="Shape 99"/>
        <p:cNvGrpSpPr/>
        <p:nvPr/>
      </p:nvGrpSpPr>
      <p:grpSpPr>
        <a:xfrm>
          <a:off x="0" y="0"/>
          <a:ext cx="0" cy="0"/>
          <a:chOff x="0" y="0"/>
          <a:chExt cx="0" cy="0"/>
        </a:xfrm>
      </p:grpSpPr>
      <p:sp>
        <p:nvSpPr>
          <p:cNvPr id="100" name="Google Shape;100;g38ba0224ced_1_0"/>
          <p:cNvSpPr/>
          <p:nvPr/>
        </p:nvSpPr>
        <p:spPr>
          <a:xfrm>
            <a:off x="0" y="0"/>
            <a:ext cx="12207240" cy="8138160"/>
          </a:xfrm>
          <a:custGeom>
            <a:rect b="b" l="l" r="r" t="t"/>
            <a:pathLst>
              <a:path extrusionOk="0" h="12192000" w="18288000">
                <a:moveTo>
                  <a:pt x="0" y="0"/>
                </a:moveTo>
                <a:lnTo>
                  <a:pt x="18288000" y="0"/>
                </a:lnTo>
                <a:lnTo>
                  <a:pt x="18288000" y="12192000"/>
                </a:lnTo>
                <a:lnTo>
                  <a:pt x="0" y="12192000"/>
                </a:lnTo>
                <a:lnTo>
                  <a:pt x="0" y="0"/>
                </a:lnTo>
                <a:close/>
              </a:path>
            </a:pathLst>
          </a:custGeom>
          <a:blipFill rotWithShape="1">
            <a:blip r:embed="rId3">
              <a:alphaModFix amt="42000"/>
            </a:blip>
            <a:stretch>
              <a:fillRect b="0" l="0" r="0" t="0"/>
            </a:stretch>
          </a:blipFill>
          <a:ln>
            <a:noFill/>
          </a:ln>
        </p:spPr>
      </p:sp>
      <p:grpSp>
        <p:nvGrpSpPr>
          <p:cNvPr id="101" name="Google Shape;101;g38ba0224ced_1_0"/>
          <p:cNvGrpSpPr/>
          <p:nvPr/>
        </p:nvGrpSpPr>
        <p:grpSpPr>
          <a:xfrm>
            <a:off x="-294365" y="2516811"/>
            <a:ext cx="12780788" cy="4341261"/>
            <a:chOff x="0" y="-38100"/>
            <a:chExt cx="5049300" cy="1715100"/>
          </a:xfrm>
        </p:grpSpPr>
        <p:sp>
          <p:nvSpPr>
            <p:cNvPr id="102" name="Google Shape;102;g38ba0224ced_1_0"/>
            <p:cNvSpPr/>
            <p:nvPr/>
          </p:nvSpPr>
          <p:spPr>
            <a:xfrm>
              <a:off x="0" y="0"/>
              <a:ext cx="5049177" cy="1676939"/>
            </a:xfrm>
            <a:custGeom>
              <a:rect b="b" l="l" r="r" t="t"/>
              <a:pathLst>
                <a:path extrusionOk="0" h="1676939" w="5049177">
                  <a:moveTo>
                    <a:pt x="0" y="0"/>
                  </a:moveTo>
                  <a:lnTo>
                    <a:pt x="5049177" y="0"/>
                  </a:lnTo>
                  <a:lnTo>
                    <a:pt x="5049177" y="1676939"/>
                  </a:lnTo>
                  <a:lnTo>
                    <a:pt x="0" y="1676939"/>
                  </a:lnTo>
                  <a:close/>
                </a:path>
              </a:pathLst>
            </a:custGeom>
            <a:gradFill>
              <a:gsLst>
                <a:gs pos="0">
                  <a:srgbClr val="000000">
                    <a:alpha val="0"/>
                  </a:srgbClr>
                </a:gs>
                <a:gs pos="100000">
                  <a:srgbClr val="000000"/>
                </a:gs>
              </a:gsLst>
              <a:lin ang="5400012" scaled="0"/>
            </a:gradFill>
            <a:ln>
              <a:noFill/>
            </a:ln>
          </p:spPr>
        </p:sp>
        <p:sp>
          <p:nvSpPr>
            <p:cNvPr id="103" name="Google Shape;103;g38ba0224ced_1_0"/>
            <p:cNvSpPr txBox="1"/>
            <p:nvPr/>
          </p:nvSpPr>
          <p:spPr>
            <a:xfrm>
              <a:off x="0" y="-38100"/>
              <a:ext cx="5049300" cy="17151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pc="0" sz="1200" u="none" cap="none" strike="noStrike">
                <a:solidFill>
                  <a:schemeClr val="dk1"/>
                </a:solidFill>
                <a:latin typeface="Calibri"/>
                <a:ea typeface="Calibri"/>
                <a:cs typeface="Calibri"/>
                <a:sym typeface="Calibri"/>
              </a:endParaRPr>
            </a:p>
          </p:txBody>
        </p:sp>
      </p:grpSp>
      <p:grpSp>
        <p:nvGrpSpPr>
          <p:cNvPr id="104" name="Google Shape;104;g38ba0224ced_1_0"/>
          <p:cNvGrpSpPr/>
          <p:nvPr/>
        </p:nvGrpSpPr>
        <p:grpSpPr>
          <a:xfrm>
            <a:off x="677963" y="3954546"/>
            <a:ext cx="10820186" cy="2268968"/>
            <a:chOff x="0" y="-38100"/>
            <a:chExt cx="4274726" cy="896400"/>
          </a:xfrm>
        </p:grpSpPr>
        <p:sp>
          <p:nvSpPr>
            <p:cNvPr id="105" name="Google Shape;105;g38ba0224ced_1_0"/>
            <p:cNvSpPr/>
            <p:nvPr/>
          </p:nvSpPr>
          <p:spPr>
            <a:xfrm>
              <a:off x="0" y="0"/>
              <a:ext cx="4274726" cy="858201"/>
            </a:xfrm>
            <a:custGeom>
              <a:rect b="b" l="l" r="r" t="t"/>
              <a:pathLst>
                <a:path extrusionOk="0" h="858201" w="4274726">
                  <a:moveTo>
                    <a:pt x="28620" y="0"/>
                  </a:moveTo>
                  <a:lnTo>
                    <a:pt x="4246106" y="0"/>
                  </a:lnTo>
                  <a:cubicBezTo>
                    <a:pt x="4261912" y="0"/>
                    <a:pt x="4274726" y="12813"/>
                    <a:pt x="4274726" y="28620"/>
                  </a:cubicBezTo>
                  <a:lnTo>
                    <a:pt x="4274726" y="829581"/>
                  </a:lnTo>
                  <a:cubicBezTo>
                    <a:pt x="4274726" y="845387"/>
                    <a:pt x="4261912" y="858201"/>
                    <a:pt x="4246106" y="858201"/>
                  </a:cubicBezTo>
                  <a:lnTo>
                    <a:pt x="28620" y="858201"/>
                  </a:lnTo>
                  <a:cubicBezTo>
                    <a:pt x="12813" y="858201"/>
                    <a:pt x="0" y="845387"/>
                    <a:pt x="0" y="829581"/>
                  </a:cubicBezTo>
                  <a:lnTo>
                    <a:pt x="0" y="28620"/>
                  </a:lnTo>
                  <a:cubicBezTo>
                    <a:pt x="0" y="12813"/>
                    <a:pt x="12813" y="0"/>
                    <a:pt x="28620" y="0"/>
                  </a:cubicBezTo>
                  <a:close/>
                </a:path>
              </a:pathLst>
            </a:custGeom>
            <a:solidFill>
              <a:srgbClr val="000000">
                <a:alpha val="0"/>
              </a:srgbClr>
            </a:solidFill>
            <a:ln cap="rnd" cmpd="sng" w="50800">
              <a:solidFill>
                <a:srgbClr val="FFFFFF">
                  <a:alpha val="60000"/>
                </a:srgbClr>
              </a:solidFill>
              <a:prstDash val="solid"/>
              <a:round/>
              <a:headEnd len="sm" w="sm" type="none"/>
              <a:tailEnd len="sm" w="sm" type="none"/>
            </a:ln>
          </p:spPr>
          <p:txBody>
            <a:bodyPr anchorCtr="0" anchor="ctr" bIns="60975" lIns="60975" spcFirstLastPara="1" rIns="60975" wrap="square" tIns="60975">
              <a:noAutofit/>
            </a:bodyPr>
            <a:lstStyle/>
            <a:p>
              <a:pPr indent="0" lvl="0" marL="0" marR="0" rtl="0" algn="l">
                <a:lnSpc>
                  <a:spcPct val="100000"/>
                </a:lnSpc>
                <a:spcBef>
                  <a:spcPts val="0"/>
                </a:spcBef>
                <a:spcAft>
                  <a:spcPts val="0"/>
                </a:spcAft>
                <a:buClr>
                  <a:srgbClr val="000000"/>
                </a:buClr>
                <a:buSzPts val="1900"/>
                <a:buFont typeface="Arial"/>
                <a:buNone/>
              </a:pPr>
              <a:r>
                <a:t/>
              </a:r>
              <a:endParaRPr b="0" i="0" spc="0" sz="1900" u="none" cap="none" strike="noStrike">
                <a:solidFill>
                  <a:srgbClr val="000000"/>
                </a:solidFill>
                <a:latin typeface="Arial"/>
                <a:ea typeface="Arial"/>
                <a:cs typeface="Arial"/>
                <a:sym typeface="Arial"/>
              </a:endParaRPr>
            </a:p>
          </p:txBody>
        </p:sp>
        <p:sp>
          <p:nvSpPr>
            <p:cNvPr id="106" name="Google Shape;106;g38ba0224ced_1_0"/>
            <p:cNvSpPr txBox="1"/>
            <p:nvPr/>
          </p:nvSpPr>
          <p:spPr>
            <a:xfrm>
              <a:off x="0" y="-38100"/>
              <a:ext cx="4274700" cy="896400"/>
            </a:xfrm>
            <a:prstGeom prst="rect">
              <a:avLst/>
            </a:prstGeom>
            <a:noFill/>
            <a:ln>
              <a:noFill/>
            </a:ln>
          </p:spPr>
          <p:txBody>
            <a:bodyPr anchorCtr="0" anchor="ctr" bIns="33875" lIns="33875" spcFirstLastPara="1" rIns="33875" wrap="square" tIns="33875">
              <a:noAutofit/>
            </a:bodyPr>
            <a:lstStyle/>
            <a:p>
              <a:pPr indent="0" lvl="0" marL="0" marR="0" rtl="0" algn="ctr">
                <a:lnSpc>
                  <a:spcPct val="124388"/>
                </a:lnSpc>
                <a:spcBef>
                  <a:spcPts val="0"/>
                </a:spcBef>
                <a:spcAft>
                  <a:spcPts val="0"/>
                </a:spcAft>
                <a:buClr>
                  <a:srgbClr val="000000"/>
                </a:buClr>
                <a:buSzPts val="1200"/>
                <a:buFont typeface="Arial"/>
                <a:buNone/>
              </a:pPr>
              <a:r>
                <a:t/>
              </a:r>
              <a:endParaRPr b="0" i="0" spc="0" sz="1200" u="none" cap="none" strike="noStrike">
                <a:solidFill>
                  <a:schemeClr val="dk1"/>
                </a:solidFill>
                <a:latin typeface="Calibri"/>
                <a:ea typeface="Calibri"/>
                <a:cs typeface="Calibri"/>
                <a:sym typeface="Calibri"/>
              </a:endParaRPr>
            </a:p>
          </p:txBody>
        </p:sp>
      </p:grpSp>
      <p:grpSp>
        <p:nvGrpSpPr>
          <p:cNvPr id="107" name="Google Shape;107;g38ba0224ced_1_0"/>
          <p:cNvGrpSpPr/>
          <p:nvPr/>
        </p:nvGrpSpPr>
        <p:grpSpPr>
          <a:xfrm>
            <a:off x="685800" y="3954546"/>
            <a:ext cx="10820186" cy="2268968"/>
            <a:chOff x="0" y="-38100"/>
            <a:chExt cx="4274726" cy="896400"/>
          </a:xfrm>
        </p:grpSpPr>
        <p:sp>
          <p:nvSpPr>
            <p:cNvPr id="108" name="Google Shape;108;g38ba0224ced_1_0"/>
            <p:cNvSpPr/>
            <p:nvPr/>
          </p:nvSpPr>
          <p:spPr>
            <a:xfrm>
              <a:off x="0" y="0"/>
              <a:ext cx="4274726" cy="858201"/>
            </a:xfrm>
            <a:custGeom>
              <a:rect b="b" l="l" r="r" t="t"/>
              <a:pathLst>
                <a:path extrusionOk="0" h="858201" w="4274726">
                  <a:moveTo>
                    <a:pt x="28620" y="0"/>
                  </a:moveTo>
                  <a:lnTo>
                    <a:pt x="4246106" y="0"/>
                  </a:lnTo>
                  <a:cubicBezTo>
                    <a:pt x="4261912" y="0"/>
                    <a:pt x="4274726" y="12813"/>
                    <a:pt x="4274726" y="28620"/>
                  </a:cubicBezTo>
                  <a:lnTo>
                    <a:pt x="4274726" y="829581"/>
                  </a:lnTo>
                  <a:cubicBezTo>
                    <a:pt x="4274726" y="845387"/>
                    <a:pt x="4261912" y="858201"/>
                    <a:pt x="4246106" y="858201"/>
                  </a:cubicBezTo>
                  <a:lnTo>
                    <a:pt x="28620" y="858201"/>
                  </a:lnTo>
                  <a:cubicBezTo>
                    <a:pt x="12813" y="858201"/>
                    <a:pt x="0" y="845387"/>
                    <a:pt x="0" y="829581"/>
                  </a:cubicBezTo>
                  <a:lnTo>
                    <a:pt x="0" y="28620"/>
                  </a:lnTo>
                  <a:cubicBezTo>
                    <a:pt x="0" y="12813"/>
                    <a:pt x="12813" y="0"/>
                    <a:pt x="28620" y="0"/>
                  </a:cubicBezTo>
                  <a:close/>
                </a:path>
              </a:pathLst>
            </a:custGeom>
            <a:solidFill>
              <a:srgbClr val="FFFFFF">
                <a:alpha val="15294"/>
              </a:srgbClr>
            </a:solidFill>
            <a:ln cap="rnd" cmpd="sng" w="50800">
              <a:solidFill>
                <a:srgbClr val="FFFFFF">
                  <a:alpha val="15294"/>
                </a:srgbClr>
              </a:solidFill>
              <a:prstDash val="solid"/>
              <a:round/>
              <a:headEnd len="sm" w="sm" type="none"/>
              <a:tailEnd len="sm" w="sm" type="none"/>
            </a:ln>
          </p:spPr>
          <p:txBody>
            <a:bodyPr anchorCtr="0" anchor="ctr" bIns="60975" lIns="60975" spcFirstLastPara="1" rIns="60975" wrap="square" tIns="60975">
              <a:noAutofit/>
            </a:bodyPr>
            <a:lstStyle/>
            <a:p>
              <a:pPr indent="0" lvl="0" marL="0" marR="0" rtl="0" algn="l">
                <a:lnSpc>
                  <a:spcPct val="100000"/>
                </a:lnSpc>
                <a:spcBef>
                  <a:spcPts val="0"/>
                </a:spcBef>
                <a:spcAft>
                  <a:spcPts val="0"/>
                </a:spcAft>
                <a:buClr>
                  <a:srgbClr val="000000"/>
                </a:buClr>
                <a:buSzPts val="1900"/>
                <a:buFont typeface="Arial"/>
                <a:buNone/>
              </a:pPr>
              <a:r>
                <a:t/>
              </a:r>
              <a:endParaRPr b="0" i="0" spc="0" sz="1900" u="none" cap="none" strike="noStrike">
                <a:solidFill>
                  <a:srgbClr val="000000"/>
                </a:solidFill>
                <a:latin typeface="Arial"/>
                <a:ea typeface="Arial"/>
                <a:cs typeface="Arial"/>
                <a:sym typeface="Arial"/>
              </a:endParaRPr>
            </a:p>
          </p:txBody>
        </p:sp>
        <p:sp>
          <p:nvSpPr>
            <p:cNvPr id="109" name="Google Shape;109;g38ba0224ced_1_0"/>
            <p:cNvSpPr txBox="1"/>
            <p:nvPr/>
          </p:nvSpPr>
          <p:spPr>
            <a:xfrm>
              <a:off x="0" y="-38100"/>
              <a:ext cx="4274700" cy="896400"/>
            </a:xfrm>
            <a:prstGeom prst="rect">
              <a:avLst/>
            </a:prstGeom>
            <a:noFill/>
            <a:ln>
              <a:noFill/>
            </a:ln>
          </p:spPr>
          <p:txBody>
            <a:bodyPr anchorCtr="0" anchor="ctr" bIns="33875" lIns="33875" spcFirstLastPara="1" rIns="33875" wrap="square" tIns="33875">
              <a:noAutofit/>
            </a:bodyPr>
            <a:lstStyle/>
            <a:p>
              <a:pPr indent="0" lvl="0" marL="0" marR="0" rtl="0" algn="ctr">
                <a:lnSpc>
                  <a:spcPct val="124388"/>
                </a:lnSpc>
                <a:spcBef>
                  <a:spcPts val="0"/>
                </a:spcBef>
                <a:spcAft>
                  <a:spcPts val="0"/>
                </a:spcAft>
                <a:buClr>
                  <a:srgbClr val="000000"/>
                </a:buClr>
                <a:buSzPts val="1200"/>
                <a:buFont typeface="Arial"/>
                <a:buNone/>
              </a:pPr>
              <a:r>
                <a:t/>
              </a:r>
              <a:endParaRPr b="0" i="0" spc="0" sz="1200" u="none" cap="none" strike="noStrike">
                <a:solidFill>
                  <a:schemeClr val="dk1"/>
                </a:solidFill>
                <a:latin typeface="Calibri"/>
                <a:ea typeface="Calibri"/>
                <a:cs typeface="Calibri"/>
                <a:sym typeface="Calibri"/>
              </a:endParaRPr>
            </a:p>
          </p:txBody>
        </p:sp>
      </p:grpSp>
      <p:grpSp>
        <p:nvGrpSpPr>
          <p:cNvPr id="110" name="Google Shape;110;g38ba0224ced_1_0"/>
          <p:cNvGrpSpPr/>
          <p:nvPr/>
        </p:nvGrpSpPr>
        <p:grpSpPr>
          <a:xfrm rot="-5400000">
            <a:off x="9129973" y="-159802"/>
            <a:ext cx="2902274" cy="3221964"/>
            <a:chOff x="0" y="-38100"/>
            <a:chExt cx="1146600" cy="1272900"/>
          </a:xfrm>
        </p:grpSpPr>
        <p:sp>
          <p:nvSpPr>
            <p:cNvPr id="111" name="Google Shape;111;g38ba0224ced_1_0"/>
            <p:cNvSpPr/>
            <p:nvPr/>
          </p:nvSpPr>
          <p:spPr>
            <a:xfrm>
              <a:off x="0" y="0"/>
              <a:ext cx="1146594" cy="1234739"/>
            </a:xfrm>
            <a:custGeom>
              <a:rect b="b" l="l" r="r" t="t"/>
              <a:pathLst>
                <a:path extrusionOk="0" h="1234739" w="1146594">
                  <a:moveTo>
                    <a:pt x="0" y="0"/>
                  </a:moveTo>
                  <a:lnTo>
                    <a:pt x="1146594" y="0"/>
                  </a:lnTo>
                  <a:lnTo>
                    <a:pt x="1146594" y="1234739"/>
                  </a:lnTo>
                  <a:lnTo>
                    <a:pt x="0" y="1234739"/>
                  </a:lnTo>
                  <a:close/>
                </a:path>
              </a:pathLst>
            </a:custGeom>
            <a:gradFill>
              <a:gsLst>
                <a:gs pos="0">
                  <a:srgbClr val="08172A">
                    <a:alpha val="0"/>
                  </a:srgbClr>
                </a:gs>
                <a:gs pos="50000">
                  <a:srgbClr val="08172A">
                    <a:alpha val="0"/>
                  </a:srgbClr>
                </a:gs>
                <a:gs pos="100000">
                  <a:srgbClr val="09182B"/>
                </a:gs>
              </a:gsLst>
              <a:lin ang="2700006" scaled="0"/>
            </a:gradFill>
            <a:ln>
              <a:noFill/>
            </a:ln>
          </p:spPr>
        </p:sp>
        <p:sp>
          <p:nvSpPr>
            <p:cNvPr id="112" name="Google Shape;112;g38ba0224ced_1_0"/>
            <p:cNvSpPr txBox="1"/>
            <p:nvPr/>
          </p:nvSpPr>
          <p:spPr>
            <a:xfrm>
              <a:off x="0" y="-38100"/>
              <a:ext cx="1146600" cy="12729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pc="0" sz="1200" u="none" cap="none" strike="noStrike">
                <a:solidFill>
                  <a:schemeClr val="dk1"/>
                </a:solidFill>
                <a:latin typeface="Calibri"/>
                <a:ea typeface="Calibri"/>
                <a:cs typeface="Calibri"/>
                <a:sym typeface="Calibri"/>
              </a:endParaRPr>
            </a:p>
          </p:txBody>
        </p:sp>
      </p:grpSp>
      <p:sp>
        <p:nvSpPr>
          <p:cNvPr id="113" name="Google Shape;113;g38ba0224ced_1_0"/>
          <p:cNvSpPr/>
          <p:nvPr/>
        </p:nvSpPr>
        <p:spPr>
          <a:xfrm>
            <a:off x="9951449" y="606644"/>
            <a:ext cx="1688005" cy="1967563"/>
          </a:xfrm>
          <a:custGeom>
            <a:rect b="b" l="l" r="r" t="t"/>
            <a:pathLst>
              <a:path extrusionOk="0" h="2947660" w="2528846">
                <a:moveTo>
                  <a:pt x="0" y="0"/>
                </a:moveTo>
                <a:lnTo>
                  <a:pt x="2528847" y="0"/>
                </a:lnTo>
                <a:lnTo>
                  <a:pt x="2528847" y="2947660"/>
                </a:lnTo>
                <a:lnTo>
                  <a:pt x="0" y="2947660"/>
                </a:lnTo>
                <a:lnTo>
                  <a:pt x="0" y="0"/>
                </a:lnTo>
                <a:close/>
              </a:path>
            </a:pathLst>
          </a:custGeom>
          <a:blipFill rotWithShape="1">
            <a:blip r:embed="rId4">
              <a:alphaModFix/>
            </a:blip>
            <a:stretch>
              <a:fillRect b="0" l="0" r="0" t="0"/>
            </a:stretch>
          </a:blipFill>
          <a:ln>
            <a:noFill/>
          </a:ln>
        </p:spPr>
      </p:sp>
      <p:sp>
        <p:nvSpPr>
          <p:cNvPr id="114" name="Google Shape;114;g38ba0224ced_1_0"/>
          <p:cNvSpPr txBox="1"/>
          <p:nvPr/>
        </p:nvSpPr>
        <p:spPr>
          <a:xfrm>
            <a:off x="685800" y="679451"/>
            <a:ext cx="4647900" cy="162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800"/>
              <a:buFont typeface="Arial"/>
              <a:buNone/>
            </a:pPr>
            <a:r>
              <a:rPr b="0" i="0" lang="en-US" spc="0" sz="4800" u="none" cap="none" strike="noStrike">
                <a:solidFill>
                  <a:srgbClr val="FFFFFF"/>
                </a:solidFill>
                <a:latin typeface="Alice"/>
                <a:ea typeface="Alice"/>
                <a:cs typeface="Alice"/>
                <a:sym typeface="Alice"/>
              </a:rPr>
              <a:t>DMU </a:t>
            </a:r>
            <a:endParaRPr b="0" i="0" spc="0" sz="9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4800"/>
              <a:buFont typeface="Arial"/>
              <a:buNone/>
            </a:pPr>
            <a:r>
              <a:rPr b="0" i="0" lang="en-US" spc="0" sz="4800" u="none" cap="none" strike="noStrike">
                <a:solidFill>
                  <a:srgbClr val="FFFFFF"/>
                </a:solidFill>
                <a:latin typeface="Alice"/>
                <a:ea typeface="Alice"/>
                <a:cs typeface="Alice"/>
                <a:sym typeface="Alice"/>
              </a:rPr>
              <a:t>Hacking Society</a:t>
            </a:r>
            <a:endParaRPr b="0" i="0" spc="0" sz="900" u="none" cap="none" strike="noStrike">
              <a:solidFill>
                <a:srgbClr val="000000"/>
              </a:solidFill>
              <a:latin typeface="Arial"/>
              <a:ea typeface="Arial"/>
              <a:cs typeface="Arial"/>
              <a:sym typeface="Arial"/>
            </a:endParaRPr>
          </a:p>
        </p:txBody>
      </p:sp>
      <p:sp>
        <p:nvSpPr>
          <p:cNvPr id="115" name="Google Shape;115;g38ba0224ced_1_0"/>
          <p:cNvSpPr txBox="1"/>
          <p:nvPr/>
        </p:nvSpPr>
        <p:spPr>
          <a:xfrm>
            <a:off x="802900" y="4156333"/>
            <a:ext cx="10580100" cy="19827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6400"/>
              <a:buFont typeface="Arial"/>
              <a:buNone/>
            </a:pPr>
            <a:r>
              <a:rPr lang="en-US" sz="6400">
                <a:solidFill>
                  <a:schemeClr val="lt1"/>
                </a:solidFill>
                <a:latin typeface="Consolas"/>
                <a:ea typeface="Consolas"/>
                <a:cs typeface="Consolas"/>
                <a:sym typeface="Consolas"/>
              </a:rPr>
              <a:t>Enumeration</a:t>
            </a:r>
            <a:endParaRPr b="0" i="0" spc="0" sz="6400" u="none" cap="none" strike="noStrike">
              <a:solidFill>
                <a:schemeClr val="lt1"/>
              </a:solidFill>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8ba0224e56_0_0"/>
          <p:cNvSpPr/>
          <p:nvPr/>
        </p:nvSpPr>
        <p:spPr>
          <a:xfrm>
            <a:off x="0" y="0"/>
            <a:ext cx="13395960" cy="6866573"/>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sp>
        <p:nvSpPr>
          <p:cNvPr id="121" name="Google Shape;121;g38ba0224e56_0_0"/>
          <p:cNvSpPr/>
          <p:nvPr/>
        </p:nvSpPr>
        <p:spPr>
          <a:xfrm>
            <a:off x="504692" y="457836"/>
            <a:ext cx="362671" cy="613750"/>
          </a:xfrm>
          <a:custGeom>
            <a:rect b="b" l="l" r="r" t="t"/>
            <a:pathLst>
              <a:path extrusionOk="0" h="919476" w="543327">
                <a:moveTo>
                  <a:pt x="0" y="0"/>
                </a:moveTo>
                <a:lnTo>
                  <a:pt x="543326" y="0"/>
                </a:lnTo>
                <a:lnTo>
                  <a:pt x="543326" y="919476"/>
                </a:lnTo>
                <a:lnTo>
                  <a:pt x="0" y="919476"/>
                </a:lnTo>
                <a:lnTo>
                  <a:pt x="0" y="0"/>
                </a:lnTo>
                <a:close/>
              </a:path>
            </a:pathLst>
          </a:custGeom>
          <a:blipFill rotWithShape="1">
            <a:blip r:embed="rId4">
              <a:alphaModFix/>
            </a:blip>
            <a:stretch>
              <a:fillRect b="0" l="0" r="0" t="0"/>
            </a:stretch>
          </a:blipFill>
          <a:ln>
            <a:noFill/>
          </a:ln>
        </p:spPr>
      </p:sp>
      <p:sp>
        <p:nvSpPr>
          <p:cNvPr id="122" name="Google Shape;122;g38ba0224e56_0_0"/>
          <p:cNvSpPr/>
          <p:nvPr/>
        </p:nvSpPr>
        <p:spPr>
          <a:xfrm>
            <a:off x="11243256" y="457836"/>
            <a:ext cx="526547" cy="613750"/>
          </a:xfrm>
          <a:custGeom>
            <a:rect b="b" l="l" r="r" t="t"/>
            <a:pathLst>
              <a:path extrusionOk="0" h="919476" w="788834">
                <a:moveTo>
                  <a:pt x="0" y="0"/>
                </a:moveTo>
                <a:lnTo>
                  <a:pt x="788834" y="0"/>
                </a:lnTo>
                <a:lnTo>
                  <a:pt x="788834" y="919476"/>
                </a:lnTo>
                <a:lnTo>
                  <a:pt x="0" y="919476"/>
                </a:lnTo>
                <a:lnTo>
                  <a:pt x="0" y="0"/>
                </a:lnTo>
                <a:close/>
              </a:path>
            </a:pathLst>
          </a:custGeom>
          <a:blipFill rotWithShape="1">
            <a:blip r:embed="rId5">
              <a:alphaModFix/>
            </a:blip>
            <a:stretch>
              <a:fillRect b="0" l="0" r="0" t="0"/>
            </a:stretch>
          </a:blipFill>
          <a:ln>
            <a:noFill/>
          </a:ln>
        </p:spPr>
      </p:sp>
      <p:sp>
        <p:nvSpPr>
          <p:cNvPr id="123" name="Google Shape;123;g38ba0224e56_0_0"/>
          <p:cNvSpPr/>
          <p:nvPr/>
        </p:nvSpPr>
        <p:spPr>
          <a:xfrm>
            <a:off x="7303221" y="2450993"/>
            <a:ext cx="2611795" cy="2746629"/>
          </a:xfrm>
          <a:custGeom>
            <a:rect b="b" l="l" r="r" t="t"/>
            <a:pathLst>
              <a:path extrusionOk="0" h="4114800" w="3912801">
                <a:moveTo>
                  <a:pt x="0" y="0"/>
                </a:moveTo>
                <a:lnTo>
                  <a:pt x="3912801" y="0"/>
                </a:lnTo>
                <a:lnTo>
                  <a:pt x="3912801" y="4114800"/>
                </a:lnTo>
                <a:lnTo>
                  <a:pt x="0" y="4114800"/>
                </a:lnTo>
                <a:lnTo>
                  <a:pt x="0" y="0"/>
                </a:lnTo>
                <a:close/>
              </a:path>
            </a:pathLst>
          </a:custGeom>
          <a:blipFill rotWithShape="1">
            <a:blip r:embed="rId6">
              <a:alphaModFix/>
            </a:blip>
            <a:stretch>
              <a:fillRect b="0" l="0" r="0" t="0"/>
            </a:stretch>
          </a:blipFill>
          <a:ln>
            <a:noFill/>
          </a:ln>
        </p:spPr>
      </p:sp>
      <p:sp>
        <p:nvSpPr>
          <p:cNvPr id="124" name="Google Shape;124;g38ba0224e56_0_0"/>
          <p:cNvSpPr/>
          <p:nvPr/>
        </p:nvSpPr>
        <p:spPr>
          <a:xfrm>
            <a:off x="2280245" y="2450993"/>
            <a:ext cx="3893417" cy="2746629"/>
          </a:xfrm>
          <a:custGeom>
            <a:rect b="b" l="l" r="r" t="t"/>
            <a:pathLst>
              <a:path extrusionOk="0" h="4114800" w="5832835">
                <a:moveTo>
                  <a:pt x="0" y="0"/>
                </a:moveTo>
                <a:lnTo>
                  <a:pt x="5832835" y="0"/>
                </a:lnTo>
                <a:lnTo>
                  <a:pt x="5832835" y="4114800"/>
                </a:lnTo>
                <a:lnTo>
                  <a:pt x="0" y="4114800"/>
                </a:lnTo>
                <a:lnTo>
                  <a:pt x="0" y="0"/>
                </a:lnTo>
                <a:close/>
              </a:path>
            </a:pathLst>
          </a:custGeom>
          <a:blipFill rotWithShape="1">
            <a:blip r:embed="rId7">
              <a:alphaModFix/>
            </a:blip>
            <a:stretch>
              <a:fillRect b="0" l="0" r="0" t="0"/>
            </a:stretch>
          </a:blipFill>
          <a:ln>
            <a:noFill/>
          </a:ln>
        </p:spPr>
      </p:sp>
      <p:sp>
        <p:nvSpPr>
          <p:cNvPr id="125" name="Google Shape;125;g38ba0224e56_0_0"/>
          <p:cNvSpPr txBox="1"/>
          <p:nvPr/>
        </p:nvSpPr>
        <p:spPr>
          <a:xfrm>
            <a:off x="989931" y="654051"/>
            <a:ext cx="14868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1" i="0" lang="en-US" spc="0" sz="1100" u="none" cap="none" strike="noStrike">
                <a:solidFill>
                  <a:srgbClr val="D9D9D9"/>
                </a:solidFill>
                <a:latin typeface="Poppins SemiBold"/>
                <a:ea typeface="Poppins SemiBold"/>
                <a:cs typeface="Poppins SemiBold"/>
                <a:sym typeface="Poppins SemiBold"/>
              </a:rPr>
              <a:t>DMUHACKERS</a:t>
            </a:r>
            <a:endParaRPr b="0" i="0" spc="0" sz="900" u="none" cap="none" strike="noStrike">
              <a:solidFill>
                <a:srgbClr val="000000"/>
              </a:solidFill>
              <a:latin typeface="Arial"/>
              <a:ea typeface="Arial"/>
              <a:cs typeface="Arial"/>
              <a:sym typeface="Arial"/>
            </a:endParaRPr>
          </a:p>
        </p:txBody>
      </p:sp>
      <p:sp>
        <p:nvSpPr>
          <p:cNvPr id="126" name="Google Shape;126;g38ba0224e56_0_0"/>
          <p:cNvSpPr txBox="1"/>
          <p:nvPr/>
        </p:nvSpPr>
        <p:spPr>
          <a:xfrm>
            <a:off x="1402853" y="949431"/>
            <a:ext cx="9386400" cy="939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100"/>
              <a:buFont typeface="Arial"/>
              <a:buNone/>
            </a:pPr>
            <a:r>
              <a:rPr b="1" i="0" lang="en-US" spc="0" sz="6100" u="none" cap="none" strike="noStrike">
                <a:solidFill>
                  <a:srgbClr val="D9D9D9"/>
                </a:solidFill>
                <a:latin typeface="Consolas"/>
                <a:ea typeface="Consolas"/>
                <a:cs typeface="Consolas"/>
                <a:sym typeface="Consolas"/>
              </a:rPr>
              <a:t>D0nt d0 1ll3gal sh1t</a:t>
            </a:r>
            <a:endParaRPr b="0" i="0" spc="0" sz="900" u="none" cap="none" strike="noStrike">
              <a:solidFill>
                <a:srgbClr val="000000"/>
              </a:solidFill>
              <a:latin typeface="Consolas"/>
              <a:ea typeface="Consolas"/>
              <a:cs typeface="Consolas"/>
              <a:sym typeface="Consolas"/>
            </a:endParaRPr>
          </a:p>
        </p:txBody>
      </p:sp>
      <p:sp>
        <p:nvSpPr>
          <p:cNvPr id="127" name="Google Shape;127;g38ba0224e56_0_0"/>
          <p:cNvSpPr txBox="1"/>
          <p:nvPr/>
        </p:nvSpPr>
        <p:spPr>
          <a:xfrm>
            <a:off x="2280245" y="5574453"/>
            <a:ext cx="7631700" cy="5388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3500"/>
              <a:buFont typeface="Arial"/>
              <a:buNone/>
            </a:pPr>
            <a:r>
              <a:rPr b="1" i="0" lang="en-US" spc="0" sz="3500" u="none" cap="none" strike="noStrike">
                <a:solidFill>
                  <a:srgbClr val="D9D9D9"/>
                </a:solidFill>
                <a:latin typeface="Consolas"/>
                <a:ea typeface="Consolas"/>
                <a:cs typeface="Consolas"/>
                <a:sym typeface="Consolas"/>
              </a:rPr>
              <a:t>please..</a:t>
            </a:r>
            <a:endParaRPr b="0" i="0" spc="0" sz="900" u="none" cap="none" strike="noStrike">
              <a:solidFill>
                <a:srgbClr val="000000"/>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h6da5aa7a38095804_1_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What is Enumeration?</a:t>
            </a:r>
            <a:endParaRPr/>
          </a:p>
        </p:txBody>
      </p:sp>
      <p:sp>
        <p:nvSpPr>
          <p:cNvPr id="133" name="Google Shape;133;h6da5aa7a38095804_1_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2000">
                <a:solidFill>
                  <a:schemeClr val="lt1"/>
                </a:solidFill>
                <a:latin typeface="IBM Plex Sans"/>
                <a:ea typeface="IBM Plex Sans"/>
                <a:cs typeface="IBM Plex Sans"/>
                <a:sym typeface="IBM Plex Sans"/>
              </a:rPr>
              <a:t>Basically enumeration is just finding out information about something to help you achieve your goal or attack. This can be all type of data, pretty much anything you can get your hands on, like:</a:t>
            </a:r>
            <a:endParaRPr sz="2000">
              <a:solidFill>
                <a:schemeClr val="lt1"/>
              </a:solidFill>
              <a:latin typeface="IBM Plex Sans"/>
              <a:ea typeface="IBM Plex Sans"/>
              <a:cs typeface="IBM Plex Sans"/>
              <a:sym typeface="IBM Plex Sans"/>
            </a:endParaRPr>
          </a:p>
          <a:p>
            <a:pPr indent="-355600" lvl="0" marL="457200" rtl="0" algn="l">
              <a:lnSpc>
                <a:spcPct val="100000"/>
              </a:lnSpc>
              <a:spcBef>
                <a:spcPts val="0"/>
              </a:spcBef>
              <a:spcAft>
                <a:spcPts val="0"/>
              </a:spcAft>
              <a:buClr>
                <a:schemeClr val="lt1"/>
              </a:buClr>
              <a:buSzPts val="2000"/>
              <a:buFont typeface="IBM Plex Sans"/>
              <a:buChar char="●"/>
            </a:pPr>
            <a:r>
              <a:rPr lang="en-US" sz="2000">
                <a:solidFill>
                  <a:schemeClr val="lt1"/>
                </a:solidFill>
                <a:latin typeface="IBM Plex Sans"/>
                <a:ea typeface="IBM Plex Sans"/>
                <a:cs typeface="IBM Plex Sans"/>
                <a:sym typeface="IBM Plex Sans"/>
              </a:rPr>
              <a:t>Ip Addresses 	(</a:t>
            </a:r>
            <a:r>
              <a:rPr b="1" lang="en-US" sz="2000">
                <a:solidFill>
                  <a:srgbClr val="FFF2CC"/>
                </a:solidFill>
                <a:latin typeface="IBM Plex Sans"/>
                <a:ea typeface="IBM Plex Sans"/>
                <a:cs typeface="IBM Plex Sans"/>
                <a:sym typeface="IBM Plex Sans"/>
              </a:rPr>
              <a:t>192.168.1.1</a:t>
            </a:r>
            <a:r>
              <a:rPr lang="en-US" sz="2000">
                <a:solidFill>
                  <a:schemeClr val="lt1"/>
                </a:solidFill>
                <a:latin typeface="IBM Plex Sans"/>
                <a:ea typeface="IBM Plex Sans"/>
                <a:cs typeface="IBM Plex Sans"/>
                <a:sym typeface="IBM Plex Sans"/>
              </a:rPr>
              <a:t>)</a:t>
            </a:r>
            <a:endParaRPr sz="2000">
              <a:solidFill>
                <a:schemeClr val="lt1"/>
              </a:solidFill>
              <a:latin typeface="IBM Plex Sans"/>
              <a:ea typeface="IBM Plex Sans"/>
              <a:cs typeface="IBM Plex Sans"/>
              <a:sym typeface="IBM Plex Sans"/>
            </a:endParaRPr>
          </a:p>
          <a:p>
            <a:pPr indent="-355600" lvl="0" marL="457200" rtl="0" algn="l">
              <a:lnSpc>
                <a:spcPct val="100000"/>
              </a:lnSpc>
              <a:spcBef>
                <a:spcPts val="0"/>
              </a:spcBef>
              <a:spcAft>
                <a:spcPts val="0"/>
              </a:spcAft>
              <a:buClr>
                <a:schemeClr val="lt1"/>
              </a:buClr>
              <a:buSzPts val="2000"/>
              <a:buFont typeface="IBM Plex Sans"/>
              <a:buChar char="●"/>
            </a:pPr>
            <a:r>
              <a:rPr lang="en-US" sz="2000">
                <a:solidFill>
                  <a:schemeClr val="lt1"/>
                </a:solidFill>
                <a:latin typeface="IBM Plex Sans"/>
                <a:ea typeface="IBM Plex Sans"/>
                <a:cs typeface="IBM Plex Sans"/>
                <a:sym typeface="IBM Plex Sans"/>
              </a:rPr>
              <a:t>Port numbers 	(</a:t>
            </a:r>
            <a:r>
              <a:rPr b="1" lang="en-US" sz="2000">
                <a:solidFill>
                  <a:srgbClr val="D9EAD3"/>
                </a:solidFill>
                <a:latin typeface="IBM Plex Sans"/>
                <a:ea typeface="IBM Plex Sans"/>
                <a:cs typeface="IBM Plex Sans"/>
                <a:sym typeface="IBM Plex Sans"/>
              </a:rPr>
              <a:t>80:TCP</a:t>
            </a:r>
            <a:r>
              <a:rPr lang="en-US" sz="2000">
                <a:solidFill>
                  <a:schemeClr val="lt1"/>
                </a:solidFill>
                <a:latin typeface="IBM Plex Sans"/>
                <a:ea typeface="IBM Plex Sans"/>
                <a:cs typeface="IBM Plex Sans"/>
                <a:sym typeface="IBM Plex Sans"/>
              </a:rPr>
              <a:t>)</a:t>
            </a:r>
            <a:endParaRPr sz="2000">
              <a:solidFill>
                <a:schemeClr val="lt1"/>
              </a:solidFill>
              <a:latin typeface="IBM Plex Sans"/>
              <a:ea typeface="IBM Plex Sans"/>
              <a:cs typeface="IBM Plex Sans"/>
              <a:sym typeface="IBM Plex Sans"/>
            </a:endParaRPr>
          </a:p>
          <a:p>
            <a:pPr indent="-355600" lvl="0" marL="457200" rtl="0" algn="l">
              <a:lnSpc>
                <a:spcPct val="100000"/>
              </a:lnSpc>
              <a:spcBef>
                <a:spcPts val="0"/>
              </a:spcBef>
              <a:spcAft>
                <a:spcPts val="0"/>
              </a:spcAft>
              <a:buClr>
                <a:schemeClr val="lt1"/>
              </a:buClr>
              <a:buSzPts val="2000"/>
              <a:buFont typeface="IBM Plex Sans"/>
              <a:buChar char="●"/>
            </a:pPr>
            <a:r>
              <a:rPr lang="en-US" sz="2000">
                <a:solidFill>
                  <a:schemeClr val="lt1"/>
                </a:solidFill>
                <a:latin typeface="IBM Plex Sans"/>
                <a:ea typeface="IBM Plex Sans"/>
                <a:cs typeface="IBM Plex Sans"/>
                <a:sym typeface="IBM Plex Sans"/>
              </a:rPr>
              <a:t>Subdirectories (</a:t>
            </a:r>
            <a:r>
              <a:rPr b="1" lang="en-US" sz="2000">
                <a:solidFill>
                  <a:srgbClr val="D0E0E3"/>
                </a:solidFill>
                <a:latin typeface="IBM Plex Sans"/>
                <a:ea typeface="IBM Plex Sans"/>
                <a:cs typeface="IBM Plex Sans"/>
                <a:sym typeface="IBM Plex Sans"/>
              </a:rPr>
              <a:t>/login</a:t>
            </a:r>
            <a:r>
              <a:rPr lang="en-US" sz="2000">
                <a:solidFill>
                  <a:schemeClr val="lt1"/>
                </a:solidFill>
                <a:latin typeface="IBM Plex Sans"/>
                <a:ea typeface="IBM Plex Sans"/>
                <a:cs typeface="IBM Plex Sans"/>
                <a:sym typeface="IBM Plex Sans"/>
              </a:rPr>
              <a:t>)</a:t>
            </a:r>
            <a:endParaRPr sz="2000">
              <a:solidFill>
                <a:schemeClr val="lt1"/>
              </a:solidFill>
              <a:latin typeface="IBM Plex Sans"/>
              <a:ea typeface="IBM Plex Sans"/>
              <a:cs typeface="IBM Plex Sans"/>
              <a:sym typeface="IBM Plex Sans"/>
            </a:endParaRPr>
          </a:p>
          <a:p>
            <a:pPr indent="-355600" lvl="0" marL="457200" rtl="0" algn="l">
              <a:lnSpc>
                <a:spcPct val="100000"/>
              </a:lnSpc>
              <a:spcBef>
                <a:spcPts val="0"/>
              </a:spcBef>
              <a:spcAft>
                <a:spcPts val="0"/>
              </a:spcAft>
              <a:buClr>
                <a:schemeClr val="lt1"/>
              </a:buClr>
              <a:buSzPts val="2000"/>
              <a:buFont typeface="IBM Plex Sans"/>
              <a:buChar char="●"/>
            </a:pPr>
            <a:r>
              <a:rPr lang="en-US" sz="2000">
                <a:solidFill>
                  <a:schemeClr val="lt1"/>
                </a:solidFill>
                <a:latin typeface="IBM Plex Sans"/>
                <a:ea typeface="IBM Plex Sans"/>
                <a:cs typeface="IBM Plex Sans"/>
                <a:sym typeface="IBM Plex Sans"/>
              </a:rPr>
              <a:t>Location 		(</a:t>
            </a:r>
            <a:r>
              <a:rPr b="1" lang="en-US" sz="2000">
                <a:solidFill>
                  <a:srgbClr val="CFE2F3"/>
                </a:solidFill>
                <a:latin typeface="IBM Plex Sans"/>
                <a:ea typeface="IBM Plex Sans"/>
                <a:cs typeface="IBM Plex Sans"/>
                <a:sym typeface="IBM Plex Sans"/>
              </a:rPr>
              <a:t>INGURLAND</a:t>
            </a:r>
            <a:r>
              <a:rPr lang="en-US" sz="2000">
                <a:solidFill>
                  <a:schemeClr val="lt1"/>
                </a:solidFill>
                <a:latin typeface="IBM Plex Sans"/>
                <a:ea typeface="IBM Plex Sans"/>
                <a:cs typeface="IBM Plex Sans"/>
                <a:sym typeface="IBM Plex Sans"/>
              </a:rPr>
              <a:t>)</a:t>
            </a:r>
            <a:endParaRPr sz="2000">
              <a:solidFill>
                <a:schemeClr val="lt1"/>
              </a:solidFill>
              <a:latin typeface="IBM Plex Sans"/>
              <a:ea typeface="IBM Plex Sans"/>
              <a:cs typeface="IBM Plex Sans"/>
              <a:sym typeface="IBM Plex Sans"/>
            </a:endParaRPr>
          </a:p>
          <a:p>
            <a:pPr indent="-355600" lvl="0" marL="457200" rtl="0" algn="l">
              <a:lnSpc>
                <a:spcPct val="100000"/>
              </a:lnSpc>
              <a:spcBef>
                <a:spcPts val="0"/>
              </a:spcBef>
              <a:spcAft>
                <a:spcPts val="0"/>
              </a:spcAft>
              <a:buClr>
                <a:schemeClr val="lt1"/>
              </a:buClr>
              <a:buSzPts val="2000"/>
              <a:buFont typeface="IBM Plex Sans"/>
              <a:buChar char="●"/>
            </a:pPr>
            <a:r>
              <a:rPr lang="en-US" sz="2000">
                <a:solidFill>
                  <a:schemeClr val="lt1"/>
                </a:solidFill>
                <a:latin typeface="IBM Plex Sans"/>
                <a:ea typeface="IBM Plex Sans"/>
                <a:cs typeface="IBM Plex Sans"/>
                <a:sym typeface="IBM Plex Sans"/>
              </a:rPr>
              <a:t>Type of data	(</a:t>
            </a:r>
            <a:r>
              <a:rPr b="1" lang="en-US" sz="2000">
                <a:solidFill>
                  <a:srgbClr val="F4CCCC"/>
                </a:solidFill>
                <a:latin typeface="IBM Plex Sans"/>
                <a:ea typeface="IBM Plex Sans"/>
                <a:cs typeface="IBM Plex Sans"/>
                <a:sym typeface="IBM Plex Sans"/>
              </a:rPr>
              <a:t>XML</a:t>
            </a:r>
            <a:r>
              <a:rPr lang="en-US" sz="2000">
                <a:solidFill>
                  <a:schemeClr val="lt1"/>
                </a:solidFill>
                <a:latin typeface="IBM Plex Sans"/>
                <a:ea typeface="IBM Plex Sans"/>
                <a:cs typeface="IBM Plex Sans"/>
                <a:sym typeface="IBM Plex Sans"/>
              </a:rPr>
              <a:t>)</a:t>
            </a:r>
            <a:endParaRPr sz="2000">
              <a:solidFill>
                <a:schemeClr val="lt1"/>
              </a:solidFill>
              <a:latin typeface="IBM Plex Sans"/>
              <a:ea typeface="IBM Plex Sans"/>
              <a:cs typeface="IBM Plex Sans"/>
              <a:sym typeface="IBM Plex Sans"/>
            </a:endParaRPr>
          </a:p>
          <a:p>
            <a:pPr indent="-355600" lvl="0" marL="457200" rtl="0" algn="l">
              <a:lnSpc>
                <a:spcPct val="100000"/>
              </a:lnSpc>
              <a:spcBef>
                <a:spcPts val="0"/>
              </a:spcBef>
              <a:spcAft>
                <a:spcPts val="0"/>
              </a:spcAft>
              <a:buClr>
                <a:schemeClr val="lt1"/>
              </a:buClr>
              <a:buSzPts val="2000"/>
              <a:buFont typeface="IBM Plex Sans"/>
              <a:buChar char="●"/>
            </a:pPr>
            <a:r>
              <a:rPr lang="en-US" sz="2000">
                <a:solidFill>
                  <a:schemeClr val="lt1"/>
                </a:solidFill>
                <a:latin typeface="IBM Plex Sans"/>
                <a:ea typeface="IBM Plex Sans"/>
                <a:cs typeface="IBM Plex Sans"/>
                <a:sym typeface="IBM Plex Sans"/>
              </a:rPr>
              <a:t>Version of software</a:t>
            </a:r>
            <a:endParaRPr sz="2000">
              <a:solidFill>
                <a:schemeClr val="lt1"/>
              </a:solidFill>
              <a:latin typeface="IBM Plex Sans"/>
              <a:ea typeface="IBM Plex Sans"/>
              <a:cs typeface="IBM Plex Sans"/>
              <a:sym typeface="IBM Plex Sans"/>
            </a:endParaRPr>
          </a:p>
          <a:p>
            <a:pPr indent="-355600" lvl="0" marL="457200" rtl="0" algn="l">
              <a:lnSpc>
                <a:spcPct val="100000"/>
              </a:lnSpc>
              <a:spcBef>
                <a:spcPts val="0"/>
              </a:spcBef>
              <a:spcAft>
                <a:spcPts val="0"/>
              </a:spcAft>
              <a:buClr>
                <a:schemeClr val="lt1"/>
              </a:buClr>
              <a:buSzPts val="2000"/>
              <a:buFont typeface="IBM Plex Sans"/>
              <a:buChar char="●"/>
            </a:pPr>
            <a:r>
              <a:rPr lang="en-US" sz="2000">
                <a:solidFill>
                  <a:schemeClr val="lt1"/>
                </a:solidFill>
                <a:latin typeface="IBM Plex Sans"/>
                <a:ea typeface="IBM Plex Sans"/>
                <a:cs typeface="IBM Plex Sans"/>
                <a:sym typeface="IBM Plex Sans"/>
              </a:rPr>
              <a:t>And more…..</a:t>
            </a:r>
            <a:endParaRPr sz="20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sz="3000">
              <a:solidFill>
                <a:schemeClr val="lt1"/>
              </a:solidFill>
            </a:endParaRPr>
          </a:p>
        </p:txBody>
      </p:sp>
      <p:pic>
        <p:nvPicPr>
          <p:cNvPr id="134" name="Google Shape;134;h6da5aa7a38095804_1_1"/>
          <p:cNvPicPr preferRelativeResize="0"/>
          <p:nvPr/>
        </p:nvPicPr>
        <p:blipFill>
          <a:blip r:embed="rId3">
            <a:alphaModFix/>
          </a:blip>
          <a:stretch>
            <a:fillRect/>
          </a:stretch>
        </p:blipFill>
        <p:spPr>
          <a:xfrm>
            <a:off x="7403350" y="3173268"/>
            <a:ext cx="1796026" cy="2133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h6da5aa7a38095804_1_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0" lang="en-US" sz="2700">
                <a:latin typeface="Oswald"/>
                <a:ea typeface="Oswald"/>
                <a:cs typeface="Oswald"/>
                <a:sym typeface="Oswald"/>
              </a:rPr>
              <a:t>Why do we do enumeration?</a:t>
            </a:r>
            <a:endParaRPr sz="2700"/>
          </a:p>
        </p:txBody>
      </p:sp>
      <p:sp>
        <p:nvSpPr>
          <p:cNvPr id="140" name="Google Shape;140;h6da5aa7a38095804_1_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2300">
                <a:solidFill>
                  <a:schemeClr val="lt1"/>
                </a:solidFill>
                <a:latin typeface="IBM Plex Sans"/>
                <a:ea typeface="IBM Plex Sans"/>
                <a:cs typeface="IBM Plex Sans"/>
                <a:sym typeface="IBM Plex Sans"/>
              </a:rPr>
              <a:t>Enumeration is great for many reasons, it’s one of the most crucial things we do. </a:t>
            </a:r>
            <a:endParaRPr sz="23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3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2300">
                <a:solidFill>
                  <a:schemeClr val="lt1"/>
                </a:solidFill>
                <a:latin typeface="IBM Plex Sans"/>
                <a:ea typeface="IBM Plex Sans"/>
                <a:cs typeface="IBM Plex Sans"/>
                <a:sym typeface="IBM Plex Sans"/>
              </a:rPr>
              <a:t>The more you know about your target the better you can find vulnerabilities and routes to complete your goal, whether that’s a successful phishing attack, OSINT or a red team attack.</a:t>
            </a:r>
            <a:endParaRPr sz="23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3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2300">
                <a:solidFill>
                  <a:schemeClr val="lt1"/>
                </a:solidFill>
                <a:latin typeface="IBM Plex Sans"/>
                <a:ea typeface="IBM Plex Sans"/>
                <a:cs typeface="IBM Plex Sans"/>
                <a:sym typeface="IBM Plex Sans"/>
              </a:rPr>
              <a:t>Basically, more info means more smart means better attack.</a:t>
            </a:r>
            <a:endParaRPr sz="23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sz="3300"/>
          </a:p>
        </p:txBody>
      </p:sp>
      <p:pic>
        <p:nvPicPr>
          <p:cNvPr id="141" name="Google Shape;141;h6da5aa7a38095804_1_7"/>
          <p:cNvPicPr preferRelativeResize="0"/>
          <p:nvPr/>
        </p:nvPicPr>
        <p:blipFill rotWithShape="1">
          <a:blip r:embed="rId3">
            <a:alphaModFix/>
          </a:blip>
          <a:srcRect b="0" l="0" r="0" t="0"/>
          <a:stretch/>
        </p:blipFill>
        <p:spPr>
          <a:xfrm>
            <a:off x="5014675" y="4790800"/>
            <a:ext cx="2857500" cy="1600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8ba0224ced_2_0"/>
          <p:cNvSpPr txBox="1"/>
          <p:nvPr/>
        </p:nvSpPr>
        <p:spPr>
          <a:xfrm>
            <a:off x="445200" y="1727400"/>
            <a:ext cx="11301600" cy="47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600"/>
              <a:buFont typeface="Arial"/>
              <a:buNone/>
            </a:pPr>
            <a:r>
              <a:rPr lang="en-US" sz="2200">
                <a:solidFill>
                  <a:schemeClr val="lt1"/>
                </a:solidFill>
                <a:latin typeface="IBM Plex Sans"/>
                <a:ea typeface="IBM Plex Sans"/>
                <a:cs typeface="IBM Plex Sans"/>
                <a:sym typeface="IBM Plex Sans"/>
              </a:rPr>
              <a:t>For the most effective attacks you should use enumeration literally everywhere. </a:t>
            </a:r>
            <a:endParaRPr sz="2200">
              <a:solidFill>
                <a:schemeClr val="lt1"/>
              </a:solidFill>
              <a:latin typeface="IBM Plex Sans"/>
              <a:ea typeface="IBM Plex Sans"/>
              <a:cs typeface="IBM Plex Sans"/>
              <a:sym typeface="IBM Plex Sans"/>
            </a:endParaRPr>
          </a:p>
          <a:p>
            <a:pPr indent="0" lvl="0" marL="0" rtl="0" algn="l">
              <a:spcBef>
                <a:spcPts val="0"/>
              </a:spcBef>
              <a:spcAft>
                <a:spcPts val="0"/>
              </a:spcAft>
              <a:buClr>
                <a:schemeClr val="dk1"/>
              </a:buClr>
              <a:buSzPts val="1600"/>
              <a:buFont typeface="Arial"/>
              <a:buNone/>
            </a:pPr>
            <a:r>
              <a:t/>
            </a:r>
            <a:endParaRPr sz="2200">
              <a:solidFill>
                <a:schemeClr val="lt1"/>
              </a:solidFill>
              <a:latin typeface="IBM Plex Sans"/>
              <a:ea typeface="IBM Plex Sans"/>
              <a:cs typeface="IBM Plex Sans"/>
              <a:sym typeface="IBM Plex Sans"/>
            </a:endParaRPr>
          </a:p>
          <a:p>
            <a:pPr indent="0" lvl="0" marL="0" rtl="0" algn="l">
              <a:spcBef>
                <a:spcPts val="0"/>
              </a:spcBef>
              <a:spcAft>
                <a:spcPts val="0"/>
              </a:spcAft>
              <a:buClr>
                <a:schemeClr val="dk1"/>
              </a:buClr>
              <a:buSzPts val="1600"/>
              <a:buFont typeface="Arial"/>
              <a:buNone/>
            </a:pPr>
            <a:r>
              <a:rPr lang="en-US" sz="2200">
                <a:solidFill>
                  <a:schemeClr val="lt1"/>
                </a:solidFill>
                <a:latin typeface="IBM Plex Sans"/>
                <a:ea typeface="IBM Plex Sans"/>
                <a:cs typeface="IBM Plex Sans"/>
                <a:sym typeface="IBM Plex Sans"/>
              </a:rPr>
              <a:t>The first thing to do when faced with a target is to get everything you possibly can about it, it will become your first instinct. </a:t>
            </a:r>
            <a:endParaRPr sz="2200">
              <a:solidFill>
                <a:schemeClr val="lt1"/>
              </a:solidFill>
              <a:latin typeface="IBM Plex Sans"/>
              <a:ea typeface="IBM Plex Sans"/>
              <a:cs typeface="IBM Plex Sans"/>
              <a:sym typeface="IBM Plex Sans"/>
            </a:endParaRPr>
          </a:p>
          <a:p>
            <a:pPr indent="0" lvl="0" marL="0" rtl="0" algn="l">
              <a:spcBef>
                <a:spcPts val="0"/>
              </a:spcBef>
              <a:spcAft>
                <a:spcPts val="0"/>
              </a:spcAft>
              <a:buClr>
                <a:schemeClr val="dk1"/>
              </a:buClr>
              <a:buSzPts val="1600"/>
              <a:buFont typeface="Arial"/>
              <a:buNone/>
            </a:pPr>
            <a:r>
              <a:t/>
            </a:r>
            <a:endParaRPr sz="2200">
              <a:solidFill>
                <a:schemeClr val="lt1"/>
              </a:solidFill>
              <a:latin typeface="IBM Plex Sans"/>
              <a:ea typeface="IBM Plex Sans"/>
              <a:cs typeface="IBM Plex Sans"/>
              <a:sym typeface="IBM Plex Sans"/>
            </a:endParaRPr>
          </a:p>
          <a:p>
            <a:pPr indent="0" lvl="0" marL="0" rtl="0" algn="l">
              <a:spcBef>
                <a:spcPts val="0"/>
              </a:spcBef>
              <a:spcAft>
                <a:spcPts val="0"/>
              </a:spcAft>
              <a:buClr>
                <a:schemeClr val="dk1"/>
              </a:buClr>
              <a:buSzPts val="1600"/>
              <a:buFont typeface="Arial"/>
              <a:buNone/>
            </a:pPr>
            <a:r>
              <a:rPr lang="en-US" sz="2200">
                <a:solidFill>
                  <a:schemeClr val="lt1"/>
                </a:solidFill>
                <a:latin typeface="IBM Plex Sans"/>
                <a:ea typeface="IBM Plex Sans"/>
                <a:cs typeface="IBM Plex Sans"/>
                <a:sym typeface="IBM Plex Sans"/>
              </a:rPr>
              <a:t>Whether its web or Pwning or Phishing or anything else, the most effective way to do what you want is by knowing everything possible about your given target and then using it against them </a:t>
            </a:r>
            <a:endParaRPr sz="2200">
              <a:solidFill>
                <a:schemeClr val="lt1"/>
              </a:solidFill>
              <a:latin typeface="IBM Plex Sans"/>
              <a:ea typeface="IBM Plex Sans"/>
              <a:cs typeface="IBM Plex Sans"/>
              <a:sym typeface="IBM Plex Sans"/>
            </a:endParaRPr>
          </a:p>
          <a:p>
            <a:pPr indent="0" lvl="0" marL="0" rtl="0" algn="l">
              <a:spcBef>
                <a:spcPts val="0"/>
              </a:spcBef>
              <a:spcAft>
                <a:spcPts val="0"/>
              </a:spcAft>
              <a:buClr>
                <a:schemeClr val="dk1"/>
              </a:buClr>
              <a:buSzPts val="1600"/>
              <a:buFont typeface="Arial"/>
              <a:buNone/>
            </a:pPr>
            <a:r>
              <a:t/>
            </a:r>
            <a:endParaRPr sz="2200">
              <a:solidFill>
                <a:schemeClr val="lt1"/>
              </a:solidFill>
              <a:latin typeface="IBM Plex Sans"/>
              <a:ea typeface="IBM Plex Sans"/>
              <a:cs typeface="IBM Plex Sans"/>
              <a:sym typeface="IBM Plex Sans"/>
            </a:endParaRPr>
          </a:p>
          <a:p>
            <a:pPr indent="0" lvl="0" marL="0" rtl="0" algn="l">
              <a:spcBef>
                <a:spcPts val="0"/>
              </a:spcBef>
              <a:spcAft>
                <a:spcPts val="0"/>
              </a:spcAft>
              <a:buClr>
                <a:schemeClr val="dk1"/>
              </a:buClr>
              <a:buSzPts val="1600"/>
              <a:buFont typeface="Arial"/>
              <a:buNone/>
            </a:pPr>
            <a:r>
              <a:rPr lang="en-US" sz="2200">
                <a:solidFill>
                  <a:schemeClr val="lt1"/>
                </a:solidFill>
                <a:latin typeface="IBM Plex Sans"/>
                <a:ea typeface="IBM Plex Sans"/>
                <a:cs typeface="IBM Plex Sans"/>
                <a:sym typeface="IBM Plex Sans"/>
              </a:rPr>
              <a:t>(legally of course😉)</a:t>
            </a:r>
            <a:endParaRPr sz="2200">
              <a:solidFill>
                <a:schemeClr val="lt1"/>
              </a:solidFill>
              <a:latin typeface="IBM Plex Sans"/>
              <a:ea typeface="IBM Plex Sans"/>
              <a:cs typeface="IBM Plex Sans"/>
              <a:sym typeface="IBM Plex Sans"/>
            </a:endParaRPr>
          </a:p>
          <a:p>
            <a:pPr indent="0" lvl="0" marL="0" rtl="0" algn="l">
              <a:spcBef>
                <a:spcPts val="0"/>
              </a:spcBef>
              <a:spcAft>
                <a:spcPts val="0"/>
              </a:spcAft>
              <a:buClr>
                <a:schemeClr val="dk1"/>
              </a:buClr>
              <a:buSzPts val="1600"/>
              <a:buFont typeface="Arial"/>
              <a:buNone/>
            </a:pPr>
            <a:r>
              <a:t/>
            </a:r>
            <a:endParaRPr sz="2200">
              <a:solidFill>
                <a:schemeClr val="lt1"/>
              </a:solidFill>
              <a:latin typeface="IBM Plex Sans"/>
              <a:ea typeface="IBM Plex Sans"/>
              <a:cs typeface="IBM Plex Sans"/>
              <a:sym typeface="IBM Plex Sans"/>
            </a:endParaRPr>
          </a:p>
          <a:p>
            <a:pPr indent="0" lvl="0" marL="0" rtl="0" algn="l">
              <a:spcBef>
                <a:spcPts val="0"/>
              </a:spcBef>
              <a:spcAft>
                <a:spcPts val="0"/>
              </a:spcAft>
              <a:buClr>
                <a:schemeClr val="dk1"/>
              </a:buClr>
              <a:buSzPts val="1600"/>
              <a:buFont typeface="Arial"/>
              <a:buNone/>
            </a:pPr>
            <a:r>
              <a:t/>
            </a:r>
            <a:endParaRPr sz="2200">
              <a:solidFill>
                <a:schemeClr val="lt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2800"/>
              <a:buFont typeface="Arial"/>
              <a:buNone/>
            </a:pPr>
            <a:r>
              <a:t/>
            </a:r>
            <a:endParaRPr sz="3400">
              <a:solidFill>
                <a:schemeClr val="lt1"/>
              </a:solidFill>
            </a:endParaRPr>
          </a:p>
        </p:txBody>
      </p:sp>
      <p:sp>
        <p:nvSpPr>
          <p:cNvPr id="147" name="Google Shape;147;g38ba0224ced_2_0"/>
          <p:cNvSpPr txBox="1"/>
          <p:nvPr/>
        </p:nvSpPr>
        <p:spPr>
          <a:xfrm>
            <a:off x="445200" y="339050"/>
            <a:ext cx="10422300" cy="122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1" lang="en-US" sz="4400">
                <a:solidFill>
                  <a:schemeClr val="lt1"/>
                </a:solidFill>
              </a:rPr>
              <a:t>Where would be Enumerate?</a:t>
            </a:r>
            <a:endParaRPr b="1" i="0" spc="0" sz="4400" u="none" cap="none" strike="noStrike">
              <a:solidFill>
                <a:schemeClr val="lt1"/>
              </a:solidFill>
              <a:latin typeface="Arial"/>
              <a:ea typeface="Arial"/>
              <a:cs typeface="Arial"/>
              <a:sym typeface="Arial"/>
            </a:endParaRPr>
          </a:p>
        </p:txBody>
      </p:sp>
      <p:pic>
        <p:nvPicPr>
          <p:cNvPr id="148" name="Google Shape;148;g38ba0224ced_2_0"/>
          <p:cNvPicPr preferRelativeResize="0"/>
          <p:nvPr/>
        </p:nvPicPr>
        <p:blipFill rotWithShape="1">
          <a:blip r:embed="rId3">
            <a:alphaModFix/>
          </a:blip>
          <a:srcRect b="0" l="0" r="0" t="0"/>
          <a:stretch/>
        </p:blipFill>
        <p:spPr>
          <a:xfrm>
            <a:off x="8519874" y="4495599"/>
            <a:ext cx="2818100" cy="2008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h6da5aa7a38095804_1_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Now, the bit you guys have been </a:t>
            </a:r>
            <a:r>
              <a:rPr lang="en-US"/>
              <a:t>waiting</a:t>
            </a:r>
            <a:r>
              <a:rPr lang="en-US"/>
              <a:t> for…….</a:t>
            </a:r>
            <a:endParaRPr/>
          </a:p>
        </p:txBody>
      </p:sp>
      <p:sp>
        <p:nvSpPr>
          <p:cNvPr id="154" name="Google Shape;154;h6da5aa7a38095804_1_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ctr">
              <a:spcBef>
                <a:spcPts val="1000"/>
              </a:spcBef>
              <a:spcAft>
                <a:spcPts val="0"/>
              </a:spcAft>
              <a:buNone/>
            </a:pPr>
            <a:r>
              <a:rPr lang="en-US" sz="3300">
                <a:solidFill>
                  <a:schemeClr val="lt1"/>
                </a:solidFill>
              </a:rPr>
              <a:t>The Tools :D</a:t>
            </a:r>
            <a:endParaRPr sz="3300">
              <a:solidFill>
                <a:schemeClr val="lt1"/>
              </a:solidFill>
            </a:endParaRPr>
          </a:p>
          <a:p>
            <a:pPr indent="0" lvl="0" marL="0" rtl="0" algn="ctr">
              <a:spcBef>
                <a:spcPts val="1000"/>
              </a:spcBef>
              <a:spcAft>
                <a:spcPts val="0"/>
              </a:spcAft>
              <a:buNone/>
            </a:pPr>
            <a:r>
              <a:t/>
            </a:r>
            <a:endParaRPr sz="3300">
              <a:solidFill>
                <a:schemeClr val="lt1"/>
              </a:solidFill>
            </a:endParaRPr>
          </a:p>
        </p:txBody>
      </p:sp>
      <p:pic>
        <p:nvPicPr>
          <p:cNvPr id="155" name="Google Shape;155;h6da5aa7a38095804_1_14"/>
          <p:cNvPicPr preferRelativeResize="0"/>
          <p:nvPr/>
        </p:nvPicPr>
        <p:blipFill rotWithShape="1">
          <a:blip r:embed="rId3">
            <a:alphaModFix/>
          </a:blip>
          <a:srcRect b="0" l="0" r="0" t="0"/>
          <a:stretch/>
        </p:blipFill>
        <p:spPr>
          <a:xfrm>
            <a:off x="4435600" y="2765925"/>
            <a:ext cx="3320800" cy="3320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h6da5aa7a38095804_1_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The Enumeration Tools</a:t>
            </a:r>
            <a:endParaRPr/>
          </a:p>
        </p:txBody>
      </p:sp>
      <p:sp>
        <p:nvSpPr>
          <p:cNvPr id="161" name="Google Shape;161;h6da5aa7a38095804_1_20"/>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Font typeface="Arial"/>
              <a:buNone/>
            </a:pPr>
            <a:r>
              <a:rPr lang="en-US" sz="2100">
                <a:solidFill>
                  <a:schemeClr val="lt1"/>
                </a:solidFill>
                <a:latin typeface="IBM Plex Sans"/>
                <a:ea typeface="IBM Plex Sans"/>
                <a:cs typeface="IBM Plex Sans"/>
                <a:sym typeface="IBM Plex Sans"/>
              </a:rPr>
              <a:t>There are loads of tools which are really helpful for gathering info needed, which include:</a:t>
            </a:r>
            <a:endParaRPr sz="2100">
              <a:solidFill>
                <a:schemeClr val="lt1"/>
              </a:solidFill>
              <a:latin typeface="IBM Plex Sans"/>
              <a:ea typeface="IBM Plex Sans"/>
              <a:cs typeface="IBM Plex Sans"/>
              <a:sym typeface="IBM Plex Sans"/>
            </a:endParaRPr>
          </a:p>
          <a:p>
            <a:pPr indent="-361950" lvl="0" marL="457200" rtl="0" algn="l">
              <a:lnSpc>
                <a:spcPct val="100000"/>
              </a:lnSpc>
              <a:spcBef>
                <a:spcPts val="0"/>
              </a:spcBef>
              <a:spcAft>
                <a:spcPts val="0"/>
              </a:spcAft>
              <a:buClr>
                <a:schemeClr val="lt1"/>
              </a:buClr>
              <a:buSzPts val="2100"/>
              <a:buFont typeface="IBM Plex Sans"/>
              <a:buChar char="●"/>
            </a:pPr>
            <a:r>
              <a:rPr lang="en-US" sz="2100">
                <a:solidFill>
                  <a:schemeClr val="lt1"/>
                </a:solidFill>
                <a:latin typeface="IBM Plex Sans"/>
                <a:ea typeface="IBM Plex Sans"/>
                <a:cs typeface="IBM Plex Sans"/>
                <a:sym typeface="IBM Plex Sans"/>
              </a:rPr>
              <a:t>Nmap</a:t>
            </a:r>
            <a:endParaRPr sz="2100">
              <a:solidFill>
                <a:schemeClr val="lt1"/>
              </a:solidFill>
              <a:latin typeface="IBM Plex Sans"/>
              <a:ea typeface="IBM Plex Sans"/>
              <a:cs typeface="IBM Plex Sans"/>
              <a:sym typeface="IBM Plex Sans"/>
            </a:endParaRPr>
          </a:p>
          <a:p>
            <a:pPr indent="-361950" lvl="0" marL="457200" rtl="0" algn="l">
              <a:lnSpc>
                <a:spcPct val="100000"/>
              </a:lnSpc>
              <a:spcBef>
                <a:spcPts val="0"/>
              </a:spcBef>
              <a:spcAft>
                <a:spcPts val="0"/>
              </a:spcAft>
              <a:buClr>
                <a:schemeClr val="lt1"/>
              </a:buClr>
              <a:buSzPts val="2100"/>
              <a:buFont typeface="IBM Plex Sans"/>
              <a:buChar char="●"/>
            </a:pPr>
            <a:r>
              <a:rPr lang="en-US" sz="2100">
                <a:solidFill>
                  <a:schemeClr val="lt1"/>
                </a:solidFill>
                <a:latin typeface="IBM Plex Sans"/>
                <a:ea typeface="IBM Plex Sans"/>
                <a:cs typeface="IBM Plex Sans"/>
                <a:sym typeface="IBM Plex Sans"/>
              </a:rPr>
              <a:t>Ffuf</a:t>
            </a:r>
            <a:endParaRPr sz="2100">
              <a:solidFill>
                <a:schemeClr val="lt1"/>
              </a:solidFill>
              <a:latin typeface="IBM Plex Sans"/>
              <a:ea typeface="IBM Plex Sans"/>
              <a:cs typeface="IBM Plex Sans"/>
              <a:sym typeface="IBM Plex Sans"/>
            </a:endParaRPr>
          </a:p>
          <a:p>
            <a:pPr indent="-361950" lvl="0" marL="457200" rtl="0" algn="l">
              <a:lnSpc>
                <a:spcPct val="100000"/>
              </a:lnSpc>
              <a:spcBef>
                <a:spcPts val="0"/>
              </a:spcBef>
              <a:spcAft>
                <a:spcPts val="0"/>
              </a:spcAft>
              <a:buClr>
                <a:schemeClr val="lt1"/>
              </a:buClr>
              <a:buSzPts val="2100"/>
              <a:buFont typeface="IBM Plex Sans"/>
              <a:buChar char="●"/>
            </a:pPr>
            <a:r>
              <a:rPr lang="en-US" sz="2100">
                <a:solidFill>
                  <a:schemeClr val="lt1"/>
                </a:solidFill>
                <a:latin typeface="IBM Plex Sans"/>
                <a:ea typeface="IBM Plex Sans"/>
                <a:cs typeface="IBM Plex Sans"/>
                <a:sym typeface="IBM Plex Sans"/>
              </a:rPr>
              <a:t>Netcat</a:t>
            </a:r>
            <a:endParaRPr sz="2100">
              <a:solidFill>
                <a:schemeClr val="lt1"/>
              </a:solidFill>
              <a:latin typeface="IBM Plex Sans"/>
              <a:ea typeface="IBM Plex Sans"/>
              <a:cs typeface="IBM Plex Sans"/>
              <a:sym typeface="IBM Plex Sans"/>
            </a:endParaRPr>
          </a:p>
          <a:p>
            <a:pPr indent="-361950" lvl="0" marL="457200" rtl="0" algn="l">
              <a:lnSpc>
                <a:spcPct val="100000"/>
              </a:lnSpc>
              <a:spcBef>
                <a:spcPts val="0"/>
              </a:spcBef>
              <a:spcAft>
                <a:spcPts val="0"/>
              </a:spcAft>
              <a:buClr>
                <a:schemeClr val="lt1"/>
              </a:buClr>
              <a:buSzPts val="2100"/>
              <a:buFont typeface="IBM Plex Sans"/>
              <a:buChar char="●"/>
            </a:pPr>
            <a:r>
              <a:rPr lang="en-US" sz="2100">
                <a:solidFill>
                  <a:schemeClr val="lt1"/>
                </a:solidFill>
                <a:latin typeface="IBM Plex Sans"/>
                <a:ea typeface="IBM Plex Sans"/>
                <a:cs typeface="IBM Plex Sans"/>
                <a:sym typeface="IBM Plex Sans"/>
              </a:rPr>
              <a:t>GoBuster</a:t>
            </a:r>
            <a:endParaRPr sz="2100">
              <a:solidFill>
                <a:schemeClr val="lt1"/>
              </a:solidFill>
              <a:latin typeface="IBM Plex Sans"/>
              <a:ea typeface="IBM Plex Sans"/>
              <a:cs typeface="IBM Plex Sans"/>
              <a:sym typeface="IBM Plex Sans"/>
            </a:endParaRPr>
          </a:p>
          <a:p>
            <a:pPr indent="-361950" lvl="0" marL="457200" rtl="0" algn="l">
              <a:lnSpc>
                <a:spcPct val="100000"/>
              </a:lnSpc>
              <a:spcBef>
                <a:spcPts val="0"/>
              </a:spcBef>
              <a:spcAft>
                <a:spcPts val="0"/>
              </a:spcAft>
              <a:buClr>
                <a:schemeClr val="lt1"/>
              </a:buClr>
              <a:buSzPts val="2100"/>
              <a:buFont typeface="IBM Plex Sans"/>
              <a:buChar char="●"/>
            </a:pPr>
            <a:r>
              <a:rPr lang="en-US" sz="2100">
                <a:solidFill>
                  <a:schemeClr val="lt1"/>
                </a:solidFill>
                <a:latin typeface="IBM Plex Sans"/>
                <a:ea typeface="IBM Plex Sans"/>
                <a:cs typeface="IBM Plex Sans"/>
                <a:sym typeface="IBM Plex Sans"/>
              </a:rPr>
              <a:t>DNSDumpster</a:t>
            </a:r>
            <a:endParaRPr sz="2100">
              <a:solidFill>
                <a:schemeClr val="lt1"/>
              </a:solidFill>
              <a:latin typeface="IBM Plex Sans"/>
              <a:ea typeface="IBM Plex Sans"/>
              <a:cs typeface="IBM Plex Sans"/>
              <a:sym typeface="IBM Plex Sans"/>
            </a:endParaRPr>
          </a:p>
          <a:p>
            <a:pPr indent="-361950" lvl="0" marL="457200" rtl="0" algn="l">
              <a:lnSpc>
                <a:spcPct val="100000"/>
              </a:lnSpc>
              <a:spcBef>
                <a:spcPts val="0"/>
              </a:spcBef>
              <a:spcAft>
                <a:spcPts val="0"/>
              </a:spcAft>
              <a:buClr>
                <a:schemeClr val="lt1"/>
              </a:buClr>
              <a:buSzPts val="2100"/>
              <a:buFont typeface="IBM Plex Sans"/>
              <a:buChar char="●"/>
            </a:pPr>
            <a:r>
              <a:rPr lang="en-US" sz="2100">
                <a:solidFill>
                  <a:schemeClr val="lt1"/>
                </a:solidFill>
                <a:latin typeface="IBM Plex Sans"/>
                <a:ea typeface="IBM Plex Sans"/>
                <a:cs typeface="IBM Plex Sans"/>
                <a:sym typeface="IBM Plex Sans"/>
              </a:rPr>
              <a:t>Just general scoping Websites (not a tool i know)</a:t>
            </a:r>
            <a:endParaRPr sz="2100">
              <a:solidFill>
                <a:schemeClr val="lt1"/>
              </a:solidFill>
              <a:latin typeface="IBM Plex Sans"/>
              <a:ea typeface="IBM Plex Sans"/>
              <a:cs typeface="IBM Plex Sans"/>
              <a:sym typeface="IBM Plex Sans"/>
            </a:endParaRPr>
          </a:p>
          <a:p>
            <a:pPr indent="-361950" lvl="0" marL="457200" rtl="0" algn="l">
              <a:lnSpc>
                <a:spcPct val="100000"/>
              </a:lnSpc>
              <a:spcBef>
                <a:spcPts val="0"/>
              </a:spcBef>
              <a:spcAft>
                <a:spcPts val="0"/>
              </a:spcAft>
              <a:buClr>
                <a:schemeClr val="lt1"/>
              </a:buClr>
              <a:buSzPts val="2100"/>
              <a:buFont typeface="IBM Plex Sans"/>
              <a:buChar char="●"/>
            </a:pPr>
            <a:r>
              <a:rPr lang="en-US" sz="2100">
                <a:solidFill>
                  <a:schemeClr val="lt1"/>
                </a:solidFill>
                <a:latin typeface="IBM Plex Sans"/>
                <a:ea typeface="IBM Plex Sans"/>
                <a:cs typeface="IBM Plex Sans"/>
                <a:sym typeface="IBM Plex Sans"/>
              </a:rPr>
              <a:t>And more….. </a:t>
            </a:r>
            <a:endParaRPr sz="21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1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2100">
                <a:solidFill>
                  <a:schemeClr val="lt1"/>
                </a:solidFill>
                <a:latin typeface="IBM Plex Sans"/>
                <a:ea typeface="IBM Plex Sans"/>
                <a:cs typeface="IBM Plex Sans"/>
                <a:sym typeface="IBM Plex Sans"/>
              </a:rPr>
              <a:t>The tools we focus on today will be linux based, as a lot of what we do is on linux, but there are also many enumeration tools for Windows too.</a:t>
            </a:r>
            <a:endParaRPr sz="21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sz="3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h6da5aa7a38095804_1_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Nmap</a:t>
            </a:r>
            <a:endParaRPr/>
          </a:p>
        </p:txBody>
      </p:sp>
      <p:sp>
        <p:nvSpPr>
          <p:cNvPr id="167" name="Google Shape;167;h6da5aa7a38095804_1_2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Font typeface="Arial"/>
              <a:buNone/>
            </a:pPr>
            <a:r>
              <a:rPr lang="en-US" sz="2100">
                <a:solidFill>
                  <a:schemeClr val="lt1"/>
                </a:solidFill>
                <a:latin typeface="IBM Plex Sans"/>
                <a:ea typeface="IBM Plex Sans"/>
                <a:cs typeface="IBM Plex Sans"/>
                <a:sym typeface="IBM Plex Sans"/>
              </a:rPr>
              <a:t>Nmap is one of the most helpful tools that we use as it gives so much info about the given target. </a:t>
            </a:r>
            <a:endParaRPr sz="21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2000"/>
              <a:buFont typeface="Arial"/>
              <a:buNone/>
            </a:pPr>
            <a:r>
              <a:t/>
            </a:r>
            <a:endParaRPr sz="21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2000"/>
              <a:buFont typeface="Arial"/>
              <a:buNone/>
            </a:pPr>
            <a:r>
              <a:rPr lang="en-US" sz="2100">
                <a:solidFill>
                  <a:schemeClr val="lt1"/>
                </a:solidFill>
                <a:latin typeface="IBM Plex Sans"/>
                <a:ea typeface="IBM Plex Sans"/>
                <a:cs typeface="IBM Plex Sans"/>
                <a:sym typeface="IBM Plex Sans"/>
              </a:rPr>
              <a:t>Its most helpful for doing a full info dump when it comes to ports, showing the service that is running and most importantly the version of the services running on those ports. </a:t>
            </a:r>
            <a:endParaRPr sz="21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2000"/>
              <a:buFont typeface="Arial"/>
              <a:buNone/>
            </a:pPr>
            <a:r>
              <a:t/>
            </a:r>
            <a:endParaRPr sz="21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2000"/>
              <a:buFont typeface="Arial"/>
              <a:buNone/>
            </a:pPr>
            <a:r>
              <a:rPr lang="en-US" sz="2100">
                <a:solidFill>
                  <a:schemeClr val="lt1"/>
                </a:solidFill>
                <a:latin typeface="IBM Plex Sans"/>
                <a:ea typeface="IBM Plex Sans"/>
                <a:cs typeface="IBM Plex Sans"/>
                <a:sym typeface="IBM Plex Sans"/>
              </a:rPr>
              <a:t>This data can also show which operating system is being used to, either obviously or by some of the service exclusive to that OS.</a:t>
            </a:r>
            <a:endParaRPr sz="21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sz="2700"/>
          </a:p>
        </p:txBody>
      </p:sp>
      <p:pic>
        <p:nvPicPr>
          <p:cNvPr id="168" name="Google Shape;168;h6da5aa7a38095804_1_25"/>
          <p:cNvPicPr preferRelativeResize="0"/>
          <p:nvPr/>
        </p:nvPicPr>
        <p:blipFill rotWithShape="1">
          <a:blip r:embed="rId3">
            <a:alphaModFix/>
          </a:blip>
          <a:srcRect b="0" l="0" r="0" t="0"/>
          <a:stretch/>
        </p:blipFill>
        <p:spPr>
          <a:xfrm>
            <a:off x="9389100" y="5153350"/>
            <a:ext cx="2504300" cy="1402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h6da5aa7a38095804_1_3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More Nmap….</a:t>
            </a:r>
            <a:endParaRPr/>
          </a:p>
        </p:txBody>
      </p:sp>
      <p:sp>
        <p:nvSpPr>
          <p:cNvPr id="174" name="Google Shape;174;h6da5aa7a38095804_1_31"/>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Font typeface="Arial"/>
              <a:buNone/>
            </a:pPr>
            <a:r>
              <a:rPr lang="en-US" sz="1900">
                <a:solidFill>
                  <a:schemeClr val="lt1"/>
                </a:solidFill>
                <a:latin typeface="IBM Plex Sans"/>
                <a:ea typeface="IBM Plex Sans"/>
                <a:cs typeface="IBM Plex Sans"/>
                <a:sym typeface="IBM Plex Sans"/>
              </a:rPr>
              <a:t>There are a many options for commands for Nmap, but there are 4 mains ones that are helpful:</a:t>
            </a:r>
            <a:endParaRPr sz="1900">
              <a:solidFill>
                <a:schemeClr val="lt1"/>
              </a:solidFill>
              <a:latin typeface="IBM Plex Sans"/>
              <a:ea typeface="IBM Plex Sans"/>
              <a:cs typeface="IBM Plex Sans"/>
              <a:sym typeface="IBM Plex Sans"/>
            </a:endParaRPr>
          </a:p>
          <a:p>
            <a:pPr indent="-349250" lvl="0" marL="457200" rtl="0" algn="l">
              <a:lnSpc>
                <a:spcPct val="100000"/>
              </a:lnSpc>
              <a:spcBef>
                <a:spcPts val="0"/>
              </a:spcBef>
              <a:spcAft>
                <a:spcPts val="0"/>
              </a:spcAft>
              <a:buClr>
                <a:schemeClr val="lt1"/>
              </a:buClr>
              <a:buSzPts val="1900"/>
              <a:buFont typeface="IBM Plex Sans"/>
              <a:buChar char="●"/>
            </a:pPr>
            <a:r>
              <a:rPr b="1" lang="en-US" sz="1900">
                <a:solidFill>
                  <a:srgbClr val="F4CCCC"/>
                </a:solidFill>
                <a:latin typeface="IBM Plex Sans"/>
                <a:ea typeface="IBM Plex Sans"/>
                <a:cs typeface="IBM Plex Sans"/>
                <a:sym typeface="IBM Plex Sans"/>
              </a:rPr>
              <a:t>“nmap -sC {Address}”</a:t>
            </a:r>
            <a:r>
              <a:rPr lang="en-US" sz="1900">
                <a:solidFill>
                  <a:schemeClr val="lt1"/>
                </a:solidFill>
                <a:latin typeface="IBM Plex Sans"/>
                <a:ea typeface="IBM Plex Sans"/>
                <a:cs typeface="IBM Plex Sans"/>
                <a:sym typeface="IBM Plex Sans"/>
              </a:rPr>
              <a:t> -  This scans using the </a:t>
            </a:r>
            <a:r>
              <a:rPr b="1" lang="en-US" sz="1900">
                <a:solidFill>
                  <a:schemeClr val="lt1"/>
                </a:solidFill>
                <a:latin typeface="IBM Plex Sans"/>
                <a:ea typeface="IBM Plex Sans"/>
                <a:cs typeface="IBM Plex Sans"/>
                <a:sym typeface="IBM Plex Sans"/>
              </a:rPr>
              <a:t>standard NSE scripts</a:t>
            </a:r>
            <a:r>
              <a:rPr lang="en-US" sz="1900">
                <a:solidFill>
                  <a:schemeClr val="lt1"/>
                </a:solidFill>
                <a:latin typeface="IBM Plex Sans"/>
                <a:ea typeface="IBM Plex Sans"/>
                <a:cs typeface="IBM Plex Sans"/>
                <a:sym typeface="IBM Plex Sans"/>
              </a:rPr>
              <a:t> to do advanced fingerprinting etc</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900">
              <a:solidFill>
                <a:schemeClr val="lt1"/>
              </a:solidFill>
              <a:latin typeface="IBM Plex Sans"/>
              <a:ea typeface="IBM Plex Sans"/>
              <a:cs typeface="IBM Plex Sans"/>
              <a:sym typeface="IBM Plex Sans"/>
            </a:endParaRPr>
          </a:p>
          <a:p>
            <a:pPr indent="-349250" lvl="0" marL="457200" rtl="0" algn="l">
              <a:lnSpc>
                <a:spcPct val="100000"/>
              </a:lnSpc>
              <a:spcBef>
                <a:spcPts val="0"/>
              </a:spcBef>
              <a:spcAft>
                <a:spcPts val="0"/>
              </a:spcAft>
              <a:buClr>
                <a:schemeClr val="lt1"/>
              </a:buClr>
              <a:buSzPts val="1900"/>
              <a:buFont typeface="IBM Plex Sans"/>
              <a:buChar char="●"/>
            </a:pPr>
            <a:r>
              <a:rPr b="1" lang="en-US" sz="1900">
                <a:solidFill>
                  <a:srgbClr val="F4CCCC"/>
                </a:solidFill>
                <a:latin typeface="IBM Plex Sans"/>
                <a:ea typeface="IBM Plex Sans"/>
                <a:cs typeface="IBM Plex Sans"/>
                <a:sym typeface="IBM Plex Sans"/>
              </a:rPr>
              <a:t>“nmap -sV {Address}”</a:t>
            </a:r>
            <a:r>
              <a:rPr lang="en-US" sz="1900">
                <a:solidFill>
                  <a:schemeClr val="lt1"/>
                </a:solidFill>
                <a:latin typeface="IBM Plex Sans"/>
                <a:ea typeface="IBM Plex Sans"/>
                <a:cs typeface="IBM Plex Sans"/>
                <a:sym typeface="IBM Plex Sans"/>
              </a:rPr>
              <a:t> - This scans for </a:t>
            </a:r>
            <a:r>
              <a:rPr b="1" lang="en-US" sz="1900">
                <a:solidFill>
                  <a:schemeClr val="lt1"/>
                </a:solidFill>
                <a:latin typeface="IBM Plex Sans"/>
                <a:ea typeface="IBM Plex Sans"/>
                <a:cs typeface="IBM Plex Sans"/>
                <a:sym typeface="IBM Plex Sans"/>
              </a:rPr>
              <a:t>which services are running and what their version is</a:t>
            </a:r>
            <a:r>
              <a:rPr lang="en-US" sz="1900">
                <a:solidFill>
                  <a:schemeClr val="lt1"/>
                </a:solidFill>
                <a:latin typeface="IBM Plex Sans"/>
                <a:ea typeface="IBM Plex Sans"/>
                <a:cs typeface="IBM Plex Sans"/>
                <a:sym typeface="IBM Plex Sans"/>
              </a:rPr>
              <a:t>.</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900">
              <a:solidFill>
                <a:schemeClr val="lt1"/>
              </a:solidFill>
              <a:latin typeface="IBM Plex Sans"/>
              <a:ea typeface="IBM Plex Sans"/>
              <a:cs typeface="IBM Plex Sans"/>
              <a:sym typeface="IBM Plex Sans"/>
            </a:endParaRPr>
          </a:p>
          <a:p>
            <a:pPr indent="-349250" lvl="0" marL="457200" rtl="0" algn="l">
              <a:lnSpc>
                <a:spcPct val="100000"/>
              </a:lnSpc>
              <a:spcBef>
                <a:spcPts val="0"/>
              </a:spcBef>
              <a:spcAft>
                <a:spcPts val="0"/>
              </a:spcAft>
              <a:buClr>
                <a:schemeClr val="lt1"/>
              </a:buClr>
              <a:buSzPts val="1900"/>
              <a:buFont typeface="IBM Plex Sans"/>
              <a:buChar char="●"/>
            </a:pPr>
            <a:r>
              <a:rPr b="1" lang="en-US" sz="1900">
                <a:solidFill>
                  <a:srgbClr val="F4CCCC"/>
                </a:solidFill>
                <a:latin typeface="IBM Plex Sans"/>
                <a:ea typeface="IBM Plex Sans"/>
                <a:cs typeface="IBM Plex Sans"/>
                <a:sym typeface="IBM Plex Sans"/>
              </a:rPr>
              <a:t>“nmap [option] {Address} -p {port}”</a:t>
            </a:r>
            <a:r>
              <a:rPr lang="en-US" sz="1900">
                <a:solidFill>
                  <a:schemeClr val="lt1"/>
                </a:solidFill>
                <a:latin typeface="IBM Plex Sans"/>
                <a:ea typeface="IBM Plex Sans"/>
                <a:cs typeface="IBM Plex Sans"/>
                <a:sym typeface="IBM Plex Sans"/>
              </a:rPr>
              <a:t> - this allows you to designate the </a:t>
            </a:r>
            <a:r>
              <a:rPr b="1" lang="en-US" sz="1900">
                <a:solidFill>
                  <a:schemeClr val="lt1"/>
                </a:solidFill>
                <a:latin typeface="IBM Plex Sans"/>
                <a:ea typeface="IBM Plex Sans"/>
                <a:cs typeface="IBM Plex Sans"/>
                <a:sym typeface="IBM Plex Sans"/>
              </a:rPr>
              <a:t>specific port to scan</a:t>
            </a:r>
            <a:r>
              <a:rPr lang="en-US" sz="1900">
                <a:solidFill>
                  <a:schemeClr val="lt1"/>
                </a:solidFill>
                <a:latin typeface="IBM Plex Sans"/>
                <a:ea typeface="IBM Plex Sans"/>
                <a:cs typeface="IBM Plex Sans"/>
                <a:sym typeface="IBM Plex Sans"/>
              </a:rPr>
              <a:t>.</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900">
              <a:solidFill>
                <a:schemeClr val="lt1"/>
              </a:solidFill>
              <a:latin typeface="IBM Plex Sans"/>
              <a:ea typeface="IBM Plex Sans"/>
              <a:cs typeface="IBM Plex Sans"/>
              <a:sym typeface="IBM Plex Sans"/>
            </a:endParaRPr>
          </a:p>
          <a:p>
            <a:pPr indent="-349250" lvl="0" marL="457200" rtl="0" algn="l">
              <a:lnSpc>
                <a:spcPct val="100000"/>
              </a:lnSpc>
              <a:spcBef>
                <a:spcPts val="0"/>
              </a:spcBef>
              <a:spcAft>
                <a:spcPts val="0"/>
              </a:spcAft>
              <a:buClr>
                <a:schemeClr val="lt1"/>
              </a:buClr>
              <a:buSzPts val="1900"/>
              <a:buFont typeface="IBM Plex Sans"/>
              <a:buChar char="●"/>
            </a:pPr>
            <a:r>
              <a:rPr b="1" lang="en-US" sz="1900">
                <a:solidFill>
                  <a:srgbClr val="F4CCCC"/>
                </a:solidFill>
                <a:latin typeface="IBM Plex Sans"/>
                <a:ea typeface="IBM Plex Sans"/>
                <a:cs typeface="IBM Plex Sans"/>
                <a:sym typeface="IBM Plex Sans"/>
              </a:rPr>
              <a:t>“nmap [option] {Address} -p-”</a:t>
            </a:r>
            <a:r>
              <a:rPr lang="en-US" sz="1900">
                <a:solidFill>
                  <a:schemeClr val="lt1"/>
                </a:solidFill>
                <a:latin typeface="IBM Plex Sans"/>
                <a:ea typeface="IBM Plex Sans"/>
                <a:cs typeface="IBM Plex Sans"/>
                <a:sym typeface="IBM Plex Sans"/>
              </a:rPr>
              <a:t> - this allows you to </a:t>
            </a:r>
            <a:r>
              <a:rPr b="1" lang="en-US" sz="1900">
                <a:solidFill>
                  <a:schemeClr val="lt1"/>
                </a:solidFill>
                <a:latin typeface="IBM Plex Sans"/>
                <a:ea typeface="IBM Plex Sans"/>
                <a:cs typeface="IBM Plex Sans"/>
                <a:sym typeface="IBM Plex Sans"/>
              </a:rPr>
              <a:t>scan ALL 65535 ports</a:t>
            </a:r>
            <a:r>
              <a:rPr lang="en-US" sz="1900">
                <a:solidFill>
                  <a:schemeClr val="lt1"/>
                </a:solidFill>
                <a:latin typeface="IBM Plex Sans"/>
                <a:ea typeface="IBM Plex Sans"/>
                <a:cs typeface="IBM Plex Sans"/>
                <a:sym typeface="IBM Plex Sans"/>
              </a:rPr>
              <a:t> </a:t>
            </a:r>
            <a:endParaRPr sz="1900">
              <a:solidFill>
                <a:schemeClr val="lt1"/>
              </a:solidFill>
              <a:latin typeface="IBM Plex Sans"/>
              <a:ea typeface="IBM Plex Sans"/>
              <a:cs typeface="IBM Plex Sans"/>
              <a:sym typeface="IBM Plex Sans"/>
            </a:endParaRPr>
          </a:p>
          <a:p>
            <a:pPr indent="-349250" lvl="0" marL="457200" rtl="0" algn="l">
              <a:lnSpc>
                <a:spcPct val="100000"/>
              </a:lnSpc>
              <a:spcBef>
                <a:spcPts val="0"/>
              </a:spcBef>
              <a:spcAft>
                <a:spcPts val="0"/>
              </a:spcAft>
              <a:buClr>
                <a:schemeClr val="lt1"/>
              </a:buClr>
              <a:buSzPts val="1900"/>
              <a:buFont typeface="IBM Plex Sans"/>
              <a:buChar char="●"/>
            </a:pPr>
            <a:r>
              <a:rPr lang="en-US" sz="1900">
                <a:solidFill>
                  <a:schemeClr val="lt1"/>
                </a:solidFill>
                <a:latin typeface="IBM Plex Sans"/>
                <a:ea typeface="IBM Plex Sans"/>
                <a:cs typeface="IBM Plex Sans"/>
                <a:sym typeface="IBM Plex Sans"/>
              </a:rPr>
              <a:t>(time consuming).</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900">
              <a:solidFill>
                <a:schemeClr val="lt1"/>
              </a:solidFill>
              <a:latin typeface="IBM Plex Sans"/>
              <a:ea typeface="IBM Plex Sans"/>
              <a:cs typeface="IBM Plex Sans"/>
              <a:sym typeface="IBM Plex Sans"/>
            </a:endParaRPr>
          </a:p>
          <a:p>
            <a:pPr indent="-349250" lvl="0" marL="457200" rtl="0" algn="l">
              <a:lnSpc>
                <a:spcPct val="100000"/>
              </a:lnSpc>
              <a:spcBef>
                <a:spcPts val="0"/>
              </a:spcBef>
              <a:spcAft>
                <a:spcPts val="0"/>
              </a:spcAft>
              <a:buClr>
                <a:schemeClr val="lt1"/>
              </a:buClr>
              <a:buSzPts val="1900"/>
              <a:buFont typeface="IBM Plex Sans"/>
              <a:buChar char="●"/>
            </a:pPr>
            <a:r>
              <a:rPr lang="en-US" sz="1900">
                <a:solidFill>
                  <a:schemeClr val="lt1"/>
                </a:solidFill>
                <a:latin typeface="IBM Plex Sans"/>
                <a:ea typeface="IBM Plex Sans"/>
                <a:cs typeface="IBM Plex Sans"/>
                <a:sym typeface="IBM Plex Sans"/>
              </a:rPr>
              <a:t>“</a:t>
            </a:r>
            <a:r>
              <a:rPr b="1" lang="en-US" sz="1900">
                <a:solidFill>
                  <a:srgbClr val="BF9000"/>
                </a:solidFill>
                <a:latin typeface="IBM Plex Sans"/>
                <a:ea typeface="IBM Plex Sans"/>
                <a:cs typeface="IBM Plex Sans"/>
                <a:sym typeface="IBM Plex Sans"/>
              </a:rPr>
              <a:t>nmap --help</a:t>
            </a:r>
            <a:r>
              <a:rPr lang="en-US" sz="1900">
                <a:solidFill>
                  <a:schemeClr val="lt1"/>
                </a:solidFill>
                <a:latin typeface="IBM Plex Sans"/>
                <a:ea typeface="IBM Plex Sans"/>
                <a:cs typeface="IBM Plex Sans"/>
                <a:sym typeface="IBM Plex Sans"/>
              </a:rPr>
              <a:t>” or “</a:t>
            </a:r>
            <a:r>
              <a:rPr b="1" lang="en-US" sz="1900">
                <a:solidFill>
                  <a:srgbClr val="BF9000"/>
                </a:solidFill>
                <a:latin typeface="IBM Plex Sans"/>
                <a:ea typeface="IBM Plex Sans"/>
                <a:cs typeface="IBM Plex Sans"/>
                <a:sym typeface="IBM Plex Sans"/>
              </a:rPr>
              <a:t>nmap -h</a:t>
            </a:r>
            <a:r>
              <a:rPr lang="en-US" sz="1900">
                <a:solidFill>
                  <a:schemeClr val="lt1"/>
                </a:solidFill>
                <a:latin typeface="IBM Plex Sans"/>
                <a:ea typeface="IBM Plex Sans"/>
                <a:cs typeface="IBM Plex Sans"/>
                <a:sym typeface="IBM Plex Sans"/>
              </a:rPr>
              <a:t>” - This opens the help menu.</a:t>
            </a:r>
            <a:endParaRPr sz="19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sz="2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h6da5aa7a38095804_1_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Even More Nmap…..</a:t>
            </a:r>
            <a:endParaRPr/>
          </a:p>
        </p:txBody>
      </p:sp>
      <p:sp>
        <p:nvSpPr>
          <p:cNvPr id="180" name="Google Shape;180;h6da5aa7a38095804_1_3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2100">
                <a:solidFill>
                  <a:schemeClr val="lt1"/>
                </a:solidFill>
                <a:latin typeface="IBM Plex Sans"/>
                <a:ea typeface="IBM Plex Sans"/>
                <a:cs typeface="IBM Plex Sans"/>
                <a:sym typeface="IBM Plex Sans"/>
              </a:rPr>
              <a:t>Some more helpful, more advanced options for Nmap:</a:t>
            </a:r>
            <a:endParaRPr sz="21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100">
              <a:solidFill>
                <a:schemeClr val="lt1"/>
              </a:solidFill>
              <a:latin typeface="IBM Plex Sans"/>
              <a:ea typeface="IBM Plex Sans"/>
              <a:cs typeface="IBM Plex Sans"/>
              <a:sym typeface="IBM Plex Sans"/>
            </a:endParaRPr>
          </a:p>
          <a:p>
            <a:pPr indent="-361950" lvl="0" marL="457200" rtl="0" algn="l">
              <a:lnSpc>
                <a:spcPct val="100000"/>
              </a:lnSpc>
              <a:spcBef>
                <a:spcPts val="0"/>
              </a:spcBef>
              <a:spcAft>
                <a:spcPts val="0"/>
              </a:spcAft>
              <a:buClr>
                <a:schemeClr val="lt1"/>
              </a:buClr>
              <a:buSzPts val="2100"/>
              <a:buFont typeface="IBM Plex Sans"/>
              <a:buChar char="●"/>
            </a:pPr>
            <a:r>
              <a:rPr lang="en-US" sz="2100">
                <a:solidFill>
                  <a:schemeClr val="lt1"/>
                </a:solidFill>
                <a:latin typeface="IBM Plex Sans"/>
                <a:ea typeface="IBM Plex Sans"/>
                <a:cs typeface="IBM Plex Sans"/>
                <a:sym typeface="IBM Plex Sans"/>
              </a:rPr>
              <a:t>‘</a:t>
            </a:r>
            <a:r>
              <a:rPr b="1" lang="en-US" sz="2100">
                <a:solidFill>
                  <a:srgbClr val="6AA84F"/>
                </a:solidFill>
                <a:latin typeface="IBM Plex Sans"/>
                <a:ea typeface="IBM Plex Sans"/>
                <a:cs typeface="IBM Plex Sans"/>
                <a:sym typeface="IBM Plex Sans"/>
              </a:rPr>
              <a:t>-A</a:t>
            </a:r>
            <a:r>
              <a:rPr lang="en-US" sz="2100">
                <a:solidFill>
                  <a:schemeClr val="lt1"/>
                </a:solidFill>
                <a:latin typeface="IBM Plex Sans"/>
                <a:ea typeface="IBM Plex Sans"/>
                <a:cs typeface="IBM Plex Sans"/>
                <a:sym typeface="IBM Plex Sans"/>
              </a:rPr>
              <a:t>’ - is used for an aggressive scan which scans for OS version, versions, scripts running and tracetables</a:t>
            </a:r>
            <a:endParaRPr sz="21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100">
              <a:solidFill>
                <a:schemeClr val="lt1"/>
              </a:solidFill>
              <a:latin typeface="IBM Plex Sans"/>
              <a:ea typeface="IBM Plex Sans"/>
              <a:cs typeface="IBM Plex Sans"/>
              <a:sym typeface="IBM Plex Sans"/>
            </a:endParaRPr>
          </a:p>
          <a:p>
            <a:pPr indent="-361950" lvl="0" marL="457200" rtl="0" algn="l">
              <a:lnSpc>
                <a:spcPct val="100000"/>
              </a:lnSpc>
              <a:spcBef>
                <a:spcPts val="0"/>
              </a:spcBef>
              <a:spcAft>
                <a:spcPts val="0"/>
              </a:spcAft>
              <a:buClr>
                <a:schemeClr val="lt1"/>
              </a:buClr>
              <a:buSzPts val="2100"/>
              <a:buFont typeface="IBM Plex Sans"/>
              <a:buChar char="●"/>
            </a:pPr>
            <a:r>
              <a:rPr lang="en-US" sz="2100">
                <a:solidFill>
                  <a:schemeClr val="lt1"/>
                </a:solidFill>
                <a:latin typeface="IBM Plex Sans"/>
                <a:ea typeface="IBM Plex Sans"/>
                <a:cs typeface="IBM Plex Sans"/>
                <a:sym typeface="IBM Plex Sans"/>
              </a:rPr>
              <a:t>‘</a:t>
            </a:r>
            <a:r>
              <a:rPr b="1" lang="en-US" sz="2100">
                <a:solidFill>
                  <a:srgbClr val="6AA84F"/>
                </a:solidFill>
                <a:latin typeface="IBM Plex Sans"/>
                <a:ea typeface="IBM Plex Sans"/>
                <a:cs typeface="IBM Plex Sans"/>
                <a:sym typeface="IBM Plex Sans"/>
              </a:rPr>
              <a:t>-Pn</a:t>
            </a:r>
            <a:r>
              <a:rPr lang="en-US" sz="2100">
                <a:solidFill>
                  <a:schemeClr val="lt1"/>
                </a:solidFill>
                <a:latin typeface="IBM Plex Sans"/>
                <a:ea typeface="IBM Plex Sans"/>
                <a:cs typeface="IBM Plex Sans"/>
                <a:sym typeface="IBM Plex Sans"/>
              </a:rPr>
              <a:t>’ - which ignores host discovery</a:t>
            </a:r>
            <a:endParaRPr sz="21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100">
              <a:solidFill>
                <a:schemeClr val="lt1"/>
              </a:solidFill>
              <a:latin typeface="IBM Plex Sans"/>
              <a:ea typeface="IBM Plex Sans"/>
              <a:cs typeface="IBM Plex Sans"/>
              <a:sym typeface="IBM Plex Sans"/>
            </a:endParaRPr>
          </a:p>
          <a:p>
            <a:pPr indent="-361950" lvl="0" marL="457200" rtl="0" algn="l">
              <a:lnSpc>
                <a:spcPct val="100000"/>
              </a:lnSpc>
              <a:spcBef>
                <a:spcPts val="0"/>
              </a:spcBef>
              <a:spcAft>
                <a:spcPts val="0"/>
              </a:spcAft>
              <a:buClr>
                <a:schemeClr val="lt1"/>
              </a:buClr>
              <a:buSzPts val="2100"/>
              <a:buFont typeface="IBM Plex Sans"/>
              <a:buChar char="●"/>
            </a:pPr>
            <a:r>
              <a:rPr lang="en-US" sz="2100">
                <a:solidFill>
                  <a:schemeClr val="lt1"/>
                </a:solidFill>
                <a:latin typeface="IBM Plex Sans"/>
                <a:ea typeface="IBM Plex Sans"/>
                <a:cs typeface="IBM Plex Sans"/>
                <a:sym typeface="IBM Plex Sans"/>
              </a:rPr>
              <a:t>‘</a:t>
            </a:r>
            <a:r>
              <a:rPr b="1" lang="en-US" sz="2100">
                <a:solidFill>
                  <a:srgbClr val="6AA84F"/>
                </a:solidFill>
                <a:latin typeface="IBM Plex Sans"/>
                <a:ea typeface="IBM Plex Sans"/>
                <a:cs typeface="IBM Plex Sans"/>
                <a:sym typeface="IBM Plex Sans"/>
              </a:rPr>
              <a:t>-T(1-5)</a:t>
            </a:r>
            <a:r>
              <a:rPr lang="en-US" sz="2100">
                <a:solidFill>
                  <a:schemeClr val="lt1"/>
                </a:solidFill>
                <a:latin typeface="IBM Plex Sans"/>
                <a:ea typeface="IBM Plex Sans"/>
                <a:cs typeface="IBM Plex Sans"/>
                <a:sym typeface="IBM Plex Sans"/>
              </a:rPr>
              <a:t>’ - which states how many threads it can use, which may make it faster or slower depending on how many you give it</a:t>
            </a:r>
            <a:endParaRPr sz="21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sz="3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h6da5aa7a38095804_1_4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An Example of Nmap in Action</a:t>
            </a:r>
            <a:endParaRPr/>
          </a:p>
        </p:txBody>
      </p:sp>
      <p:sp>
        <p:nvSpPr>
          <p:cNvPr id="186" name="Google Shape;186;h6da5aa7a38095804_1_41"/>
          <p:cNvSpPr txBox="1"/>
          <p:nvPr>
            <p:ph idx="1" type="body"/>
          </p:nvPr>
        </p:nvSpPr>
        <p:spPr>
          <a:xfrm>
            <a:off x="838200" y="1825625"/>
            <a:ext cx="10515600" cy="4351200"/>
          </a:xfrm>
          <a:prstGeom prst="rect">
            <a:avLst/>
          </a:prstGeom>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rgbClr val="000000"/>
              </a:buClr>
              <a:buSzPts val="1600"/>
              <a:buFont typeface="Arial"/>
              <a:buNone/>
            </a:pPr>
            <a:r>
              <a:rPr b="1" lang="en-US" sz="1600">
                <a:solidFill>
                  <a:srgbClr val="00FF00"/>
                </a:solidFill>
                <a:latin typeface="Calibri"/>
                <a:ea typeface="Calibri"/>
                <a:cs typeface="Calibri"/>
                <a:sym typeface="Calibri"/>
              </a:rPr>
              <a:t>Output (next slide)</a:t>
            </a:r>
            <a:endParaRPr b="1" sz="1600">
              <a:solidFill>
                <a:srgbClr val="00FF00"/>
              </a:solidFill>
              <a:latin typeface="Calibri"/>
              <a:ea typeface="Calibri"/>
              <a:cs typeface="Calibri"/>
              <a:sym typeface="Calibri"/>
            </a:endParaRPr>
          </a:p>
          <a:p>
            <a:pPr indent="0" lvl="0" marL="0" rtl="0" algn="l">
              <a:spcBef>
                <a:spcPts val="1000"/>
              </a:spcBef>
              <a:spcAft>
                <a:spcPts val="0"/>
              </a:spcAft>
              <a:buNone/>
            </a:pPr>
            <a:r>
              <a:t/>
            </a:r>
            <a:endParaRPr/>
          </a:p>
        </p:txBody>
      </p:sp>
      <p:pic>
        <p:nvPicPr>
          <p:cNvPr id="187" name="Google Shape;187;h6da5aa7a38095804_1_41"/>
          <p:cNvPicPr preferRelativeResize="0"/>
          <p:nvPr/>
        </p:nvPicPr>
        <p:blipFill>
          <a:blip r:embed="rId3">
            <a:alphaModFix/>
          </a:blip>
          <a:stretch>
            <a:fillRect/>
          </a:stretch>
        </p:blipFill>
        <p:spPr>
          <a:xfrm>
            <a:off x="9078126" y="1211200"/>
            <a:ext cx="2980101" cy="2357298"/>
          </a:xfrm>
          <a:prstGeom prst="rect">
            <a:avLst/>
          </a:prstGeom>
          <a:noFill/>
          <a:ln>
            <a:noFill/>
          </a:ln>
        </p:spPr>
      </p:pic>
      <p:sp>
        <p:nvSpPr>
          <p:cNvPr id="188" name="Google Shape;188;h6da5aa7a38095804_1_41"/>
          <p:cNvSpPr txBox="1"/>
          <p:nvPr/>
        </p:nvSpPr>
        <p:spPr>
          <a:xfrm>
            <a:off x="4346238" y="1415825"/>
            <a:ext cx="2911500" cy="40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600" u="none" cap="none" strike="noStrike">
                <a:solidFill>
                  <a:srgbClr val="00FF00"/>
                </a:solidFill>
                <a:latin typeface="Calibri"/>
                <a:ea typeface="Calibri"/>
                <a:cs typeface="Calibri"/>
                <a:sym typeface="Calibri"/>
              </a:rPr>
              <a:t>Nmap -sCV -p 25, 80, 443</a:t>
            </a:r>
            <a:endParaRPr b="1" i="0" sz="1600" u="none" cap="none" strike="noStrike">
              <a:solidFill>
                <a:srgbClr val="00FF00"/>
              </a:solidFill>
              <a:latin typeface="Calibri"/>
              <a:ea typeface="Calibri"/>
              <a:cs typeface="Calibri"/>
              <a:sym typeface="Calibri"/>
            </a:endParaRPr>
          </a:p>
        </p:txBody>
      </p:sp>
      <p:pic>
        <p:nvPicPr>
          <p:cNvPr descr="a row of blue neon arrows pointing upwards on a black background (provided by Tenor)" id="189" name="Google Shape;189;h6da5aa7a38095804_1_41"/>
          <p:cNvPicPr preferRelativeResize="0"/>
          <p:nvPr/>
        </p:nvPicPr>
        <p:blipFill rotWithShape="1">
          <a:blip r:embed="rId4">
            <a:alphaModFix/>
          </a:blip>
          <a:srcRect b="0" l="0" r="0" t="0"/>
          <a:stretch/>
        </p:blipFill>
        <p:spPr>
          <a:xfrm rot="5400000">
            <a:off x="5490650" y="1546412"/>
            <a:ext cx="1022150" cy="1817975"/>
          </a:xfrm>
          <a:prstGeom prst="rect">
            <a:avLst/>
          </a:prstGeom>
          <a:noFill/>
          <a:ln>
            <a:noFill/>
          </a:ln>
        </p:spPr>
      </p:pic>
      <p:pic>
        <p:nvPicPr>
          <p:cNvPr descr="a row of blue neon arrows pointing upwards on a black background (provided by Tenor)" id="190" name="Google Shape;190;h6da5aa7a38095804_1_41"/>
          <p:cNvPicPr preferRelativeResize="0"/>
          <p:nvPr/>
        </p:nvPicPr>
        <p:blipFill rotWithShape="1">
          <a:blip r:embed="rId4">
            <a:alphaModFix/>
          </a:blip>
          <a:srcRect b="0" l="0" r="0" t="0"/>
          <a:stretch/>
        </p:blipFill>
        <p:spPr>
          <a:xfrm rot="-5400000">
            <a:off x="5584925" y="2822062"/>
            <a:ext cx="1022150" cy="1817975"/>
          </a:xfrm>
          <a:prstGeom prst="rect">
            <a:avLst/>
          </a:prstGeom>
          <a:noFill/>
          <a:ln>
            <a:noFill/>
          </a:ln>
        </p:spPr>
      </p:pic>
      <p:pic>
        <p:nvPicPr>
          <p:cNvPr descr="the sun is shining through the antenna of a military radar (provided by Tenor)" id="191" name="Google Shape;191;h6da5aa7a38095804_1_41"/>
          <p:cNvPicPr preferRelativeResize="0"/>
          <p:nvPr/>
        </p:nvPicPr>
        <p:blipFill rotWithShape="1">
          <a:blip r:embed="rId5">
            <a:alphaModFix/>
          </a:blip>
          <a:srcRect b="0" l="0" r="0" t="0"/>
          <a:stretch/>
        </p:blipFill>
        <p:spPr>
          <a:xfrm>
            <a:off x="1215425" y="3750299"/>
            <a:ext cx="2137625" cy="1601075"/>
          </a:xfrm>
          <a:prstGeom prst="rect">
            <a:avLst/>
          </a:prstGeom>
          <a:noFill/>
          <a:ln>
            <a:noFill/>
          </a:ln>
        </p:spPr>
      </p:pic>
      <p:pic>
        <p:nvPicPr>
          <p:cNvPr descr="a man in a black shirt is standing in front of a computer with the word live on the bottom right corner . (provided by Tenor)" id="192" name="Google Shape;192;h6da5aa7a38095804_1_41"/>
          <p:cNvPicPr preferRelativeResize="0"/>
          <p:nvPr/>
        </p:nvPicPr>
        <p:blipFill rotWithShape="1">
          <a:blip r:embed="rId6">
            <a:alphaModFix/>
          </a:blip>
          <a:srcRect b="0" l="0" r="0" t="0"/>
          <a:stretch/>
        </p:blipFill>
        <p:spPr>
          <a:xfrm>
            <a:off x="9425175" y="4242125"/>
            <a:ext cx="2286000" cy="1714500"/>
          </a:xfrm>
          <a:prstGeom prst="rect">
            <a:avLst/>
          </a:prstGeom>
          <a:noFill/>
          <a:ln>
            <a:noFill/>
          </a:ln>
        </p:spPr>
      </p:pic>
      <p:pic>
        <p:nvPicPr>
          <p:cNvPr descr="a cat wearing glasses and a bow tie laying on a laptop (provided by Tenor)" id="193" name="Google Shape;193;h6da5aa7a38095804_1_41"/>
          <p:cNvPicPr preferRelativeResize="0"/>
          <p:nvPr/>
        </p:nvPicPr>
        <p:blipFill rotWithShape="1">
          <a:blip r:embed="rId7">
            <a:alphaModFix/>
          </a:blip>
          <a:srcRect b="0" l="0" r="0" t="0"/>
          <a:stretch/>
        </p:blipFill>
        <p:spPr>
          <a:xfrm>
            <a:off x="1912538" y="2051863"/>
            <a:ext cx="1068850" cy="1337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h6da5aa7a38095804_1_5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An Example of Nmap in Action</a:t>
            </a:r>
            <a:endParaRPr/>
          </a:p>
        </p:txBody>
      </p:sp>
      <p:sp>
        <p:nvSpPr>
          <p:cNvPr id="199" name="Google Shape;199;h6da5aa7a38095804_1_53"/>
          <p:cNvSpPr txBox="1"/>
          <p:nvPr>
            <p:ph idx="1" type="body"/>
          </p:nvPr>
        </p:nvSpPr>
        <p:spPr>
          <a:xfrm>
            <a:off x="2940750" y="1690825"/>
            <a:ext cx="7078800" cy="43467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sz="1200">
                <a:solidFill>
                  <a:schemeClr val="lt1"/>
                </a:solidFill>
                <a:latin typeface="Calibri"/>
                <a:ea typeface="Calibri"/>
                <a:cs typeface="Calibri"/>
                <a:sym typeface="Calibri"/>
              </a:rPr>
              <a:t>PORT    STATE  SERVICE VERSION</a:t>
            </a:r>
            <a:endParaRPr b="1" sz="1200">
              <a:solidFill>
                <a:schemeClr val="lt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b="1" lang="en-US" sz="1200">
                <a:solidFill>
                  <a:srgbClr val="FFF2CC"/>
                </a:solidFill>
                <a:latin typeface="Calibri"/>
                <a:ea typeface="Calibri"/>
                <a:cs typeface="Calibri"/>
                <a:sym typeface="Calibri"/>
              </a:rPr>
              <a:t>25/tcp  open   smtp    Postfix smtpd</a:t>
            </a:r>
            <a:endParaRPr b="1" sz="1200">
              <a:solidFill>
                <a:srgbClr val="FFF2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FF2CC"/>
                </a:solidFill>
                <a:latin typeface="Calibri"/>
                <a:ea typeface="Calibri"/>
                <a:cs typeface="Calibri"/>
                <a:sym typeface="Calibri"/>
              </a:rPr>
              <a:t>| smtp-commands: 250-mail.example.local Hello [192.168.1.5], SIZE 10240000, PIPELINING, 8BITMIME, DSN</a:t>
            </a:r>
            <a:endParaRPr sz="1200">
              <a:solidFill>
                <a:srgbClr val="FFF2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FF2CC"/>
                </a:solidFill>
                <a:latin typeface="Calibri"/>
                <a:ea typeface="Calibri"/>
                <a:cs typeface="Calibri"/>
                <a:sym typeface="Calibri"/>
              </a:rPr>
              <a:t>| smtp-enum-users: </a:t>
            </a:r>
            <a:endParaRPr sz="1200">
              <a:solidFill>
                <a:srgbClr val="FFF2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FF2CC"/>
                </a:solidFill>
                <a:latin typeface="Calibri"/>
                <a:ea typeface="Calibri"/>
                <a:cs typeface="Calibri"/>
                <a:sym typeface="Calibri"/>
              </a:rPr>
              <a:t>|   admin: Valid username</a:t>
            </a:r>
            <a:endParaRPr sz="1200">
              <a:solidFill>
                <a:srgbClr val="FFF2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FF2CC"/>
                </a:solidFill>
                <a:latin typeface="Calibri"/>
                <a:ea typeface="Calibri"/>
                <a:cs typeface="Calibri"/>
                <a:sym typeface="Calibri"/>
              </a:rPr>
              <a:t>|_  info: Invalid username</a:t>
            </a:r>
            <a:endParaRPr sz="1200">
              <a:solidFill>
                <a:srgbClr val="FFF2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FF2CC"/>
                </a:solidFill>
                <a:latin typeface="Calibri"/>
                <a:ea typeface="Calibri"/>
                <a:cs typeface="Calibri"/>
                <a:sym typeface="Calibri"/>
              </a:rPr>
              <a:t>| smtp-verbose: </a:t>
            </a:r>
            <a:endParaRPr sz="1200">
              <a:solidFill>
                <a:srgbClr val="FFF2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FF2CC"/>
                </a:solidFill>
                <a:latin typeface="Calibri"/>
                <a:ea typeface="Calibri"/>
                <a:cs typeface="Calibri"/>
                <a:sym typeface="Calibri"/>
              </a:rPr>
              <a:t>|   220 mail.example.local ESMTP Postfix</a:t>
            </a:r>
            <a:endParaRPr sz="1200">
              <a:solidFill>
                <a:srgbClr val="FFF2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FF2CC"/>
                </a:solidFill>
                <a:latin typeface="Calibri"/>
                <a:ea typeface="Calibri"/>
                <a:cs typeface="Calibri"/>
                <a:sym typeface="Calibri"/>
              </a:rPr>
              <a:t>|_  250-mail.example.local</a:t>
            </a:r>
            <a:endParaRPr sz="1200">
              <a:solidFill>
                <a:srgbClr val="FFF2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b="1" lang="en-US" sz="1200">
                <a:solidFill>
                  <a:srgbClr val="F4CCCC"/>
                </a:solidFill>
                <a:latin typeface="Calibri"/>
                <a:ea typeface="Calibri"/>
                <a:cs typeface="Calibri"/>
                <a:sym typeface="Calibri"/>
              </a:rPr>
              <a:t>80/tcp  open   http    Apache httpd 2.4.41 ((Ubuntu))</a:t>
            </a:r>
            <a:endParaRPr b="1" sz="1200">
              <a:solidFill>
                <a:srgbClr val="F4CC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4CCCC"/>
                </a:solidFill>
                <a:latin typeface="Calibri"/>
                <a:ea typeface="Calibri"/>
                <a:cs typeface="Calibri"/>
                <a:sym typeface="Calibri"/>
              </a:rPr>
              <a:t>| http-title: Example Web Page</a:t>
            </a:r>
            <a:endParaRPr sz="1200">
              <a:solidFill>
                <a:srgbClr val="F4CC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4CCCC"/>
                </a:solidFill>
                <a:latin typeface="Calibri"/>
                <a:ea typeface="Calibri"/>
                <a:cs typeface="Calibri"/>
                <a:sym typeface="Calibri"/>
              </a:rPr>
              <a:t>| http-robots.txt: 1 disallowed entry</a:t>
            </a:r>
            <a:endParaRPr sz="1200">
              <a:solidFill>
                <a:srgbClr val="F4CC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4CCCC"/>
                </a:solidFill>
                <a:latin typeface="Calibri"/>
                <a:ea typeface="Calibri"/>
                <a:cs typeface="Calibri"/>
                <a:sym typeface="Calibri"/>
              </a:rPr>
              <a:t>|_ /secret</a:t>
            </a:r>
            <a:endParaRPr sz="1200">
              <a:solidFill>
                <a:srgbClr val="F4CC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4CCCC"/>
                </a:solidFill>
                <a:latin typeface="Calibri"/>
                <a:ea typeface="Calibri"/>
                <a:cs typeface="Calibri"/>
                <a:sym typeface="Calibri"/>
              </a:rPr>
              <a:t>| http-server-header: Apache/2.4.41 (Ubuntu)</a:t>
            </a:r>
            <a:endParaRPr sz="1200">
              <a:solidFill>
                <a:srgbClr val="F4CC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4CCCC"/>
                </a:solidFill>
                <a:latin typeface="Calibri"/>
                <a:ea typeface="Calibri"/>
                <a:cs typeface="Calibri"/>
                <a:sym typeface="Calibri"/>
              </a:rPr>
              <a:t>| http-enum: </a:t>
            </a:r>
            <a:endParaRPr sz="1200">
              <a:solidFill>
                <a:srgbClr val="F4CC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4CCCC"/>
                </a:solidFill>
                <a:latin typeface="Calibri"/>
                <a:ea typeface="Calibri"/>
                <a:cs typeface="Calibri"/>
                <a:sym typeface="Calibri"/>
              </a:rPr>
              <a:t>|   / /index.html</a:t>
            </a:r>
            <a:endParaRPr sz="1200">
              <a:solidFill>
                <a:srgbClr val="F4CC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4CCCC"/>
                </a:solidFill>
                <a:latin typeface="Calibri"/>
                <a:ea typeface="Calibri"/>
                <a:cs typeface="Calibri"/>
                <a:sym typeface="Calibri"/>
              </a:rPr>
              <a:t>|   /robots.txt</a:t>
            </a:r>
            <a:endParaRPr sz="1200">
              <a:solidFill>
                <a:srgbClr val="F4CC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4CCCC"/>
                </a:solidFill>
                <a:latin typeface="Calibri"/>
                <a:ea typeface="Calibri"/>
                <a:cs typeface="Calibri"/>
                <a:sym typeface="Calibri"/>
              </a:rPr>
              <a:t>|_  /server-status (403)</a:t>
            </a:r>
            <a:endParaRPr sz="1200">
              <a:solidFill>
                <a:srgbClr val="F4CC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rgbClr val="F4CCCC"/>
                </a:solidFill>
                <a:latin typeface="Calibri"/>
                <a:ea typeface="Calibri"/>
                <a:cs typeface="Calibri"/>
                <a:sym typeface="Calibri"/>
              </a:rPr>
              <a:t>|_http-favicon: favicon.ico MD5: d41d8cd98f00b204e9800998ecf8427e</a:t>
            </a:r>
            <a:endParaRPr sz="1200">
              <a:solidFill>
                <a:srgbClr val="F4CCCC"/>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b="1" lang="en-US" sz="1200">
                <a:solidFill>
                  <a:srgbClr val="D9EAD3"/>
                </a:solidFill>
                <a:latin typeface="Calibri"/>
                <a:ea typeface="Calibri"/>
                <a:cs typeface="Calibri"/>
                <a:sym typeface="Calibri"/>
              </a:rPr>
              <a:t>443/tcp closed https</a:t>
            </a:r>
            <a:endParaRPr b="1" sz="1200">
              <a:solidFill>
                <a:srgbClr val="D9EAD3"/>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200">
                <a:solidFill>
                  <a:schemeClr val="lt1"/>
                </a:solidFill>
                <a:latin typeface="Calibri"/>
                <a:ea typeface="Calibri"/>
                <a:cs typeface="Calibri"/>
                <a:sym typeface="Calibri"/>
              </a:rPr>
              <a:t>Service Info: Host: mail.example.local; OS: Linux</a:t>
            </a:r>
            <a:endParaRPr sz="1200">
              <a:solidFill>
                <a:schemeClr val="lt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lt1"/>
              </a:solidFill>
              <a:latin typeface="Calibri"/>
              <a:ea typeface="Calibri"/>
              <a:cs typeface="Calibri"/>
              <a:sym typeface="Calibri"/>
            </a:endParaRPr>
          </a:p>
          <a:p>
            <a:pPr indent="0" lvl="0" marL="0" rtl="0" algn="l">
              <a:spcBef>
                <a:spcPts val="1000"/>
              </a:spcBef>
              <a:spcAft>
                <a:spcPts val="0"/>
              </a:spcAft>
              <a:buNone/>
            </a:pPr>
            <a:r>
              <a:t/>
            </a:r>
            <a:endParaRPr/>
          </a:p>
        </p:txBody>
      </p:sp>
      <p:pic>
        <p:nvPicPr>
          <p:cNvPr descr="a raccoon is sitting on its hind legs with its hands folded in prayer . (provided by Tenor)" id="200" name="Google Shape;200;h6da5aa7a38095804_1_53"/>
          <p:cNvPicPr preferRelativeResize="0"/>
          <p:nvPr/>
        </p:nvPicPr>
        <p:blipFill rotWithShape="1">
          <a:blip r:embed="rId3">
            <a:alphaModFix/>
          </a:blip>
          <a:srcRect b="0" l="0" r="0" t="0"/>
          <a:stretch/>
        </p:blipFill>
        <p:spPr>
          <a:xfrm>
            <a:off x="9304925" y="5063725"/>
            <a:ext cx="2409425" cy="1432275"/>
          </a:xfrm>
          <a:prstGeom prst="rect">
            <a:avLst/>
          </a:prstGeom>
          <a:noFill/>
          <a:ln>
            <a:noFill/>
          </a:ln>
        </p:spPr>
      </p:pic>
      <p:pic>
        <p:nvPicPr>
          <p:cNvPr descr="a cartoon frog wearing a blue sweater and a scarf around its face . (provided by Tenor)" id="201" name="Google Shape;201;h6da5aa7a38095804_1_53"/>
          <p:cNvPicPr preferRelativeResize="0"/>
          <p:nvPr/>
        </p:nvPicPr>
        <p:blipFill rotWithShape="1">
          <a:blip r:embed="rId4">
            <a:alphaModFix/>
          </a:blip>
          <a:srcRect b="0" l="0" r="0" t="0"/>
          <a:stretch/>
        </p:blipFill>
        <p:spPr>
          <a:xfrm>
            <a:off x="454363" y="2013988"/>
            <a:ext cx="1628775" cy="1266825"/>
          </a:xfrm>
          <a:prstGeom prst="rect">
            <a:avLst/>
          </a:prstGeom>
          <a:noFill/>
          <a:ln>
            <a:noFill/>
          </a:ln>
        </p:spPr>
      </p:pic>
      <p:pic>
        <p:nvPicPr>
          <p:cNvPr id="202" name="Google Shape;202;h6da5aa7a38095804_1_53"/>
          <p:cNvPicPr preferRelativeResize="0"/>
          <p:nvPr/>
        </p:nvPicPr>
        <p:blipFill>
          <a:blip r:embed="rId5">
            <a:alphaModFix/>
          </a:blip>
          <a:stretch>
            <a:fillRect/>
          </a:stretch>
        </p:blipFill>
        <p:spPr>
          <a:xfrm>
            <a:off x="222150" y="3603988"/>
            <a:ext cx="2635950" cy="2635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h6da5aa7a38095804_1_6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Ffuf</a:t>
            </a:r>
            <a:endParaRPr/>
          </a:p>
        </p:txBody>
      </p:sp>
      <p:sp>
        <p:nvSpPr>
          <p:cNvPr id="208" name="Google Shape;208;h6da5aa7a38095804_1_6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2000">
                <a:solidFill>
                  <a:schemeClr val="lt1"/>
                </a:solidFill>
                <a:latin typeface="IBM Plex Sans"/>
                <a:ea typeface="IBM Plex Sans"/>
                <a:cs typeface="IBM Plex Sans"/>
                <a:sym typeface="IBM Plex Sans"/>
              </a:rPr>
              <a:t>Ffuf is an enumeration tool that allows you to many things. Its main use is to discover hidden web pages, directories, and general Fuzzing. This means its a very adaptable and versatile too that allows you to discover many things.</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None/>
            </a:pPr>
            <a:r>
              <a:rPr lang="en-US" sz="2000">
                <a:solidFill>
                  <a:schemeClr val="lt1"/>
                </a:solidFill>
                <a:latin typeface="IBM Plex Sans"/>
                <a:ea typeface="IBM Plex Sans"/>
                <a:cs typeface="IBM Plex Sans"/>
                <a:sym typeface="IBM Plex Sans"/>
              </a:rPr>
              <a:t>It can also be used to search via brute-force, which is useful for quickly finding common directories in a webpage. </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None/>
            </a:pPr>
            <a:r>
              <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None/>
            </a:pPr>
            <a:r>
              <a:rPr lang="en-US" sz="2000">
                <a:solidFill>
                  <a:schemeClr val="lt1"/>
                </a:solidFill>
                <a:latin typeface="IBM Plex Sans"/>
                <a:ea typeface="IBM Plex Sans"/>
                <a:cs typeface="IBM Plex Sans"/>
                <a:sym typeface="IBM Plex Sans"/>
              </a:rPr>
              <a:t>This comes in very helpful when looking for </a:t>
            </a:r>
            <a:r>
              <a:rPr lang="en-US" sz="2000">
                <a:solidFill>
                  <a:schemeClr val="lt1"/>
                </a:solidFill>
                <a:latin typeface="IBM Plex Sans"/>
                <a:ea typeface="IBM Plex Sans"/>
                <a:cs typeface="IBM Plex Sans"/>
                <a:sym typeface="IBM Plex Sans"/>
              </a:rPr>
              <a:t>sneaky subdomains or subdirectories that they like to hide in challenges or real websites</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0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a:p>
        </p:txBody>
      </p:sp>
      <p:pic>
        <p:nvPicPr>
          <p:cNvPr id="209" name="Google Shape;209;h6da5aa7a38095804_1_61"/>
          <p:cNvPicPr preferRelativeResize="0"/>
          <p:nvPr/>
        </p:nvPicPr>
        <p:blipFill rotWithShape="1">
          <a:blip r:embed="rId3">
            <a:alphaModFix/>
          </a:blip>
          <a:srcRect b="0" l="0" r="0" t="0"/>
          <a:stretch/>
        </p:blipFill>
        <p:spPr>
          <a:xfrm>
            <a:off x="8229700" y="4489475"/>
            <a:ext cx="3738875" cy="2136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h6da5aa7a38095804_1_6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More Ffuf</a:t>
            </a:r>
            <a:endParaRPr/>
          </a:p>
        </p:txBody>
      </p:sp>
      <p:sp>
        <p:nvSpPr>
          <p:cNvPr id="215" name="Google Shape;215;h6da5aa7a38095804_1_6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There are a few uses for Ffuf, the most common one being the the webpage directories, these are the common examples however there is more with the command “ffuf --help”:</a:t>
            </a:r>
            <a:endParaRPr sz="18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a:p>
        </p:txBody>
      </p:sp>
      <p:pic>
        <p:nvPicPr>
          <p:cNvPr id="216" name="Google Shape;216;h6da5aa7a38095804_1_67"/>
          <p:cNvPicPr preferRelativeResize="0"/>
          <p:nvPr/>
        </p:nvPicPr>
        <p:blipFill rotWithShape="1">
          <a:blip r:embed="rId3">
            <a:alphaModFix/>
          </a:blip>
          <a:srcRect b="0" l="0" r="0" t="0"/>
          <a:stretch/>
        </p:blipFill>
        <p:spPr>
          <a:xfrm>
            <a:off x="1210150" y="2739477"/>
            <a:ext cx="8914100" cy="3016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h6da5aa7a38095804_1_7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NetCat</a:t>
            </a:r>
            <a:endParaRPr/>
          </a:p>
        </p:txBody>
      </p:sp>
      <p:sp>
        <p:nvSpPr>
          <p:cNvPr id="222" name="Google Shape;222;h6da5aa7a38095804_1_7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2100">
                <a:solidFill>
                  <a:schemeClr val="lt1"/>
                </a:solidFill>
                <a:latin typeface="IBM Plex Sans"/>
                <a:ea typeface="IBM Plex Sans"/>
                <a:cs typeface="IBM Plex Sans"/>
                <a:sym typeface="IBM Plex Sans"/>
              </a:rPr>
              <a:t>Netcat is a utility tool that is used to establish a connection between 2 devices using the address and port that you provide it to do so. It connects with an unencrypted tunnel on the port that is open or opened on the other machine and creates the lightweight connection that allows you to explore or edit the other machines file directory. This means you basically have control, if you connect with a high enough privilege level.</a:t>
            </a:r>
            <a:endParaRPr sz="21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sz="3100"/>
          </a:p>
        </p:txBody>
      </p:sp>
      <p:pic>
        <p:nvPicPr>
          <p:cNvPr id="223" name="Google Shape;223;h6da5aa7a38095804_1_73"/>
          <p:cNvPicPr preferRelativeResize="0"/>
          <p:nvPr/>
        </p:nvPicPr>
        <p:blipFill rotWithShape="1">
          <a:blip r:embed="rId3">
            <a:alphaModFix/>
          </a:blip>
          <a:srcRect b="0" l="0" r="0" t="0"/>
          <a:stretch/>
        </p:blipFill>
        <p:spPr>
          <a:xfrm>
            <a:off x="1326413" y="4248988"/>
            <a:ext cx="9374400" cy="528400"/>
          </a:xfrm>
          <a:prstGeom prst="rect">
            <a:avLst/>
          </a:prstGeom>
          <a:noFill/>
          <a:ln>
            <a:noFill/>
          </a:ln>
        </p:spPr>
      </p:pic>
      <p:pic>
        <p:nvPicPr>
          <p:cNvPr id="224" name="Google Shape;224;h6da5aa7a38095804_1_73"/>
          <p:cNvPicPr preferRelativeResize="0"/>
          <p:nvPr/>
        </p:nvPicPr>
        <p:blipFill rotWithShape="1">
          <a:blip r:embed="rId4">
            <a:alphaModFix/>
          </a:blip>
          <a:srcRect b="0" l="0" r="0" t="0"/>
          <a:stretch/>
        </p:blipFill>
        <p:spPr>
          <a:xfrm>
            <a:off x="10068297" y="4777397"/>
            <a:ext cx="2123700" cy="1964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h6da5aa7a38095804_1_8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More NetCat</a:t>
            </a:r>
            <a:endParaRPr/>
          </a:p>
        </p:txBody>
      </p:sp>
      <p:sp>
        <p:nvSpPr>
          <p:cNvPr id="230" name="Google Shape;230;h6da5aa7a38095804_1_8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2000">
                <a:solidFill>
                  <a:schemeClr val="lt1"/>
                </a:solidFill>
                <a:latin typeface="IBM Plex Sans"/>
                <a:ea typeface="IBM Plex Sans"/>
                <a:cs typeface="IBM Plex Sans"/>
                <a:sym typeface="IBM Plex Sans"/>
              </a:rPr>
              <a:t>NetCat is also used later on for when we create reverse shells. Because netcat is just a listener it will search for anything sending a connection on the address and port specified. This means we can put a something to send the link on the machine so we can connect and give us access. </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2000">
                <a:solidFill>
                  <a:schemeClr val="lt1"/>
                </a:solidFill>
                <a:latin typeface="IBM Plex Sans"/>
                <a:ea typeface="IBM Plex Sans"/>
                <a:cs typeface="IBM Plex Sans"/>
                <a:sym typeface="IBM Plex Sans"/>
              </a:rPr>
              <a:t>This is called Reverse-Shelling and it’s very cool :)</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2000">
                <a:solidFill>
                  <a:schemeClr val="lt1"/>
                </a:solidFill>
                <a:latin typeface="IBM Plex Sans"/>
                <a:ea typeface="IBM Plex Sans"/>
                <a:cs typeface="IBM Plex Sans"/>
                <a:sym typeface="IBM Plex Sans"/>
              </a:rPr>
              <a:t>This will be expanded on more in web exploitation, but it’s one of the main benefits of good scoping and enumeration.</a:t>
            </a:r>
            <a:endParaRPr sz="20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sz="3000"/>
          </a:p>
        </p:txBody>
      </p:sp>
      <p:pic>
        <p:nvPicPr>
          <p:cNvPr id="231" name="Google Shape;231;h6da5aa7a38095804_1_80"/>
          <p:cNvPicPr preferRelativeResize="0"/>
          <p:nvPr/>
        </p:nvPicPr>
        <p:blipFill rotWithShape="1">
          <a:blip r:embed="rId3">
            <a:alphaModFix/>
          </a:blip>
          <a:srcRect b="0" l="0" r="0" t="0"/>
          <a:stretch/>
        </p:blipFill>
        <p:spPr>
          <a:xfrm>
            <a:off x="8590338" y="4530263"/>
            <a:ext cx="2619375" cy="17430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h6da5aa7a38095804_1_8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GoBuster</a:t>
            </a:r>
            <a:endParaRPr/>
          </a:p>
        </p:txBody>
      </p:sp>
      <p:sp>
        <p:nvSpPr>
          <p:cNvPr id="237" name="Google Shape;237;h6da5aa7a38095804_1_8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1900">
                <a:solidFill>
                  <a:schemeClr val="lt1"/>
                </a:solidFill>
                <a:latin typeface="IBM Plex Sans"/>
                <a:ea typeface="IBM Plex Sans"/>
                <a:cs typeface="IBM Plex Sans"/>
                <a:sym typeface="IBM Plex Sans"/>
              </a:rPr>
              <a:t>GoBuster is another brute-forcing tool that is mainly used for web based discovery. This mean in some aspects is can be faster than Ffuf but is less agile or adaptable to all situations. Its main use is for searching for any hidden web pages, URI’s or DNS subdomains. This will be touched on more though in Web hacking session, but i’d recommend having look and research before as its really versatile and does a lot. </a:t>
            </a:r>
            <a:endParaRPr sz="2900"/>
          </a:p>
        </p:txBody>
      </p:sp>
      <p:pic>
        <p:nvPicPr>
          <p:cNvPr id="238" name="Google Shape;238;h6da5aa7a38095804_1_86"/>
          <p:cNvPicPr preferRelativeResize="0"/>
          <p:nvPr/>
        </p:nvPicPr>
        <p:blipFill rotWithShape="1">
          <a:blip r:embed="rId3">
            <a:alphaModFix/>
          </a:blip>
          <a:srcRect b="0" l="0" r="0" t="0"/>
          <a:stretch/>
        </p:blipFill>
        <p:spPr>
          <a:xfrm>
            <a:off x="8086563" y="4967138"/>
            <a:ext cx="3762375" cy="1209675"/>
          </a:xfrm>
          <a:prstGeom prst="rect">
            <a:avLst/>
          </a:prstGeom>
          <a:noFill/>
          <a:ln>
            <a:noFill/>
          </a:ln>
        </p:spPr>
      </p:pic>
      <p:pic>
        <p:nvPicPr>
          <p:cNvPr id="239" name="Google Shape;239;h6da5aa7a38095804_1_86"/>
          <p:cNvPicPr preferRelativeResize="0"/>
          <p:nvPr/>
        </p:nvPicPr>
        <p:blipFill rotWithShape="1">
          <a:blip r:embed="rId4">
            <a:alphaModFix/>
          </a:blip>
          <a:srcRect b="0" l="0" r="0" t="0"/>
          <a:stretch/>
        </p:blipFill>
        <p:spPr>
          <a:xfrm>
            <a:off x="2232962" y="3796350"/>
            <a:ext cx="7577075" cy="655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h6da5aa7a38095804_1_9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Dirb</a:t>
            </a:r>
            <a:endParaRPr/>
          </a:p>
        </p:txBody>
      </p:sp>
      <p:sp>
        <p:nvSpPr>
          <p:cNvPr id="245" name="Google Shape;245;h6da5aa7a38095804_1_9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Dirb is a web scanner that looks for unfound or hidden web objects by using a wordlist on the website to see if anything causes a response, which signifies that there is a page that exists. It can help you find webpages that weren’t known to be public, therefore may have lower security or give access to other parts of the web server.</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There is another version of Dirb, Dirbuster, which has a GUI and isn’t command line but does a lot of the same things.</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Dirb is similar as well to Ffuf however it is slightly easier and more user friendly, while being slower sometimes due to age.</a:t>
            </a:r>
            <a:endParaRPr sz="18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sz="2800"/>
          </a:p>
        </p:txBody>
      </p:sp>
      <p:pic>
        <p:nvPicPr>
          <p:cNvPr id="246" name="Google Shape;246;h6da5aa7a38095804_1_93"/>
          <p:cNvPicPr preferRelativeResize="0"/>
          <p:nvPr/>
        </p:nvPicPr>
        <p:blipFill rotWithShape="1">
          <a:blip r:embed="rId3">
            <a:alphaModFix/>
          </a:blip>
          <a:srcRect b="0" l="0" r="0" t="0"/>
          <a:stretch/>
        </p:blipFill>
        <p:spPr>
          <a:xfrm>
            <a:off x="838188" y="5346300"/>
            <a:ext cx="6505575" cy="342900"/>
          </a:xfrm>
          <a:prstGeom prst="rect">
            <a:avLst/>
          </a:prstGeom>
          <a:noFill/>
          <a:ln>
            <a:noFill/>
          </a:ln>
        </p:spPr>
      </p:pic>
      <p:pic>
        <p:nvPicPr>
          <p:cNvPr id="247" name="Google Shape;247;h6da5aa7a38095804_1_93"/>
          <p:cNvPicPr preferRelativeResize="0"/>
          <p:nvPr/>
        </p:nvPicPr>
        <p:blipFill rotWithShape="1">
          <a:blip r:embed="rId4">
            <a:alphaModFix/>
          </a:blip>
          <a:srcRect b="0" l="0" r="0" t="0"/>
          <a:stretch/>
        </p:blipFill>
        <p:spPr>
          <a:xfrm>
            <a:off x="9686913" y="4812900"/>
            <a:ext cx="1666875" cy="1409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h6da5aa7a38095804_1_10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WordLists</a:t>
            </a:r>
            <a:endParaRPr/>
          </a:p>
        </p:txBody>
      </p:sp>
      <p:sp>
        <p:nvSpPr>
          <p:cNvPr id="253" name="Google Shape;253;h6da5aa7a38095804_1_10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When using any fuzzing tools one of the things needed is a wordlist. These lists will contains the information that the tool is using to test against the the target to see if it gets a response.</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Kali comes with many wordlists pre-installed, which are all located in /usr/share/wordlists/ and have a few options.</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The 2 main one will be “rockyou.txt”, which is a password wordlist for brute forcing passwords, and and of the lists in /Dirbuster, which are used for finding hidden pages on a website, but both can be used anywhere.</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Though /usr/share/wordlists/seclists/Discovery/Web-Content/common.txt</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Is also very good for finding webpages.</a:t>
            </a:r>
            <a:endParaRPr sz="18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sz="2800"/>
          </a:p>
        </p:txBody>
      </p:sp>
      <p:pic>
        <p:nvPicPr>
          <p:cNvPr id="254" name="Google Shape;254;h6da5aa7a38095804_1_100"/>
          <p:cNvPicPr preferRelativeResize="0"/>
          <p:nvPr/>
        </p:nvPicPr>
        <p:blipFill rotWithShape="1">
          <a:blip r:embed="rId3">
            <a:alphaModFix/>
          </a:blip>
          <a:srcRect b="0" l="0" r="0" t="0"/>
          <a:stretch/>
        </p:blipFill>
        <p:spPr>
          <a:xfrm>
            <a:off x="8919528" y="4930575"/>
            <a:ext cx="3005900" cy="1683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h6da5aa7a38095804_1_10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DNSDumpster</a:t>
            </a:r>
            <a:endParaRPr/>
          </a:p>
        </p:txBody>
      </p:sp>
      <p:sp>
        <p:nvSpPr>
          <p:cNvPr id="260" name="Google Shape;260;h6da5aa7a38095804_1_10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1900">
                <a:solidFill>
                  <a:schemeClr val="lt1"/>
                </a:solidFill>
                <a:latin typeface="IBM Plex Sans"/>
                <a:ea typeface="IBM Plex Sans"/>
                <a:cs typeface="IBM Plex Sans"/>
                <a:sym typeface="IBM Plex Sans"/>
              </a:rPr>
              <a:t>DNSDumpster is a helpful website that is a free domain searching tool. Basically it can discover hosts that are related to a given domain or website.</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900">
                <a:solidFill>
                  <a:schemeClr val="lt1"/>
                </a:solidFill>
                <a:latin typeface="IBM Plex Sans"/>
                <a:ea typeface="IBM Plex Sans"/>
                <a:cs typeface="IBM Plex Sans"/>
                <a:sym typeface="IBM Plex Sans"/>
              </a:rPr>
              <a:t>It can show helpful things like who hosts the site, whether it’s cloudflare or another paid service or if its in-house, as well as a rough gauge of where its hosted. It’ll also give the IP address and if any other sights or subdomains are linked to it.</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900">
                <a:solidFill>
                  <a:schemeClr val="lt1"/>
                </a:solidFill>
                <a:latin typeface="IBM Plex Sans"/>
                <a:ea typeface="IBM Plex Sans"/>
                <a:cs typeface="IBM Plex Sans"/>
                <a:sym typeface="IBM Plex Sans"/>
              </a:rPr>
              <a:t>This can be helpful to find anything hidden, or if you’re nosey like me and wanna know everything :D</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900">
                <a:solidFill>
                  <a:schemeClr val="lt1"/>
                </a:solidFill>
                <a:latin typeface="IBM Plex Sans"/>
                <a:ea typeface="IBM Plex Sans"/>
                <a:cs typeface="IBM Plex Sans"/>
                <a:sym typeface="IBM Plex Sans"/>
              </a:rPr>
              <a:t>For Example:</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6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a:p>
        </p:txBody>
      </p:sp>
      <p:pic>
        <p:nvPicPr>
          <p:cNvPr id="261" name="Google Shape;261;h6da5aa7a38095804_1_106"/>
          <p:cNvPicPr preferRelativeResize="0"/>
          <p:nvPr/>
        </p:nvPicPr>
        <p:blipFill rotWithShape="1">
          <a:blip r:embed="rId3">
            <a:alphaModFix/>
          </a:blip>
          <a:srcRect b="0" l="0" r="0" t="0"/>
          <a:stretch/>
        </p:blipFill>
        <p:spPr>
          <a:xfrm>
            <a:off x="1524000" y="4849280"/>
            <a:ext cx="9144000" cy="132753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h6da5aa7a38095804_1_1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NsLookup</a:t>
            </a:r>
            <a:endParaRPr/>
          </a:p>
        </p:txBody>
      </p:sp>
      <p:sp>
        <p:nvSpPr>
          <p:cNvPr id="267" name="Google Shape;267;h6da5aa7a38095804_1_11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2200">
                <a:solidFill>
                  <a:schemeClr val="lt1"/>
                </a:solidFill>
                <a:latin typeface="IBM Plex Sans"/>
                <a:ea typeface="IBM Plex Sans"/>
                <a:cs typeface="IBM Plex Sans"/>
                <a:sym typeface="IBM Plex Sans"/>
              </a:rPr>
              <a:t>Nslookup is another DNS searching tool that shows you addresses for the given domain name that you search. It mainly just relays the name and the server address however can be a good tool to test if you have successful connected to something, as when in a local network it may be able to find something it usually can’t. This tool is good and fun but can be situational.</a:t>
            </a:r>
            <a:endParaRPr sz="3200"/>
          </a:p>
        </p:txBody>
      </p:sp>
      <p:pic>
        <p:nvPicPr>
          <p:cNvPr id="268" name="Google Shape;268;h6da5aa7a38095804_1_112"/>
          <p:cNvPicPr preferRelativeResize="0"/>
          <p:nvPr/>
        </p:nvPicPr>
        <p:blipFill rotWithShape="1">
          <a:blip r:embed="rId3">
            <a:alphaModFix/>
          </a:blip>
          <a:srcRect b="0" l="0" r="0" t="0"/>
          <a:stretch/>
        </p:blipFill>
        <p:spPr>
          <a:xfrm>
            <a:off x="4441338" y="3745753"/>
            <a:ext cx="3309325" cy="2821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h6da5aa7a38095804_1_1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SMBClient</a:t>
            </a:r>
            <a:endParaRPr/>
          </a:p>
        </p:txBody>
      </p:sp>
      <p:sp>
        <p:nvSpPr>
          <p:cNvPr id="274" name="Google Shape;274;h6da5aa7a38095804_1_11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SMBClient is a Windows tool, kinda, it allows you to connect to windows SMB shares or file locations and have a look around and see what you can find. This could be anything from some basic files to files with passwords (unlikely but who knows). To connect you’ll need the server address as well as valid creds to login.</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This is another situational tool but is very helpful for when you want to connect and play around with windows attacks, as it allows a lot more than scoping (but this is enumeration so we won’t talk about that), which use’s SMBmap.</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8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800">
                <a:solidFill>
                  <a:schemeClr val="lt1"/>
                </a:solidFill>
                <a:latin typeface="IBM Plex Sans"/>
                <a:ea typeface="IBM Plex Sans"/>
                <a:cs typeface="IBM Plex Sans"/>
                <a:sym typeface="IBM Plex Sans"/>
              </a:rPr>
              <a:t>Fun fact: incase you didn’t know SMB stands for Server Message Block, which is the protocol windows uses for serve communication. The more you know. </a:t>
            </a:r>
            <a:endParaRPr sz="1800">
              <a:solidFill>
                <a:schemeClr val="lt1"/>
              </a:solidFill>
              <a:latin typeface="IBM Plex Sans"/>
              <a:ea typeface="IBM Plex Sans"/>
              <a:cs typeface="IBM Plex Sans"/>
              <a:sym typeface="IBM Plex Sans"/>
            </a:endParaRPr>
          </a:p>
          <a:p>
            <a:pPr indent="0" lvl="0" marL="0" rtl="0" algn="l">
              <a:spcBef>
                <a:spcPts val="1000"/>
              </a:spcBef>
              <a:spcAft>
                <a:spcPts val="0"/>
              </a:spcAft>
              <a:buNone/>
            </a:pPr>
            <a:r>
              <a:t/>
            </a:r>
            <a:endParaRPr sz="2800"/>
          </a:p>
        </p:txBody>
      </p:sp>
      <p:pic>
        <p:nvPicPr>
          <p:cNvPr id="275" name="Google Shape;275;h6da5aa7a38095804_1_118"/>
          <p:cNvPicPr preferRelativeResize="0"/>
          <p:nvPr/>
        </p:nvPicPr>
        <p:blipFill rotWithShape="1">
          <a:blip r:embed="rId3">
            <a:alphaModFix/>
          </a:blip>
          <a:srcRect b="0" l="0" r="0" t="0"/>
          <a:stretch/>
        </p:blipFill>
        <p:spPr>
          <a:xfrm>
            <a:off x="10099825" y="4999825"/>
            <a:ext cx="1327200" cy="1327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h6da5aa7a38095804_1_1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General Scoping</a:t>
            </a:r>
            <a:endParaRPr/>
          </a:p>
        </p:txBody>
      </p:sp>
      <p:sp>
        <p:nvSpPr>
          <p:cNvPr id="281" name="Google Shape;281;h6da5aa7a38095804_1_1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1900">
                <a:solidFill>
                  <a:schemeClr val="lt1"/>
                </a:solidFill>
                <a:latin typeface="IBM Plex Sans"/>
                <a:ea typeface="IBM Plex Sans"/>
                <a:cs typeface="IBM Plex Sans"/>
                <a:sym typeface="IBM Plex Sans"/>
              </a:rPr>
              <a:t>For the general scoping its more trial and error. As you do more enumeration and more Boxes on Tryhackme you’ll start to remember some of the common webpages. </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900">
                <a:solidFill>
                  <a:schemeClr val="lt1"/>
                </a:solidFill>
                <a:latin typeface="IBM Plex Sans"/>
                <a:ea typeface="IBM Plex Sans"/>
                <a:cs typeface="IBM Plex Sans"/>
                <a:sym typeface="IBM Plex Sans"/>
              </a:rPr>
              <a:t>One of the main ones that every website has it a “robots.txt”, which when not correctly configured can leave more info available to help you plan a route in.</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900">
                <a:solidFill>
                  <a:schemeClr val="lt1"/>
                </a:solidFill>
                <a:latin typeface="IBM Plex Sans"/>
                <a:ea typeface="IBM Plex Sans"/>
                <a:cs typeface="IBM Plex Sans"/>
                <a:sym typeface="IBM Plex Sans"/>
              </a:rPr>
              <a:t>As a rule of thumb tho, just have a look around the webpage, if there is one, as you may find pages or things that look off and be able to go from there, maybe with something like SQLinjection or something.</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19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1900">
                <a:solidFill>
                  <a:schemeClr val="lt1"/>
                </a:solidFill>
                <a:latin typeface="IBM Plex Sans"/>
                <a:ea typeface="IBM Plex Sans"/>
                <a:cs typeface="IBM Plex Sans"/>
                <a:sym typeface="IBM Plex Sans"/>
              </a:rPr>
              <a:t>(maybe look at the </a:t>
            </a:r>
            <a:r>
              <a:rPr lang="en-US" sz="1900" u="sng">
                <a:solidFill>
                  <a:srgbClr val="FF0000"/>
                </a:solidFill>
                <a:latin typeface="IBM Plex Sans"/>
                <a:ea typeface="IBM Plex Sans"/>
                <a:cs typeface="IBM Plex Sans"/>
                <a:sym typeface="IBM Plex Sans"/>
                <a:hlinkClick r:id="rId3">
                  <a:extLst>
                    <a:ext uri="{A12FA001-AC4F-418D-AE19-62706E023703}">
                      <ahyp:hlinkClr val="tx"/>
                    </a:ext>
                  </a:extLst>
                </a:hlinkClick>
              </a:rPr>
              <a:t>DMUHackers.com/robots.txt</a:t>
            </a:r>
            <a:r>
              <a:rPr lang="en-US" sz="1900">
                <a:solidFill>
                  <a:schemeClr val="lt1"/>
                </a:solidFill>
                <a:latin typeface="IBM Plex Sans"/>
                <a:ea typeface="IBM Plex Sans"/>
                <a:cs typeface="IBM Plex Sans"/>
                <a:sym typeface="IBM Plex Sans"/>
              </a:rPr>
              <a:t>, it’s very cool) :)</a:t>
            </a:r>
            <a:endParaRPr sz="2900"/>
          </a:p>
        </p:txBody>
      </p:sp>
      <p:pic>
        <p:nvPicPr>
          <p:cNvPr descr="a cat is sitting in front of a painting of a castle (provided by Tenor)" id="282" name="Google Shape;282;h6da5aa7a38095804_1_124"/>
          <p:cNvPicPr preferRelativeResize="0"/>
          <p:nvPr/>
        </p:nvPicPr>
        <p:blipFill rotWithShape="1">
          <a:blip r:embed="rId4">
            <a:alphaModFix/>
          </a:blip>
          <a:srcRect b="0" l="0" r="0" t="0"/>
          <a:stretch/>
        </p:blipFill>
        <p:spPr>
          <a:xfrm>
            <a:off x="9867225" y="4744125"/>
            <a:ext cx="1486575" cy="14865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h6da5aa7a38095804_1_1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Summary</a:t>
            </a:r>
            <a:endParaRPr/>
          </a:p>
        </p:txBody>
      </p:sp>
      <p:sp>
        <p:nvSpPr>
          <p:cNvPr id="288" name="Google Shape;288;h6da5aa7a38095804_1_13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600"/>
              <a:buFont typeface="Arial"/>
              <a:buNone/>
            </a:pPr>
            <a:r>
              <a:rPr lang="en-US" sz="2000">
                <a:solidFill>
                  <a:schemeClr val="lt1"/>
                </a:solidFill>
                <a:latin typeface="IBM Plex Sans"/>
                <a:ea typeface="IBM Plex Sans"/>
                <a:cs typeface="IBM Plex Sans"/>
                <a:sym typeface="IBM Plex Sans"/>
              </a:rPr>
              <a:t>There’s a lot of tools that can be used for enumeration, each have a different role, even if ever so slightly different.</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2000">
                <a:solidFill>
                  <a:schemeClr val="lt1"/>
                </a:solidFill>
                <a:latin typeface="IBM Plex Sans"/>
                <a:ea typeface="IBM Plex Sans"/>
                <a:cs typeface="IBM Plex Sans"/>
                <a:sym typeface="IBM Plex Sans"/>
              </a:rPr>
              <a:t>The important ones to get familiar with are Nmap (Critical), Ffuf, Dirb and NetCat, as these will be the most common ones needed and can be applied to most boxes or tasks.</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t/>
            </a:r>
            <a:endParaRPr sz="2000">
              <a:solidFill>
                <a:schemeClr val="lt1"/>
              </a:solidFill>
              <a:latin typeface="IBM Plex Sans"/>
              <a:ea typeface="IBM Plex Sans"/>
              <a:cs typeface="IBM Plex Sans"/>
              <a:sym typeface="IBM Plex Sans"/>
            </a:endParaRPr>
          </a:p>
          <a:p>
            <a:pPr indent="0" lvl="0" marL="0" rtl="0" algn="l">
              <a:lnSpc>
                <a:spcPct val="100000"/>
              </a:lnSpc>
              <a:spcBef>
                <a:spcPts val="0"/>
              </a:spcBef>
              <a:spcAft>
                <a:spcPts val="0"/>
              </a:spcAft>
              <a:buClr>
                <a:schemeClr val="dk1"/>
              </a:buClr>
              <a:buSzPts val="1600"/>
              <a:buFont typeface="Arial"/>
              <a:buNone/>
            </a:pPr>
            <a:r>
              <a:rPr lang="en-US" sz="2000">
                <a:solidFill>
                  <a:schemeClr val="lt1"/>
                </a:solidFill>
                <a:latin typeface="IBM Plex Sans"/>
                <a:ea typeface="IBM Plex Sans"/>
                <a:cs typeface="IBM Plex Sans"/>
                <a:sym typeface="IBM Plex Sans"/>
              </a:rPr>
              <a:t>Have a look into them too, there’s tons of more options on-top of what i’ve mentioned, so go have a look and a play with them as it’ll help you get more familiar with them and the better you are the faster you can go and more you can do. </a:t>
            </a:r>
            <a:endParaRPr sz="3000"/>
          </a:p>
        </p:txBody>
      </p:sp>
      <p:pic>
        <p:nvPicPr>
          <p:cNvPr id="289" name="Google Shape;289;h6da5aa7a38095804_1_130"/>
          <p:cNvPicPr preferRelativeResize="0"/>
          <p:nvPr/>
        </p:nvPicPr>
        <p:blipFill rotWithShape="1">
          <a:blip r:embed="rId3">
            <a:alphaModFix/>
          </a:blip>
          <a:srcRect b="0" l="0" r="0" t="0"/>
          <a:stretch/>
        </p:blipFill>
        <p:spPr>
          <a:xfrm>
            <a:off x="9248398" y="4815700"/>
            <a:ext cx="2105400" cy="1577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b9f49548e7_0_1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Practical</a:t>
            </a:r>
            <a:endParaRPr/>
          </a:p>
        </p:txBody>
      </p:sp>
      <p:sp>
        <p:nvSpPr>
          <p:cNvPr id="295" name="Google Shape;295;g3b9f49548e7_0_1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sz="2700" u="sng">
                <a:solidFill>
                  <a:srgbClr val="FF0000"/>
                </a:solidFill>
                <a:hlinkClick r:id="rId3">
                  <a:extLst>
                    <a:ext uri="{A12FA001-AC4F-418D-AE19-62706E023703}">
                      <ahyp:hlinkClr val="tx"/>
                    </a:ext>
                  </a:extLst>
                </a:hlinkClick>
              </a:rPr>
              <a:t>https://tryhackme.com/room/bruteit</a:t>
            </a:r>
            <a:endParaRPr>
              <a:solidFill>
                <a:schemeClr val="lt1"/>
              </a:solidFill>
            </a:endParaRPr>
          </a:p>
        </p:txBody>
      </p:sp>
      <p:pic>
        <p:nvPicPr>
          <p:cNvPr id="296" name="Google Shape;296;g3b9f49548e7_0_17"/>
          <p:cNvPicPr preferRelativeResize="0"/>
          <p:nvPr/>
        </p:nvPicPr>
        <p:blipFill>
          <a:blip r:embed="rId4">
            <a:alphaModFix/>
          </a:blip>
          <a:stretch>
            <a:fillRect/>
          </a:stretch>
        </p:blipFill>
        <p:spPr>
          <a:xfrm>
            <a:off x="838200" y="3967888"/>
            <a:ext cx="5581650" cy="1038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2026-01-19T12:57:19Z</dcterms:created>
  <dc:creator>charlie Burrows</dc:creator>
</cp:coreProperties>
</file>